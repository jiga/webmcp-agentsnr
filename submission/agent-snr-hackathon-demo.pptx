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98fe9c38e14cee" /><Relationship Type="http://schemas.openxmlformats.org/officeDocument/2006/relationships/extended-properties" Target="/docProps/app.xml" Id="R61352dec3bba4476" /><Relationship Type="http://schemas.openxmlformats.org/officeDocument/2006/relationships/officeDocument" Target="/ppt/presentation.xml" Id="Rf27270c0c49b4d84" /></Relationships>
</file>

<file path=ppt/presentation.xml><?xml version="1.0" encoding="utf-8"?>
<p:presentation xmlns:p="http://schemas.openxmlformats.org/presentationml/2006/main">
  <p:sldMasterIdLst>
    <p:sldMasterId xmlns:r="http://schemas.openxmlformats.org/officeDocument/2006/relationships" id="2147483648" r:id="R9607a022c3dc4e8d"/>
  </p:sldMasterIdLst>
  <p:notesMasterIdLst>
    <p:notesMasterId xmlns:r="http://schemas.openxmlformats.org/officeDocument/2006/relationships" r:id="R88283fc3538744b7"/>
  </p:notesMasterIdLst>
  <p:sldIdLst>
    <p:sldId xmlns:r="http://schemas.openxmlformats.org/officeDocument/2006/relationships" id="256" r:id="Rffeeba1b60294776"/>
    <p:sldId xmlns:r="http://schemas.openxmlformats.org/officeDocument/2006/relationships" id="257" r:id="R99e79e84348c4d6d"/>
    <p:sldId xmlns:r="http://schemas.openxmlformats.org/officeDocument/2006/relationships" id="258" r:id="R58a3d07e7f804cd4"/>
    <p:sldId xmlns:r="http://schemas.openxmlformats.org/officeDocument/2006/relationships" id="259" r:id="Rc97a703d54d5459b"/>
    <p:sldId xmlns:r="http://schemas.openxmlformats.org/officeDocument/2006/relationships" id="260" r:id="R8063d0d4fb8f4f1f"/>
    <p:sldId xmlns:r="http://schemas.openxmlformats.org/officeDocument/2006/relationships" id="261" r:id="R9004ad9df96c4ddd"/>
    <p:sldId xmlns:r="http://schemas.openxmlformats.org/officeDocument/2006/relationships" id="262" r:id="R6714d3db6a8445ad"/>
    <p:sldId xmlns:r="http://schemas.openxmlformats.org/officeDocument/2006/relationships" id="263" r:id="R2e01ff0ad6224701"/>
    <p:sldId xmlns:r="http://schemas.openxmlformats.org/officeDocument/2006/relationships" id="264" r:id="R624a4c746bb84eda"/>
    <p:sldId xmlns:r="http://schemas.openxmlformats.org/officeDocument/2006/relationships" id="265" r:id="R36af8fada079412a"/>
    <p:sldId xmlns:r="http://schemas.openxmlformats.org/officeDocument/2006/relationships" id="266" r:id="R3741c2e03dfd4bd8"/>
    <p:sldId xmlns:r="http://schemas.openxmlformats.org/officeDocument/2006/relationships" id="267" r:id="Ra6cd83bb083940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560b34c51f42ae" /><Relationship Type="http://schemas.openxmlformats.org/officeDocument/2006/relationships/slideMaster" Target="/ppt/slideMasters/slideMaster1.xml" Id="R9607a022c3dc4e8d" /><Relationship Type="http://schemas.openxmlformats.org/officeDocument/2006/relationships/notesMaster" Target="/ppt/notesMasters/notesMaster1.xml" Id="R88283fc3538744b7" /><Relationship Type="http://schemas.openxmlformats.org/officeDocument/2006/relationships/presProps" Target="/ppt/presProps.xml" Id="R419773833bbf4361" /><Relationship Type="http://schemas.openxmlformats.org/officeDocument/2006/relationships/tableStyles" Target="/ppt/tableStyles.xml" Id="Radd706326af44383" /><Relationship Type="http://schemas.openxmlformats.org/officeDocument/2006/relationships/slide" Target="/ppt/slides/slide1.xml" Id="Rffeeba1b60294776" /><Relationship Type="http://schemas.openxmlformats.org/officeDocument/2006/relationships/slide" Target="/ppt/slides/slide2.xml" Id="R99e79e84348c4d6d" /><Relationship Type="http://schemas.openxmlformats.org/officeDocument/2006/relationships/slide" Target="/ppt/slides/slide3.xml" Id="R58a3d07e7f804cd4" /><Relationship Type="http://schemas.openxmlformats.org/officeDocument/2006/relationships/slide" Target="/ppt/slides/slide4.xml" Id="Rc97a703d54d5459b" /><Relationship Type="http://schemas.openxmlformats.org/officeDocument/2006/relationships/slide" Target="/ppt/slides/slide5.xml" Id="R8063d0d4fb8f4f1f" /><Relationship Type="http://schemas.openxmlformats.org/officeDocument/2006/relationships/slide" Target="/ppt/slides/slide6.xml" Id="R9004ad9df96c4ddd" /><Relationship Type="http://schemas.openxmlformats.org/officeDocument/2006/relationships/slide" Target="/ppt/slides/slide7.xml" Id="R6714d3db6a8445ad" /><Relationship Type="http://schemas.openxmlformats.org/officeDocument/2006/relationships/slide" Target="/ppt/slides/slide8.xml" Id="R2e01ff0ad6224701" /><Relationship Type="http://schemas.openxmlformats.org/officeDocument/2006/relationships/slide" Target="/ppt/slides/slide9.xml" Id="R624a4c746bb84eda" /><Relationship Type="http://schemas.openxmlformats.org/officeDocument/2006/relationships/slide" Target="/ppt/slides/slide10.xml" Id="R36af8fada079412a" /><Relationship Type="http://schemas.openxmlformats.org/officeDocument/2006/relationships/slide" Target="/ppt/slides/slide11.xml" Id="R3741c2e03dfd4bd8" /><Relationship Type="http://schemas.openxmlformats.org/officeDocument/2006/relationships/slide" Target="/ppt/slides/slide12.xml" Id="Ra6cd83bb083940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b9a68978e24f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796e61d01e42ce" /><Relationship Type="http://schemas.openxmlformats.org/officeDocument/2006/relationships/notesMaster" Target="/ppt/notesMasters/notesMaster1.xml" Id="R8e3d873e95304e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9ad212eeba4beb" /><Relationship Type="http://schemas.openxmlformats.org/officeDocument/2006/relationships/notesMaster" Target="/ppt/notesMasters/notesMaster1.xml" Id="R129af00a28fa4c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b0c05b79f14366" /><Relationship Type="http://schemas.openxmlformats.org/officeDocument/2006/relationships/notesMaster" Target="/ppt/notesMasters/notesMaster1.xml" Id="Rf1ddccce5b8e4a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b97f77711442f0" /><Relationship Type="http://schemas.openxmlformats.org/officeDocument/2006/relationships/notesMaster" Target="/ppt/notesMasters/notesMaster1.xml" Id="R3bff4a899af94a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7b67faa5f14f26" /><Relationship Type="http://schemas.openxmlformats.org/officeDocument/2006/relationships/notesMaster" Target="/ppt/notesMasters/notesMaster1.xml" Id="R9db9d81ee36741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56c83098694421" /><Relationship Type="http://schemas.openxmlformats.org/officeDocument/2006/relationships/notesMaster" Target="/ppt/notesMasters/notesMaster1.xml" Id="Rf7b5466efe1440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ca4159d9b34395" /><Relationship Type="http://schemas.openxmlformats.org/officeDocument/2006/relationships/notesMaster" Target="/ppt/notesMasters/notesMaster1.xml" Id="R581519ebe81349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d581016a4a4874" /><Relationship Type="http://schemas.openxmlformats.org/officeDocument/2006/relationships/notesMaster" Target="/ppt/notesMasters/notesMaster1.xml" Id="R154b73d929a94e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5b4d940b824b30" /><Relationship Type="http://schemas.openxmlformats.org/officeDocument/2006/relationships/notesMaster" Target="/ppt/notesMasters/notesMaster1.xml" Id="R6e49cff36e594d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9c0fd6ad4f473a" /><Relationship Type="http://schemas.openxmlformats.org/officeDocument/2006/relationships/notesMaster" Target="/ppt/notesMasters/notesMaster1.xml" Id="R6093e1fff9f94f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3ed7f3dec94b4c" /><Relationship Type="http://schemas.openxmlformats.org/officeDocument/2006/relationships/notesMaster" Target="/ppt/notesMasters/notesMaster1.xml" Id="R2c78bcffb22843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ecad86e2044bf1" /><Relationship Type="http://schemas.openxmlformats.org/officeDocument/2006/relationships/notesMaster" Target="/ppt/notesMasters/notesMaster1.xml" Id="R95f8e5a7a4664f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 SNR—signal-to-noise ratio—shows what agents did, invites structured testimony about what worked or was missing, and proves what happened after the human checkpoint.</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PRODUCT.md</a:t>
            </a:r>
          </a:p>
          <a:p xmlns:a="http://schemas.openxmlformats.org/drawingml/2006/main">
            <a:r>
              <a:t>- submission/devpost-description.md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search tool can succeed while returning no usable product. Agent SNR records that missed demand at the source, then keeps the agent’s explanation separate from the catalog and WooCommerce facts that the site can verify.</a:t>
            </a:r>
          </a:p>
          <a:p xmlns:a="http://schemas.openxmlformats.org/drawingml/2006/main">
            <a:r>
              <a:t/>
            </a:r>
          </a:p>
          <a:p xmlns:a="http://schemas.openxmlformats.org/drawingml/2006/main">
            <a:r>
              <a:t>[Sources]</a:t>
            </a:r>
          </a:p>
          <a:p xmlns:a="http://schemas.openxmlformats.org/drawingml/2006/main">
            <a:r>
              <a:t>- PRODUCT.md</a:t>
            </a:r>
          </a:p>
          <a:p xmlns:a="http://schemas.openxmlformats.org/drawingml/2006/main">
            <a:r>
              <a:t>- demo/HACKATHON_RUNBOOK.md</a:t>
            </a:r>
          </a:p>
          <a:p xmlns:a="http://schemas.openxmlformats.org/drawingml/2006/main">
            <a:r>
              <a:t>- submission/testing-instructions.md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investigation pattern is familiar, but the observed object is new. Agent SNR combines journey replay, operational health, direct agent feedback, and business outcomes around the website’s own WebMCP tools. The comparison is conceptual; no third-party integration is claimed.</a:t>
            </a:r>
          </a:p>
          <a:p xmlns:a="http://schemas.openxmlformats.org/drawingml/2006/main">
            <a:r>
              <a:t/>
            </a:r>
          </a:p>
          <a:p xmlns:a="http://schemas.openxmlformats.org/drawingml/2006/main">
            <a:r>
              <a:t>[Sources]</a:t>
            </a:r>
          </a:p>
          <a:p xmlns:a="http://schemas.openxmlformats.org/drawingml/2006/main">
            <a:r>
              <a:t>- PRODUCT.md</a:t>
            </a:r>
          </a:p>
          <a:p xmlns:a="http://schemas.openxmlformats.org/drawingml/2006/main">
            <a:r>
              <a:t>- submission/devpost-description.md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independent top-level WebMCP surfaces expose 12 storefront tools and 8 Agent SNR tools from one first-party catalog. Two older gap abilities remain registered only for compatibility and are absent from public discovery. Guide 1.1 is shared by people and agents. WordPress keeps opportunity evidence, agent testimony, catalog facts, and WooCommerce outcomes separate. The black scope bar describes only Agent SNR's monitoring ledger; ordinary WooCommerce order and billing data remains in WooCommerce.</a:t>
            </a:r>
          </a:p>
          <a:p xmlns:a="http://schemas.openxmlformats.org/drawingml/2006/main">
            <a:r>
              <a:t/>
            </a:r>
          </a:p>
          <a:p xmlns:a="http://schemas.openxmlformats.org/drawingml/2006/main">
            <a:r>
              <a:t>[Sources]</a:t>
            </a:r>
          </a:p>
          <a:p xmlns:a="http://schemas.openxmlformats.org/drawingml/2006/main">
            <a:r>
              <a:t>- plugin/wmcp-agentsnr/src/Contract/ToolName.php</a:t>
            </a:r>
          </a:p>
          <a:p xmlns:a="http://schemas.openxmlformats.org/drawingml/2006/main">
            <a:r>
              <a:t>- plugin/wmcp-agentsnr/src/Abilities/ToolCatalog.php</a:t>
            </a:r>
          </a:p>
          <a:p xmlns:a="http://schemas.openxmlformats.org/drawingml/2006/main">
            <a:r>
              <a:t>- plugin/wmcp-agentsnr/src/Guidance/AgentGuide.php</a:t>
            </a:r>
          </a:p>
          <a:p xmlns:a="http://schemas.openxmlformats.org/drawingml/2006/main">
            <a:r>
              <a:t>- plugin/wmcp-agentsnr/src/Analytics/SignalService.php</a:t>
            </a:r>
          </a:p>
          <a:p xmlns:a="http://schemas.openxmlformats.org/drawingml/2006/main">
            <a:r>
              <a:t>- plugin/wmcp-agentsnr/src/WebMCP/ExecutionController.php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can reduce work and report friction without crossing the consequential boundary. It never places an order, accepts terms, submits customer details, charges, cancels, or refunds. Feedback is bounded testimony; the human decision and WooCommerce outcome remain separate facts. The privacy line applies only to Agent SNR's monitoring ledger: ordinary WooCommerce order and billing data remains in WooCommerce and is not copied into that ledger.</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plugin/wmcp-agentsnr/src/Guidance/AgentGuide.php</a:t>
            </a:r>
          </a:p>
          <a:p xmlns:a="http://schemas.openxmlformats.org/drawingml/2006/main">
            <a:r>
              <a:t>- plugin/wmcp-agentsnr/src/Analytics/FeedbackMetricResolver.php</a:t>
            </a:r>
          </a:p>
          <a:p xmlns:a="http://schemas.openxmlformats.org/drawingml/2006/main">
            <a:r>
              <a:t>- submission/devpost-description.md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implementation proves the pattern with commerce: what happened, what broke, whether it mattered, what demand the site missed, what the agent experienced, and what the operator can change. The same evidence loop can extend to other WordPress workflows; those extensions are direction, not v0.1 claims.</a:t>
            </a:r>
          </a:p>
          <a:p xmlns:a="http://schemas.openxmlformats.org/drawingml/2006/main">
            <a:r>
              <a:t/>
            </a:r>
          </a:p>
          <a:p xmlns:a="http://schemas.openxmlformats.org/drawingml/2006/main">
            <a:r>
              <a:t>[Sources]</a:t>
            </a:r>
          </a:p>
          <a:p xmlns:a="http://schemas.openxmlformats.org/drawingml/2006/main">
            <a:r>
              <a:t>- PRODUCT.md</a:t>
            </a:r>
          </a:p>
          <a:p xmlns:a="http://schemas.openxmlformats.org/drawingml/2006/main">
            <a:r>
              <a:t>- submission/devpost-description.md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submitted run begins with the guide, records a real zero-result IPX5 opportunity under $100, recovers with two IPX4 alternatives, records linked agent feedback at handoff, then lets the human place the no-charge WooCommerce order. Agent SNR proves the outcome and restricts the next run.</a:t>
            </a:r>
          </a:p>
          <a:p xmlns:a="http://schemas.openxmlformats.org/drawingml/2006/main">
            <a:r>
              <a:t/>
            </a:r>
          </a:p>
          <a:p xmlns:a="http://schemas.openxmlformats.org/drawingml/2006/main">
            <a:r>
              <a:t>[Sources]</a:t>
            </a:r>
          </a:p>
          <a:p xmlns:a="http://schemas.openxmlformats.org/drawingml/2006/main">
            <a:r>
              <a:t>- demo/HACKATHON_RUNBOOK.md</a:t>
            </a:r>
          </a:p>
          <a:p xmlns:a="http://schemas.openxmlformats.org/drawingml/2006/main">
            <a:r>
              <a:t>- submission/testing-instructions.md</a:t>
            </a:r>
          </a:p>
          <a:p xmlns:a="http://schemas.openxmlformats.org/drawingml/2006/main">
            <a:r>
              <a:t>- submission/video-script.md</a:t>
            </a:r>
          </a:p>
          <a:p xmlns:a="http://schemas.openxmlformats.org/drawingml/2006/main">
            <a:r>
              <a:t>- submission/demo-screenshots/01-agent-snr-overview.png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 1.1 declares top-level co-browsing, unattended execution as unsupported, two outcome journeys, zero Sensitive Action tools, the subtotal/final-total boundary, privacy exclusions, and optional structured feedback. The same canonical object is rendered for the shopper and returned to the agent.</a:t>
            </a:r>
          </a:p>
          <a:p xmlns:a="http://schemas.openxmlformats.org/drawingml/2006/main">
            <a:r>
              <a:t/>
            </a:r>
          </a:p>
          <a:p xmlns:a="http://schemas.openxmlformats.org/drawingml/2006/main">
            <a:r>
              <a:t>[Sources]</a:t>
            </a:r>
          </a:p>
          <a:p xmlns:a="http://schemas.openxmlformats.org/drawingml/2006/main">
            <a:r>
              <a:t>- submission/demo-screenshots/02-agent-guide.png</a:t>
            </a:r>
          </a:p>
          <a:p xmlns:a="http://schemas.openxmlformats.org/drawingml/2006/main">
            <a:r>
              <a:t>- submission/demo-screenshots/03-zero-result-opportunity.png</a:t>
            </a:r>
          </a:p>
          <a:p xmlns:a="http://schemas.openxmlformats.org/drawingml/2006/main">
            <a:r>
              <a:t>- submission/demo-screenshots/04-agent-feedback-handoff.png</a:t>
            </a:r>
          </a:p>
          <a:p xmlns:a="http://schemas.openxmlformats.org/drawingml/2006/main">
            <a:r>
              <a:t>- plugin/wmcp-agentsnr/src/Guidance/AgentGuide.php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Signals view shows the same demand group twice: zero results exist without feedback, while low coverage is corroborated by one agent report. Site measurements later verify the two products, IPX4 ceiling, paid order, and value. The opinion itself is never promoted to fact or allowed to change attribution.</a:t>
            </a:r>
          </a:p>
          <a:p xmlns:a="http://schemas.openxmlformats.org/drawingml/2006/main">
            <a:r>
              <a:t/>
            </a:r>
          </a:p>
          <a:p xmlns:a="http://schemas.openxmlformats.org/drawingml/2006/main">
            <a:r>
              <a:t>[Sources]</a:t>
            </a:r>
          </a:p>
          <a:p xmlns:a="http://schemas.openxmlformats.org/drawingml/2006/main">
            <a:r>
              <a:t>- submission/demo-screenshots/07-opportunity-signals.png</a:t>
            </a:r>
          </a:p>
          <a:p xmlns:a="http://schemas.openxmlformats.org/drawingml/2006/main">
            <a:r>
              <a:t>- submission/demo-screenshots/08-workflow-replay.png</a:t>
            </a:r>
          </a:p>
          <a:p xmlns:a="http://schemas.openxmlformats.org/drawingml/2006/main">
            <a:r>
              <a:t>- plugin/wmcp-agentsnr/src/Analytics/SignalService.php</a:t>
            </a:r>
          </a:p>
          <a:p xmlns:a="http://schemas.openxmlformats.org/drawingml/2006/main">
            <a:r>
              <a:t>- plugin/wmcp-agentsnr/src/WooCommerce/AttributionRules.php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https://github.com/GoogleChromeLabs/webmcp-tools/tree/v0.0.4/webmcp-evals</a:t>
            </a:r>
          </a:p>
          <a:p xmlns:a="http://schemas.openxmlformats.org/drawingml/2006/main">
            <a:r>
              <a:t>- https://developer.chrome.com/docs/ai/webmcp/evals</a:t>
            </a:r>
          </a:p>
          <a:p xmlns:a="http://schemas.openxmlformats.org/drawingml/2006/main">
            <a:r>
              <a:t>- https://chromewebstore.google.com/detail/nekuda-webmcp-workbench/amochnnbmnkjjlblolhpddkokhnalkjp</a:t>
            </a:r>
          </a:p>
          <a:p xmlns:a="http://schemas.openxmlformats.org/drawingml/2006/main">
            <a:r>
              <a:t>- https://webmcp.com/methodology</a:t>
            </a:r>
          </a:p>
          <a:p xmlns:a="http://schemas.openxmlformats.org/drawingml/2006/main">
            <a:r>
              <a:t>- submission/webmcp-eval-report-2026-09-01.md</a:t>
            </a:r>
          </a:p>
          <a:p xmlns:a="http://schemas.openxmlformats.org/drawingml/2006/main">
            <a:r>
              <a:t>- submission/verification-report.md</a:t>
            </a:r>
          </a:p>
          <a:p xmlns:a="http://schemas.openxmlformats.org/drawingml/2006/main">
            <a:r>
              <a:t>[/Sources]</a:t>
            </a:r>
          </a:p>
          <a:p xmlns:a="http://schemas.openxmlformats.org/drawingml/2006/main">
            <a:r>
              <a:t>Contract parity, native smoke, and protected model-backed evaluation are verified repository evidence. Real-client validation is required before submission. Workbench, hosted scanner, and directory listing are optional additional checks against the frozen public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submission/verification-report.md</a:t>
            </a:r>
          </a:p>
          <a:p xmlns:a="http://schemas.openxmlformats.org/drawingml/2006/main">
            <a:r>
              <a:t>- evals/README.md</a:t>
            </a:r>
          </a:p>
          <a:p xmlns:a="http://schemas.openxmlformats.org/drawingml/2006/main">
            <a:r>
              <a:t>[/Sources]</a:t>
            </a:r>
          </a:p>
          <a:p xmlns:a="http://schemas.openxmlformats.org/drawingml/2006/main">
            <a:r>
              <a:t>Counts reflect the exact final artifact and repository verification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memorable idea is a website that can teach agents how to use it, record missed demand even when the agent stays silent, receive honest structured feedback, and prove the business outcome without collecting the conversation or weakening human authority.</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demo/HACKATHON_RUNBOOK.md</a:t>
            </a:r>
          </a:p>
          <a:p xmlns:a="http://schemas.openxmlformats.org/drawingml/2006/main">
            <a:r>
              <a:t>- submission/testing-instructions.md</a:t>
            </a:r>
          </a:p>
          <a:p xmlns:a="http://schemas.openxmlformats.org/drawingml/2006/main">
            <a:r>
              <a:t>- submission/devpost-description.md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cc38abc06441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0ceb92617b47e9" /><Relationship Type="http://schemas.openxmlformats.org/officeDocument/2006/relationships/slideLayout" Target="/ppt/slideLayouts/slideLayout1.xml" Id="Raebb484edddc49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bb484edddc49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f63e0cbf3944c7" /><Relationship Type="http://schemas.openxmlformats.org/officeDocument/2006/relationships/notesSlide" Target="/ppt/notesSlides/notesSlide1.xml" Id="R3c8081d012b447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53e515edb348fc" /><Relationship Type="http://schemas.openxmlformats.org/officeDocument/2006/relationships/notesSlide" Target="/ppt/notesSlides/notesSlide2.xml" Id="R04bd1f6faf8f42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70371bf4853468d" /><Relationship Type="http://schemas.openxmlformats.org/officeDocument/2006/relationships/notesSlide" Target="/ppt/notesSlides/notesSlide3.xml" Id="R9c4fe7c35ae143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8502eda401044a9" /><Relationship Type="http://schemas.openxmlformats.org/officeDocument/2006/relationships/notesSlide" Target="/ppt/notesSlides/notesSlide4.xml" Id="R78b6a88ab78c42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ee78afd88f4275" /><Relationship Type="http://schemas.openxmlformats.org/officeDocument/2006/relationships/notesSlide" Target="/ppt/notesSlides/notesSlide5.xml" Id="R2cc2e19ba41344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131010601a439d" /><Relationship Type="http://schemas.openxmlformats.org/officeDocument/2006/relationships/notesSlide" Target="/ppt/notesSlides/notesSlide6.xml" Id="Rcca3d5779d8543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d56f89b5c74012" /><Relationship Type="http://schemas.openxmlformats.org/officeDocument/2006/relationships/image" Target="/ppt/media/image.png" Id="Rd6f0b2cf31194814" /><Relationship Type="http://schemas.openxmlformats.org/officeDocument/2006/relationships/notesSlide" Target="/ppt/notesSlides/notesSlide7.xml" Id="R578b5494e6c04a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744ed9d0db04f49" /><Relationship Type="http://schemas.openxmlformats.org/officeDocument/2006/relationships/image" Target="/ppt/media/image2.png" Id="R29283b677ba54eb1" /><Relationship Type="http://schemas.openxmlformats.org/officeDocument/2006/relationships/notesSlide" Target="/ppt/notesSlides/notesSlide8.xml" Id="R24374732a93e41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4858d8ee60547b3" /><Relationship Type="http://schemas.openxmlformats.org/officeDocument/2006/relationships/image" Target="/ppt/media/image3.png" Id="R8b60c569f7d84b61" /><Relationship Type="http://schemas.openxmlformats.org/officeDocument/2006/relationships/image" Target="/ppt/media/image4.png" Id="R40c9a4773bf24c86" /><Relationship Type="http://schemas.openxmlformats.org/officeDocument/2006/relationships/notesSlide" Target="/ppt/notesSlides/notesSlide9.xml" Id="Rfc6fe71882eb4d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8a6193be09c4c44" /><Relationship Type="http://schemas.openxmlformats.org/officeDocument/2006/relationships/notesSlide" Target="/ppt/notesSlides/notesSlide10.xml" Id="Re461f4e4ff4249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73e741458fc42dc" /><Relationship Type="http://schemas.openxmlformats.org/officeDocument/2006/relationships/notesSlide" Target="/ppt/notesSlides/notesSlide11.xml" Id="Rd6501ffdc9d54f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02ab3d3f49d41df" /><Relationship Type="http://schemas.openxmlformats.org/officeDocument/2006/relationships/notesSlide" Target="/ppt/notesSlides/notesSlide12.xml" Id="Rc0694eb2d38245f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B5FE951-B31B-46EF-9C9A-EFC96715A1B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769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DBCB68-BC5E-443B-92CE-22E0B893C177}"/>
              </a:ext>
            </a:extLst>
          </p:cNvPr>
          <p:cNvSpPr>
            <a:spLocks xmlns:a="http://schemas.openxmlformats.org/drawingml/2006/main" noGrp="1"/>
          </p:cNvSpPr>
          <p:nvPr/>
        </p:nvSpPr>
        <p:spPr>
          <a:xfrm xmlns:a="http://schemas.openxmlformats.org/drawingml/2006/main">
            <a:off x="609600" y="5143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AGENT OUTCOME MONITORING FOR WORDPRESS</a:t>
            </a:r>
          </a:p>
        </p:txBody>
      </p:sp>
      <p:sp>
        <p:nvSpPr>
          <p:cNvPr id="3" name="">
            <a:extLst xmlns:a="http://schemas.openxmlformats.org/drawingml/2006/main">
              <a:ext uri="{FF2B5EF4-FFF2-40B4-BE49-F238E27FC236}">
                <a16:creationId xmlns:a16="http://schemas.microsoft.com/office/drawing/2014/main" id="{855C54CD-9080-46CC-BCD1-C60D7AC9640D}"/>
              </a:ext>
            </a:extLst>
          </p:cNvPr>
          <p:cNvSpPr>
            <a:spLocks xmlns:a="http://schemas.openxmlformats.org/drawingml/2006/main" noGrp="1"/>
          </p:cNvSpPr>
          <p:nvPr/>
        </p:nvSpPr>
        <p:spPr>
          <a:xfrm xmlns:a="http://schemas.openxmlformats.org/drawingml/2006/main">
            <a:off x="571500" y="1314450"/>
            <a:ext cx="6286500"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400" b="1" i="0">
                <a:solidFill>
                  <a:srgbClr val="111111"/>
                </a:solidFill>
                <a:latin typeface="Helvetica Neue"/>
                <a:ea typeface="Helvetica Neue"/>
                <a:cs typeface="Helvetica Neue"/>
              </a:defRPr>
            </a:pPr>
            <a:r>
              <a:rPr sz="8400" b="1" i="0">
                <a:solidFill>
                  <a:srgbClr val="111111"/>
                </a:solidFill>
                <a:latin typeface="Helvetica Neue"/>
                <a:ea typeface="Helvetica Neue"/>
                <a:cs typeface="Helvetica Neue"/>
              </a:rPr>
              <a:t>Agent</a:t>
            </a:r>
          </a:p>
          <a:p xmlns:a="http://schemas.openxmlformats.org/drawingml/2006/main">
            <a:pPr algn="l">
              <a:buNone/>
              <a:defRPr sz="8400" b="1" i="0">
                <a:solidFill>
                  <a:srgbClr val="111111"/>
                </a:solidFill>
                <a:latin typeface="Helvetica Neue"/>
                <a:ea typeface="Helvetica Neue"/>
                <a:cs typeface="Helvetica Neue"/>
              </a:defRPr>
            </a:pPr>
            <a:r>
              <a:rPr sz="8400" b="1" i="0">
                <a:solidFill>
                  <a:srgbClr val="111111"/>
                </a:solidFill>
                <a:latin typeface="Helvetica Neue"/>
                <a:ea typeface="Helvetica Neue"/>
                <a:cs typeface="Helvetica Neue"/>
              </a:rPr>
              <a:t>SNR</a:t>
            </a:r>
          </a:p>
        </p:txBody>
      </p:sp>
      <p:sp>
        <p:nvSpPr>
          <p:cNvPr id="4" name="">
            <a:extLst xmlns:a="http://schemas.openxmlformats.org/drawingml/2006/main">
              <a:ext uri="{FF2B5EF4-FFF2-40B4-BE49-F238E27FC236}">
                <a16:creationId xmlns:a16="http://schemas.microsoft.com/office/drawing/2014/main" id="{01D80798-81DF-46F8-91CC-79A775F7C0B8}"/>
              </a:ext>
            </a:extLst>
          </p:cNvPr>
          <p:cNvSpPr>
            <a:spLocks xmlns:a="http://schemas.openxmlformats.org/drawingml/2006/main" noGrp="1"/>
          </p:cNvSpPr>
          <p:nvPr/>
        </p:nvSpPr>
        <p:spPr>
          <a:xfrm xmlns:a="http://schemas.openxmlformats.org/drawingml/2006/main">
            <a:off x="6572250" y="1790700"/>
            <a:ext cx="476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039"/>
          </a:bodyPr>
          <a:lstStyle xmlns:a="http://schemas.openxmlformats.org/drawingml/2006/main"/>
          <a:p xmlns:a="http://schemas.openxmlformats.org/drawingml/2006/main">
            <a:pPr algn="l">
              <a:buNone/>
              <a:defRPr sz="2550" b="1" i="0">
                <a:solidFill>
                  <a:srgbClr val="111111"/>
                </a:solidFill>
                <a:latin typeface="Helvetica Neue"/>
                <a:ea typeface="Helvetica Neue"/>
                <a:cs typeface="Helvetica Neue"/>
              </a:defRPr>
            </a:pPr>
            <a:r>
              <a:rPr sz="2550" b="1" i="0">
                <a:solidFill>
                  <a:srgbClr val="111111"/>
                </a:solidFill>
                <a:latin typeface="Helvetica Neue"/>
                <a:ea typeface="Helvetica Neue"/>
                <a:cs typeface="Helvetica Neue"/>
              </a:rPr>
              <a:t>See what agents did.</a:t>
            </a:r>
          </a:p>
          <a:p xmlns:a="http://schemas.openxmlformats.org/drawingml/2006/main">
            <a:pPr algn="l">
              <a:buNone/>
              <a:defRPr sz="2550" b="1" i="0">
                <a:solidFill>
                  <a:srgbClr val="111111"/>
                </a:solidFill>
                <a:latin typeface="Helvetica Neue"/>
                <a:ea typeface="Helvetica Neue"/>
                <a:cs typeface="Helvetica Neue"/>
              </a:defRPr>
            </a:pPr>
            <a:r>
              <a:rPr sz="2550" b="1" i="0">
                <a:solidFill>
                  <a:srgbClr val="111111"/>
                </a:solidFill>
                <a:latin typeface="Helvetica Neue"/>
                <a:ea typeface="Helvetica Neue"/>
                <a:cs typeface="Helvetica Neue"/>
              </a:rPr>
              <a:t>Hear what they experienced.</a:t>
            </a:r>
          </a:p>
          <a:p xmlns:a="http://schemas.openxmlformats.org/drawingml/2006/main">
            <a:pPr algn="l">
              <a:buNone/>
              <a:defRPr sz="2550" b="1" i="0">
                <a:solidFill>
                  <a:srgbClr val="111111"/>
                </a:solidFill>
                <a:latin typeface="Helvetica Neue"/>
                <a:ea typeface="Helvetica Neue"/>
                <a:cs typeface="Helvetica Neue"/>
              </a:defRPr>
            </a:pPr>
            <a:r>
              <a:rPr sz="2550" b="1" i="0">
                <a:solidFill>
                  <a:srgbClr val="111111"/>
                </a:solidFill>
                <a:latin typeface="Helvetica Neue"/>
                <a:ea typeface="Helvetica Neue"/>
                <a:cs typeface="Helvetica Neue"/>
              </a:rPr>
              <a:t>Discover what your site is missing.</a:t>
            </a:r>
          </a:p>
        </p:txBody>
      </p:sp>
      <p:sp>
        <p:nvSpPr>
          <p:cNvPr id="5" name="">
            <a:extLst xmlns:a="http://schemas.openxmlformats.org/drawingml/2006/main">
              <a:ext uri="{FF2B5EF4-FFF2-40B4-BE49-F238E27FC236}">
                <a16:creationId xmlns:a16="http://schemas.microsoft.com/office/drawing/2014/main" id="{DA49A2FA-2FAE-456B-B3F8-B917BEE342A9}"/>
              </a:ext>
            </a:extLst>
          </p:cNvPr>
          <p:cNvSpPr>
            <a:spLocks xmlns:a="http://schemas.openxmlformats.org/drawingml/2006/main" noGrp="1"/>
          </p:cNvSpPr>
          <p:nvPr/>
        </p:nvSpPr>
        <p:spPr>
          <a:xfrm xmlns:a="http://schemas.openxmlformats.org/drawingml/2006/main">
            <a:off x="6572250" y="3619500"/>
            <a:ext cx="4000500" cy="647700"/>
          </a:xfrm>
          <a:prstGeom xmlns:a="http://schemas.openxmlformats.org/drawingml/2006/main" prst="roundRect">
            <a:avLst>
              <a:gd name="adj" fmla="val 17647"/>
            </a:avLst>
          </a:prstGeom>
          <a:solidFill xmlns:a="http://schemas.openxmlformats.org/drawingml/2006/main">
            <a:srgbClr val="DCE8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2ACD436-0D39-461E-89B8-97BAF5EBAAB5}"/>
              </a:ext>
            </a:extLst>
          </p:cNvPr>
          <p:cNvSpPr>
            <a:spLocks xmlns:a="http://schemas.openxmlformats.org/drawingml/2006/main" noGrp="1"/>
          </p:cNvSpPr>
          <p:nvPr/>
        </p:nvSpPr>
        <p:spPr>
          <a:xfrm xmlns:a="http://schemas.openxmlformats.org/drawingml/2006/main">
            <a:off x="6838950" y="38481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SNR = SIGNAL-TO-NOISE RATIO</a:t>
            </a:r>
          </a:p>
        </p:txBody>
      </p:sp>
      <p:cxnSp>
        <p:nvCxnSpPr>
          <p:cNvPr id="121" name=""/>
          <p:cNvCxnSpPr/>
          <p:nvPr/>
        </p:nvCxnSpPr>
        <p:spPr>
          <a:xfrm xmlns:a="http://schemas.openxmlformats.org/drawingml/2006/main">
            <a:off x="571500" y="5829300"/>
            <a:ext cx="10763250" cy="0"/>
          </a:xfrm>
          <a:prstGeom xmlns:a="http://schemas.openxmlformats.org/drawingml/2006/main" prst="straightConnector1">
            <a:avLst/>
          </a:prstGeom>
          <a:ln xmlns:a="http://schemas.openxmlformats.org/drawingml/2006/main" w="19050">
            <a:solidFill>
              <a:srgbClr val="111111"/>
            </a:solidFill>
            <a:prstDash val="solid"/>
          </a:ln>
        </p:spPr>
      </p:cxnSp>
      <p:sp>
        <p:nvSpPr>
          <p:cNvPr id="8" name="">
            <a:extLst xmlns:a="http://schemas.openxmlformats.org/drawingml/2006/main">
              <a:ext uri="{FF2B5EF4-FFF2-40B4-BE49-F238E27FC236}">
                <a16:creationId xmlns:a16="http://schemas.microsoft.com/office/drawing/2014/main" id="{DAF9E868-2DA0-4D68-9F22-00E98DAA144A}"/>
              </a:ext>
            </a:extLst>
          </p:cNvPr>
          <p:cNvSpPr>
            <a:spLocks xmlns:a="http://schemas.openxmlformats.org/drawingml/2006/main" noGrp="1"/>
          </p:cNvSpPr>
          <p:nvPr/>
        </p:nvSpPr>
        <p:spPr>
          <a:xfrm xmlns:a="http://schemas.openxmlformats.org/drawingml/2006/main">
            <a:off x="571500" y="6038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11111"/>
                </a:solidFill>
                <a:latin typeface="Menlo"/>
                <a:ea typeface="Menlo"/>
                <a:cs typeface="Menlo"/>
              </a:defRPr>
            </a:pPr>
            <a:r>
              <a:rPr sz="975" b="1" i="0">
                <a:solidFill>
                  <a:srgbClr val="111111"/>
                </a:solidFill>
                <a:latin typeface="Menlo"/>
                <a:ea typeface="Menlo"/>
                <a:cs typeface="Menlo"/>
              </a:rPr>
              <a:t>GUIDE → AGENT → HUMAN → VERIFIED OUTCOME</a:t>
            </a:r>
          </a:p>
        </p:txBody>
      </p:sp>
      <p:sp>
        <p:nvSpPr>
          <p:cNvPr id="9" name="">
            <a:extLst xmlns:a="http://schemas.openxmlformats.org/drawingml/2006/main">
              <a:ext uri="{FF2B5EF4-FFF2-40B4-BE49-F238E27FC236}">
                <a16:creationId xmlns:a16="http://schemas.microsoft.com/office/drawing/2014/main" id="{403DE47F-C21B-4C3E-BBE9-713C7928655E}"/>
              </a:ext>
            </a:extLst>
          </p:cNvPr>
          <p:cNvSpPr>
            <a:spLocks xmlns:a="http://schemas.openxmlformats.org/drawingml/2006/main" noGrp="1"/>
          </p:cNvSpPr>
          <p:nvPr/>
        </p:nvSpPr>
        <p:spPr>
          <a:xfrm xmlns:a="http://schemas.openxmlformats.org/drawingml/2006/main">
            <a:off x="10763250" y="6000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1" i="0">
                <a:solidFill>
                  <a:srgbClr val="111111"/>
                </a:solidFill>
                <a:latin typeface="Menlo"/>
                <a:ea typeface="Menlo"/>
                <a:cs typeface="Menlo"/>
              </a:defRPr>
            </a:pPr>
            <a:r>
              <a:rPr sz="1050" b="1" i="0">
                <a:solidFill>
                  <a:srgbClr val="111111"/>
                </a:solidFill>
                <a:latin typeface="Menlo"/>
                <a:ea typeface="Menlo"/>
                <a:cs typeface="Menlo"/>
              </a:rPr>
              <a:t>01</a:t>
            </a:r>
          </a:p>
        </p:txBody>
      </p:sp>
    </p:spTree>
    <p:extLst>
      <p:ext uri="{BB962C8B-B14F-4D97-AF65-F5344CB8AC3E}">
        <p14:creationId xmlns:p14="http://schemas.microsoft.com/office/powerpoint/2010/main" val="1030241142"/>
      </p:ext>
    </p:extLst>
  </p:cSld>
</p:sld>
</file>

<file path=ppt/slides/slide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BF8B4E5-C49B-4EBA-81BA-A996777239F0}"/>
              </a:ext>
            </a:extLst>
          </p:cNvPr>
          <p:cNvSpPr>
            <a:spLocks xmlns:a="http://schemas.openxmlformats.org/drawingml/2006/main" noGrp="1"/>
          </p:cNvSpPr>
          <p:nvPr/>
        </p:nvSpPr>
        <p:spPr>
          <a:xfrm xmlns:a="http://schemas.openxmlformats.org/drawingml/2006/main">
            <a:off x="533400" y="381000"/>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DCE8FF"/>
                </a:solidFill>
                <a:latin typeface="Menlo"/>
                <a:ea typeface="Menlo"/>
                <a:cs typeface="Menlo"/>
              </a:defRPr>
            </a:pPr>
            <a:r>
              <a:rPr sz="975" b="1" i="0">
                <a:solidFill>
                  <a:srgbClr val="DCE8FF"/>
                </a:solidFill>
                <a:latin typeface="Menlo"/>
                <a:ea typeface="Menlo"/>
                <a:cs typeface="Menlo"/>
              </a:rPr>
              <a:t>THE MISSING OPERATIONAL TRUTH</a:t>
            </a:r>
          </a:p>
        </p:txBody>
      </p:sp>
      <p:sp>
        <p:nvSpPr>
          <p:cNvPr id="2" name="">
            <a:extLst xmlns:a="http://schemas.openxmlformats.org/drawingml/2006/main">
              <a:ext uri="{FF2B5EF4-FFF2-40B4-BE49-F238E27FC236}">
                <a16:creationId xmlns:a16="http://schemas.microsoft.com/office/drawing/2014/main" id="{19ED303A-A51D-45A8-94F9-9A1C2B69893E}"/>
              </a:ext>
            </a:extLst>
          </p:cNvPr>
          <p:cNvSpPr>
            <a:spLocks xmlns:a="http://schemas.openxmlformats.org/drawingml/2006/main" noGrp="1"/>
          </p:cNvSpPr>
          <p:nvPr/>
        </p:nvSpPr>
        <p:spPr>
          <a:xfrm xmlns:a="http://schemas.openxmlformats.org/drawingml/2006/main">
            <a:off x="533400" y="723900"/>
            <a:ext cx="111252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i="0">
                <a:solidFill>
                  <a:srgbClr val="FFFFFF"/>
                </a:solidFill>
                <a:latin typeface="Helvetica Neue"/>
                <a:ea typeface="Helvetica Neue"/>
                <a:cs typeface="Helvetica Neue"/>
              </a:defRPr>
            </a:pPr>
            <a:r>
              <a:rPr sz="3450" b="1" i="0">
                <a:solidFill>
                  <a:srgbClr val="FFFFFF"/>
                </a:solidFill>
                <a:latin typeface="Helvetica Neue"/>
                <a:ea typeface="Helvetica Neue"/>
                <a:cs typeface="Helvetica Neue"/>
              </a:rPr>
              <a:t>A successful tool call can still hide missed demand.</a:t>
            </a:r>
          </a:p>
        </p:txBody>
      </p:sp>
      <p:cxnSp>
        <p:nvCxnSpPr>
          <p:cNvPr id="117" name=""/>
          <p:cNvCxnSpPr/>
          <p:nvPr/>
        </p:nvCxnSpPr>
        <p:spPr>
          <a:xfrm xmlns:a="http://schemas.openxmlformats.org/drawingml/2006/main">
            <a:off x="533400" y="6457950"/>
            <a:ext cx="11125200" cy="0"/>
          </a:xfrm>
          <a:prstGeom xmlns:a="http://schemas.openxmlformats.org/drawingml/2006/main" prst="straightConnector1">
            <a:avLst/>
          </a:prstGeom>
          <a:ln xmlns:a="http://schemas.openxmlformats.org/drawingml/2006/main" w="9525">
            <a:solidFill>
              <a:srgbClr val="39404A"/>
            </a:solidFill>
            <a:prstDash val="solid"/>
          </a:ln>
        </p:spPr>
      </p:cxnSp>
      <p:sp>
        <p:nvSpPr>
          <p:cNvPr id="4" name="">
            <a:extLst xmlns:a="http://schemas.openxmlformats.org/drawingml/2006/main">
              <a:ext uri="{FF2B5EF4-FFF2-40B4-BE49-F238E27FC236}">
                <a16:creationId xmlns:a16="http://schemas.microsoft.com/office/drawing/2014/main" id="{D7B74FCD-B3B1-4A04-8DE7-2EAFCB20A3B9}"/>
              </a:ext>
            </a:extLst>
          </p:cNvPr>
          <p:cNvSpPr>
            <a:spLocks xmlns:a="http://schemas.openxmlformats.org/drawingml/2006/main" noGrp="1"/>
          </p:cNvSpPr>
          <p:nvPr/>
        </p:nvSpPr>
        <p:spPr>
          <a:xfrm xmlns:a="http://schemas.openxmlformats.org/drawingml/2006/main">
            <a:off x="533400" y="6553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AEB5BE"/>
                </a:solidFill>
                <a:latin typeface="Menlo"/>
                <a:ea typeface="Menlo"/>
                <a:cs typeface="Menlo"/>
              </a:defRPr>
            </a:pPr>
            <a:r>
              <a:rPr sz="975" b="1" i="0">
                <a:solidFill>
                  <a:srgbClr val="AEB5BE"/>
                </a:solidFill>
                <a:latin typeface="Menlo"/>
                <a:ea typeface="Menlo"/>
                <a:cs typeface="Menlo"/>
              </a:rPr>
              <a:t>AGENT SNR · HACKATHON DEMO</a:t>
            </a:r>
          </a:p>
        </p:txBody>
      </p:sp>
      <p:sp>
        <p:nvSpPr>
          <p:cNvPr id="5" name="">
            <a:extLst xmlns:a="http://schemas.openxmlformats.org/drawingml/2006/main">
              <a:ext uri="{FF2B5EF4-FFF2-40B4-BE49-F238E27FC236}">
                <a16:creationId xmlns:a16="http://schemas.microsoft.com/office/drawing/2014/main" id="{849F868F-5141-479A-A887-3D90C83F9B82}"/>
              </a:ext>
            </a:extLst>
          </p:cNvPr>
          <p:cNvSpPr>
            <a:spLocks xmlns:a="http://schemas.openxmlformats.org/drawingml/2006/main" noGrp="1"/>
          </p:cNvSpPr>
          <p:nvPr/>
        </p:nvSpPr>
        <p:spPr>
          <a:xfrm xmlns:a="http://schemas.openxmlformats.org/drawingml/2006/main">
            <a:off x="11049000" y="65341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1" i="0">
                <a:solidFill>
                  <a:srgbClr val="AEB5BE"/>
                </a:solidFill>
                <a:latin typeface="Menlo"/>
                <a:ea typeface="Menlo"/>
                <a:cs typeface="Menlo"/>
              </a:defRPr>
            </a:pPr>
            <a:r>
              <a:rPr sz="975" b="1" i="0">
                <a:solidFill>
                  <a:srgbClr val="AEB5BE"/>
                </a:solidFill>
                <a:latin typeface="Menlo"/>
                <a:ea typeface="Menlo"/>
                <a:cs typeface="Menlo"/>
              </a:rPr>
              <a:t>02</a:t>
            </a:r>
          </a:p>
        </p:txBody>
      </p:sp>
      <p:cxnSp>
        <p:nvCxnSpPr>
          <p:cNvPr id="120" name=""/>
          <p:cNvCxnSpPr/>
          <p:nvPr/>
        </p:nvCxnSpPr>
        <p:spPr>
          <a:xfrm xmlns:a="http://schemas.openxmlformats.org/drawingml/2006/main">
            <a:off x="742950" y="2762250"/>
            <a:ext cx="10096500" cy="0"/>
          </a:xfrm>
          <a:prstGeom xmlns:a="http://schemas.openxmlformats.org/drawingml/2006/main" prst="straightConnector1">
            <a:avLst/>
          </a:prstGeom>
          <a:ln xmlns:a="http://schemas.openxmlformats.org/drawingml/2006/main" w="38100">
            <a:solidFill>
              <a:srgbClr val="4A5260"/>
            </a:solidFill>
            <a:prstDash val="solid"/>
          </a:ln>
        </p:spPr>
      </p:cxnSp>
      <p:sp>
        <p:nvSpPr>
          <p:cNvPr id="7" name="">
            <a:extLst xmlns:a="http://schemas.openxmlformats.org/drawingml/2006/main">
              <a:ext uri="{FF2B5EF4-FFF2-40B4-BE49-F238E27FC236}">
                <a16:creationId xmlns:a16="http://schemas.microsoft.com/office/drawing/2014/main" id="{1E657A67-7EAD-4C98-93B7-8E9AB12A071B}"/>
              </a:ext>
            </a:extLst>
          </p:cNvPr>
          <p:cNvSpPr>
            <a:spLocks xmlns:a="http://schemas.openxmlformats.org/drawingml/2006/main" noGrp="1"/>
          </p:cNvSpPr>
          <p:nvPr/>
        </p:nvSpPr>
        <p:spPr>
          <a:xfrm xmlns:a="http://schemas.openxmlformats.org/drawingml/2006/main">
            <a:off x="762000" y="2352675"/>
            <a:ext cx="419100" cy="419100"/>
          </a:xfrm>
          <a:prstGeom xmlns:a="http://schemas.openxmlformats.org/drawingml/2006/main" prst="roundRect">
            <a:avLst>
              <a:gd name="adj" fmla="val 27273"/>
            </a:avLst>
          </a:prstGeom>
          <a:solidFill xmlns:a="http://schemas.openxmlformats.org/drawingml/2006/main">
            <a:srgbClr val="35B56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E67A128-8966-416F-9D49-1A1D4CE63AA9}"/>
              </a:ext>
            </a:extLst>
          </p:cNvPr>
          <p:cNvSpPr>
            <a:spLocks xmlns:a="http://schemas.openxmlformats.org/drawingml/2006/main" noGrp="1"/>
          </p:cNvSpPr>
          <p:nvPr/>
        </p:nvSpPr>
        <p:spPr>
          <a:xfrm xmlns:a="http://schemas.openxmlformats.org/drawingml/2006/main">
            <a:off x="762000" y="24765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00" b="1" i="0">
                <a:solidFill>
                  <a:srgbClr val="111111"/>
                </a:solidFill>
                <a:latin typeface="Menlo"/>
                <a:ea typeface="Menlo"/>
                <a:cs typeface="Menlo"/>
              </a:defRPr>
            </a:pPr>
            <a:r>
              <a:rPr sz="900" b="1" i="0">
                <a:solidFill>
                  <a:srgbClr val="111111"/>
                </a:solidFill>
                <a:latin typeface="Menlo"/>
                <a:ea typeface="Menlo"/>
                <a:cs typeface="Menlo"/>
              </a:rPr>
              <a:t>01</a:t>
            </a:r>
          </a:p>
        </p:txBody>
      </p:sp>
      <p:sp>
        <p:nvSpPr>
          <p:cNvPr id="9" name="">
            <a:extLst xmlns:a="http://schemas.openxmlformats.org/drawingml/2006/main">
              <a:ext uri="{FF2B5EF4-FFF2-40B4-BE49-F238E27FC236}">
                <a16:creationId xmlns:a16="http://schemas.microsoft.com/office/drawing/2014/main" id="{3A3F1E72-690D-423F-A2B1-52B8BFA9F17D}"/>
              </a:ext>
            </a:extLst>
          </p:cNvPr>
          <p:cNvSpPr>
            <a:spLocks xmlns:a="http://schemas.openxmlformats.org/drawingml/2006/main" noGrp="1"/>
          </p:cNvSpPr>
          <p:nvPr/>
        </p:nvSpPr>
        <p:spPr>
          <a:xfrm xmlns:a="http://schemas.openxmlformats.org/drawingml/2006/main">
            <a:off x="762000" y="300990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Search succeeded</a:t>
            </a:r>
          </a:p>
        </p:txBody>
      </p:sp>
      <p:sp>
        <p:nvSpPr>
          <p:cNvPr id="10" name="">
            <a:extLst xmlns:a="http://schemas.openxmlformats.org/drawingml/2006/main">
              <a:ext uri="{FF2B5EF4-FFF2-40B4-BE49-F238E27FC236}">
                <a16:creationId xmlns:a16="http://schemas.microsoft.com/office/drawing/2014/main" id="{063531A9-7B4B-427A-A55A-61D4E915C09E}"/>
              </a:ext>
            </a:extLst>
          </p:cNvPr>
          <p:cNvSpPr>
            <a:spLocks xmlns:a="http://schemas.openxmlformats.org/drawingml/2006/main" noGrp="1"/>
          </p:cNvSpPr>
          <p:nvPr/>
        </p:nvSpPr>
        <p:spPr>
          <a:xfrm xmlns:a="http://schemas.openxmlformats.org/drawingml/2006/main">
            <a:off x="3619500" y="2352675"/>
            <a:ext cx="419100" cy="419100"/>
          </a:xfrm>
          <a:prstGeom xmlns:a="http://schemas.openxmlformats.org/drawingml/2006/main" prst="roundRect">
            <a:avLst>
              <a:gd name="adj" fmla="val 27273"/>
            </a:avLst>
          </a:prstGeom>
          <a:solidFill xmlns:a="http://schemas.openxmlformats.org/drawingml/2006/main">
            <a:srgbClr val="35B56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1981EDC-4C51-4FFE-878D-814197D30E57}"/>
              </a:ext>
            </a:extLst>
          </p:cNvPr>
          <p:cNvSpPr>
            <a:spLocks xmlns:a="http://schemas.openxmlformats.org/drawingml/2006/main" noGrp="1"/>
          </p:cNvSpPr>
          <p:nvPr/>
        </p:nvSpPr>
        <p:spPr>
          <a:xfrm xmlns:a="http://schemas.openxmlformats.org/drawingml/2006/main">
            <a:off x="3619500" y="24765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00" b="1" i="0">
                <a:solidFill>
                  <a:srgbClr val="111111"/>
                </a:solidFill>
                <a:latin typeface="Menlo"/>
                <a:ea typeface="Menlo"/>
                <a:cs typeface="Menlo"/>
              </a:defRPr>
            </a:pPr>
            <a:r>
              <a:rPr sz="900" b="1" i="0">
                <a:solidFill>
                  <a:srgbClr val="111111"/>
                </a:solidFill>
                <a:latin typeface="Menlo"/>
                <a:ea typeface="Menlo"/>
                <a:cs typeface="Menlo"/>
              </a:rPr>
              <a:t>02</a:t>
            </a:r>
          </a:p>
        </p:txBody>
      </p:sp>
      <p:sp>
        <p:nvSpPr>
          <p:cNvPr id="12" name="">
            <a:extLst xmlns:a="http://schemas.openxmlformats.org/drawingml/2006/main">
              <a:ext uri="{FF2B5EF4-FFF2-40B4-BE49-F238E27FC236}">
                <a16:creationId xmlns:a16="http://schemas.microsoft.com/office/drawing/2014/main" id="{32385960-FC3D-46D7-AB07-96ED13164E18}"/>
              </a:ext>
            </a:extLst>
          </p:cNvPr>
          <p:cNvSpPr>
            <a:spLocks xmlns:a="http://schemas.openxmlformats.org/drawingml/2006/main" noGrp="1"/>
          </p:cNvSpPr>
          <p:nvPr/>
        </p:nvSpPr>
        <p:spPr>
          <a:xfrm xmlns:a="http://schemas.openxmlformats.org/drawingml/2006/main">
            <a:off x="3619500" y="300990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Zero matches</a:t>
            </a:r>
          </a:p>
        </p:txBody>
      </p:sp>
      <p:sp>
        <p:nvSpPr>
          <p:cNvPr id="13" name="">
            <a:extLst xmlns:a="http://schemas.openxmlformats.org/drawingml/2006/main">
              <a:ext uri="{FF2B5EF4-FFF2-40B4-BE49-F238E27FC236}">
                <a16:creationId xmlns:a16="http://schemas.microsoft.com/office/drawing/2014/main" id="{DF692702-FFF4-4DAA-8CA3-2C7AC13395CA}"/>
              </a:ext>
            </a:extLst>
          </p:cNvPr>
          <p:cNvSpPr>
            <a:spLocks xmlns:a="http://schemas.openxmlformats.org/drawingml/2006/main" noGrp="1"/>
          </p:cNvSpPr>
          <p:nvPr/>
        </p:nvSpPr>
        <p:spPr>
          <a:xfrm xmlns:a="http://schemas.openxmlformats.org/drawingml/2006/main">
            <a:off x="6477000" y="2352675"/>
            <a:ext cx="419100" cy="419100"/>
          </a:xfrm>
          <a:prstGeom xmlns:a="http://schemas.openxmlformats.org/drawingml/2006/main" prst="roundRect">
            <a:avLst>
              <a:gd name="adj" fmla="val 27273"/>
            </a:avLst>
          </a:prstGeom>
          <a:solidFill xmlns:a="http://schemas.openxmlformats.org/drawingml/2006/main">
            <a:srgbClr val="1769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C51B04C-C3C4-4734-80D1-7333CAF002BB}"/>
              </a:ext>
            </a:extLst>
          </p:cNvPr>
          <p:cNvSpPr>
            <a:spLocks xmlns:a="http://schemas.openxmlformats.org/drawingml/2006/main" noGrp="1"/>
          </p:cNvSpPr>
          <p:nvPr/>
        </p:nvSpPr>
        <p:spPr>
          <a:xfrm xmlns:a="http://schemas.openxmlformats.org/drawingml/2006/main">
            <a:off x="6477000" y="24765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00" b="1" i="0">
                <a:solidFill>
                  <a:srgbClr val="111111"/>
                </a:solidFill>
                <a:latin typeface="Menlo"/>
                <a:ea typeface="Menlo"/>
                <a:cs typeface="Menlo"/>
              </a:defRPr>
            </a:pPr>
            <a:r>
              <a:rPr sz="900" b="1" i="0">
                <a:solidFill>
                  <a:srgbClr val="111111"/>
                </a:solidFill>
                <a:latin typeface="Menlo"/>
                <a:ea typeface="Menlo"/>
                <a:cs typeface="Menlo"/>
              </a:rPr>
              <a:t>03</a:t>
            </a:r>
          </a:p>
        </p:txBody>
      </p:sp>
      <p:sp>
        <p:nvSpPr>
          <p:cNvPr id="15" name="">
            <a:extLst xmlns:a="http://schemas.openxmlformats.org/drawingml/2006/main">
              <a:ext uri="{FF2B5EF4-FFF2-40B4-BE49-F238E27FC236}">
                <a16:creationId xmlns:a16="http://schemas.microsoft.com/office/drawing/2014/main" id="{5E5DB095-8F16-4DDA-AAFE-55EAA8C591BF}"/>
              </a:ext>
            </a:extLst>
          </p:cNvPr>
          <p:cNvSpPr>
            <a:spLocks xmlns:a="http://schemas.openxmlformats.org/drawingml/2006/main" noGrp="1"/>
          </p:cNvSpPr>
          <p:nvPr/>
        </p:nvSpPr>
        <p:spPr>
          <a:xfrm xmlns:a="http://schemas.openxmlformats.org/drawingml/2006/main">
            <a:off x="6477000" y="300990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Then what?</a:t>
            </a:r>
          </a:p>
        </p:txBody>
      </p:sp>
      <p:sp>
        <p:nvSpPr>
          <p:cNvPr id="16" name="">
            <a:extLst xmlns:a="http://schemas.openxmlformats.org/drawingml/2006/main">
              <a:ext uri="{FF2B5EF4-FFF2-40B4-BE49-F238E27FC236}">
                <a16:creationId xmlns:a16="http://schemas.microsoft.com/office/drawing/2014/main" id="{7339D8A0-F706-4447-A35D-FA3EB2E28BDF}"/>
              </a:ext>
            </a:extLst>
          </p:cNvPr>
          <p:cNvSpPr>
            <a:spLocks xmlns:a="http://schemas.openxmlformats.org/drawingml/2006/main" noGrp="1"/>
          </p:cNvSpPr>
          <p:nvPr/>
        </p:nvSpPr>
        <p:spPr>
          <a:xfrm xmlns:a="http://schemas.openxmlformats.org/drawingml/2006/main">
            <a:off x="6429375" y="3676650"/>
            <a:ext cx="2133600" cy="495300"/>
          </a:xfrm>
          <a:prstGeom xmlns:a="http://schemas.openxmlformats.org/drawingml/2006/main" prst="roundRect">
            <a:avLst>
              <a:gd name="adj" fmla="val 23077"/>
            </a:avLst>
          </a:prstGeom>
          <a:solidFill xmlns:a="http://schemas.openxmlformats.org/drawingml/2006/main">
            <a:srgbClr val="1769FF"/>
          </a:solidFill>
          <a:ln xmlns:a="http://schemas.openxmlformats.org/drawingml/2006/main" w="9525">
            <a:solidFill>
              <a:srgbClr val="4A5260"/>
            </a:solidFill>
            <a:prstDash val="solid"/>
          </a:ln>
        </p:spPr>
      </p:sp>
      <p:sp>
        <p:nvSpPr>
          <p:cNvPr id="17" name="">
            <a:extLst xmlns:a="http://schemas.openxmlformats.org/drawingml/2006/main">
              <a:ext uri="{FF2B5EF4-FFF2-40B4-BE49-F238E27FC236}">
                <a16:creationId xmlns:a16="http://schemas.microsoft.com/office/drawing/2014/main" id="{AE79F0DC-18AD-41B4-8638-A97F52D67E0D}"/>
              </a:ext>
            </a:extLst>
          </p:cNvPr>
          <p:cNvSpPr>
            <a:spLocks xmlns:a="http://schemas.openxmlformats.org/drawingml/2006/main" noGrp="1"/>
          </p:cNvSpPr>
          <p:nvPr/>
        </p:nvSpPr>
        <p:spPr>
          <a:xfrm xmlns:a="http://schemas.openxmlformats.org/drawingml/2006/main">
            <a:off x="6600825" y="38481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FFFFFF"/>
                </a:solidFill>
                <a:latin typeface="Menlo"/>
                <a:ea typeface="Menlo"/>
                <a:cs typeface="Menlo"/>
              </a:defRPr>
            </a:pPr>
            <a:r>
              <a:rPr sz="975" b="1" i="0">
                <a:solidFill>
                  <a:srgbClr val="FFFFFF"/>
                </a:solidFill>
                <a:latin typeface="Menlo"/>
                <a:ea typeface="Menlo"/>
                <a:cs typeface="Menlo"/>
              </a:rPr>
              <a:t>RELAXED CONSTRAINTS</a:t>
            </a:r>
          </a:p>
        </p:txBody>
      </p:sp>
      <p:sp>
        <p:nvSpPr>
          <p:cNvPr id="18" name="">
            <a:extLst xmlns:a="http://schemas.openxmlformats.org/drawingml/2006/main">
              <a:ext uri="{FF2B5EF4-FFF2-40B4-BE49-F238E27FC236}">
                <a16:creationId xmlns:a16="http://schemas.microsoft.com/office/drawing/2014/main" id="{CB78B261-6EBA-4694-AE60-6386DD928C1A}"/>
              </a:ext>
            </a:extLst>
          </p:cNvPr>
          <p:cNvSpPr>
            <a:spLocks xmlns:a="http://schemas.openxmlformats.org/drawingml/2006/main" noGrp="1"/>
          </p:cNvSpPr>
          <p:nvPr/>
        </p:nvSpPr>
        <p:spPr>
          <a:xfrm xmlns:a="http://schemas.openxmlformats.org/drawingml/2006/main">
            <a:off x="8763000" y="3676650"/>
            <a:ext cx="2133600" cy="495300"/>
          </a:xfrm>
          <a:prstGeom xmlns:a="http://schemas.openxmlformats.org/drawingml/2006/main" prst="roundRect">
            <a:avLst>
              <a:gd name="adj" fmla="val 23077"/>
            </a:avLst>
          </a:prstGeom>
          <a:solidFill xmlns:a="http://schemas.openxmlformats.org/drawingml/2006/main">
            <a:srgbClr val="252A31"/>
          </a:solidFill>
          <a:ln xmlns:a="http://schemas.openxmlformats.org/drawingml/2006/main" w="9525">
            <a:solidFill>
              <a:srgbClr val="4A5260"/>
            </a:solidFill>
            <a:prstDash val="solid"/>
          </a:ln>
        </p:spPr>
      </p:sp>
      <p:sp>
        <p:nvSpPr>
          <p:cNvPr id="19" name="">
            <a:extLst xmlns:a="http://schemas.openxmlformats.org/drawingml/2006/main">
              <a:ext uri="{FF2B5EF4-FFF2-40B4-BE49-F238E27FC236}">
                <a16:creationId xmlns:a16="http://schemas.microsoft.com/office/drawing/2014/main" id="{7C275DDA-5633-47BE-8957-4229A90DC228}"/>
              </a:ext>
            </a:extLst>
          </p:cNvPr>
          <p:cNvSpPr>
            <a:spLocks xmlns:a="http://schemas.openxmlformats.org/drawingml/2006/main" noGrp="1"/>
          </p:cNvSpPr>
          <p:nvPr/>
        </p:nvSpPr>
        <p:spPr>
          <a:xfrm xmlns:a="http://schemas.openxmlformats.org/drawingml/2006/main">
            <a:off x="8934450" y="38481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D5D9DE"/>
                </a:solidFill>
                <a:latin typeface="Menlo"/>
                <a:ea typeface="Menlo"/>
                <a:cs typeface="Menlo"/>
              </a:defRPr>
            </a:pPr>
            <a:r>
              <a:rPr sz="975" b="1" i="0">
                <a:solidFill>
                  <a:srgbClr val="D5D9DE"/>
                </a:solidFill>
                <a:latin typeface="Menlo"/>
                <a:ea typeface="Menlo"/>
                <a:cs typeface="Menlo"/>
              </a:rPr>
              <a:t>AGENT FEEDBACK</a:t>
            </a:r>
          </a:p>
        </p:txBody>
      </p:sp>
      <p:sp>
        <p:nvSpPr>
          <p:cNvPr id="20" name="">
            <a:extLst xmlns:a="http://schemas.openxmlformats.org/drawingml/2006/main">
              <a:ext uri="{FF2B5EF4-FFF2-40B4-BE49-F238E27FC236}">
                <a16:creationId xmlns:a16="http://schemas.microsoft.com/office/drawing/2014/main" id="{C2140EA3-63E7-4778-B864-465AD7F28FF4}"/>
              </a:ext>
            </a:extLst>
          </p:cNvPr>
          <p:cNvSpPr>
            <a:spLocks xmlns:a="http://schemas.openxmlformats.org/drawingml/2006/main" noGrp="1"/>
          </p:cNvSpPr>
          <p:nvPr/>
        </p:nvSpPr>
        <p:spPr>
          <a:xfrm xmlns:a="http://schemas.openxmlformats.org/drawingml/2006/main">
            <a:off x="6429375" y="4400550"/>
            <a:ext cx="2133600" cy="495300"/>
          </a:xfrm>
          <a:prstGeom xmlns:a="http://schemas.openxmlformats.org/drawingml/2006/main" prst="roundRect">
            <a:avLst>
              <a:gd name="adj" fmla="val 23077"/>
            </a:avLst>
          </a:prstGeom>
          <a:solidFill xmlns:a="http://schemas.openxmlformats.org/drawingml/2006/main">
            <a:srgbClr val="252A31"/>
          </a:solidFill>
          <a:ln xmlns:a="http://schemas.openxmlformats.org/drawingml/2006/main" w="9525">
            <a:solidFill>
              <a:srgbClr val="4A5260"/>
            </a:solidFill>
            <a:prstDash val="solid"/>
          </a:ln>
        </p:spPr>
      </p:sp>
      <p:sp>
        <p:nvSpPr>
          <p:cNvPr id="21" name="">
            <a:extLst xmlns:a="http://schemas.openxmlformats.org/drawingml/2006/main">
              <a:ext uri="{FF2B5EF4-FFF2-40B4-BE49-F238E27FC236}">
                <a16:creationId xmlns:a16="http://schemas.microsoft.com/office/drawing/2014/main" id="{1E89E0B7-2F80-425E-A1EA-229AA9E8D109}"/>
              </a:ext>
            </a:extLst>
          </p:cNvPr>
          <p:cNvSpPr>
            <a:spLocks xmlns:a="http://schemas.openxmlformats.org/drawingml/2006/main" noGrp="1"/>
          </p:cNvSpPr>
          <p:nvPr/>
        </p:nvSpPr>
        <p:spPr>
          <a:xfrm xmlns:a="http://schemas.openxmlformats.org/drawingml/2006/main">
            <a:off x="6600825" y="45720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D5D9DE"/>
                </a:solidFill>
                <a:latin typeface="Menlo"/>
                <a:ea typeface="Menlo"/>
                <a:cs typeface="Menlo"/>
              </a:defRPr>
            </a:pPr>
            <a:r>
              <a:rPr sz="975" b="1" i="0">
                <a:solidFill>
                  <a:srgbClr val="D5D9DE"/>
                </a:solidFill>
                <a:latin typeface="Menlo"/>
                <a:ea typeface="Menlo"/>
                <a:cs typeface="Menlo"/>
              </a:rPr>
              <a:t>HUMAN ORDER</a:t>
            </a:r>
          </a:p>
        </p:txBody>
      </p:sp>
      <p:sp>
        <p:nvSpPr>
          <p:cNvPr id="22" name="">
            <a:extLst xmlns:a="http://schemas.openxmlformats.org/drawingml/2006/main">
              <a:ext uri="{FF2B5EF4-FFF2-40B4-BE49-F238E27FC236}">
                <a16:creationId xmlns:a16="http://schemas.microsoft.com/office/drawing/2014/main" id="{557DFF03-17B6-4197-AAD7-E3FC940176DE}"/>
              </a:ext>
            </a:extLst>
          </p:cNvPr>
          <p:cNvSpPr>
            <a:spLocks xmlns:a="http://schemas.openxmlformats.org/drawingml/2006/main" noGrp="1"/>
          </p:cNvSpPr>
          <p:nvPr/>
        </p:nvSpPr>
        <p:spPr>
          <a:xfrm xmlns:a="http://schemas.openxmlformats.org/drawingml/2006/main">
            <a:off x="8763000" y="4400550"/>
            <a:ext cx="2133600" cy="495300"/>
          </a:xfrm>
          <a:prstGeom xmlns:a="http://schemas.openxmlformats.org/drawingml/2006/main" prst="roundRect">
            <a:avLst>
              <a:gd name="adj" fmla="val 23077"/>
            </a:avLst>
          </a:prstGeom>
          <a:solidFill xmlns:a="http://schemas.openxmlformats.org/drawingml/2006/main">
            <a:srgbClr val="252A31"/>
          </a:solidFill>
          <a:ln xmlns:a="http://schemas.openxmlformats.org/drawingml/2006/main" w="9525">
            <a:solidFill>
              <a:srgbClr val="4A5260"/>
            </a:solidFill>
            <a:prstDash val="solid"/>
          </a:ln>
        </p:spPr>
      </p:sp>
      <p:sp>
        <p:nvSpPr>
          <p:cNvPr id="23" name="">
            <a:extLst xmlns:a="http://schemas.openxmlformats.org/drawingml/2006/main">
              <a:ext uri="{FF2B5EF4-FFF2-40B4-BE49-F238E27FC236}">
                <a16:creationId xmlns:a16="http://schemas.microsoft.com/office/drawing/2014/main" id="{C63F22E6-E16A-4C1B-B25C-5609057F400A}"/>
              </a:ext>
            </a:extLst>
          </p:cNvPr>
          <p:cNvSpPr>
            <a:spLocks xmlns:a="http://schemas.openxmlformats.org/drawingml/2006/main" noGrp="1"/>
          </p:cNvSpPr>
          <p:nvPr/>
        </p:nvSpPr>
        <p:spPr>
          <a:xfrm xmlns:a="http://schemas.openxmlformats.org/drawingml/2006/main">
            <a:off x="8934450" y="45720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D5D9DE"/>
                </a:solidFill>
                <a:latin typeface="Menlo"/>
                <a:ea typeface="Menlo"/>
                <a:cs typeface="Menlo"/>
              </a:defRPr>
            </a:pPr>
            <a:r>
              <a:rPr sz="975" b="1" i="0">
                <a:solidFill>
                  <a:srgbClr val="D5D9DE"/>
                </a:solidFill>
                <a:latin typeface="Menlo"/>
                <a:ea typeface="Menlo"/>
                <a:cs typeface="Menlo"/>
              </a:rPr>
              <a:t>SHOPPER LEFT</a:t>
            </a:r>
          </a:p>
        </p:txBody>
      </p:sp>
      <p:sp>
        <p:nvSpPr>
          <p:cNvPr id="24" name="">
            <a:extLst xmlns:a="http://schemas.openxmlformats.org/drawingml/2006/main">
              <a:ext uri="{FF2B5EF4-FFF2-40B4-BE49-F238E27FC236}">
                <a16:creationId xmlns:a16="http://schemas.microsoft.com/office/drawing/2014/main" id="{45AE83F4-CF3C-4FF0-8713-C9654B21F93F}"/>
              </a:ext>
            </a:extLst>
          </p:cNvPr>
          <p:cNvSpPr>
            <a:spLocks xmlns:a="http://schemas.openxmlformats.org/drawingml/2006/main" noGrp="1"/>
          </p:cNvSpPr>
          <p:nvPr/>
        </p:nvSpPr>
        <p:spPr>
          <a:xfrm xmlns:a="http://schemas.openxmlformats.org/drawingml/2006/main">
            <a:off x="762000" y="4305300"/>
            <a:ext cx="4762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400" b="1" i="0">
                <a:solidFill>
                  <a:srgbClr val="FFFFFF"/>
                </a:solidFill>
                <a:latin typeface="Helvetica Neue"/>
                <a:ea typeface="Helvetica Neue"/>
                <a:cs typeface="Helvetica Neue"/>
              </a:defRPr>
            </a:pPr>
            <a:r>
              <a:rPr sz="2400" b="1" i="0">
                <a:solidFill>
                  <a:srgbClr val="FFFFFF"/>
                </a:solidFill>
                <a:latin typeface="Helvetica Neue"/>
                <a:ea typeface="Helvetica Neue"/>
                <a:cs typeface="Helvetica Neue"/>
              </a:rPr>
              <a:t>Operators need the missing signal—not another success log.</a:t>
            </a:r>
          </a:p>
        </p:txBody>
      </p:sp>
    </p:spTree>
    <p:extLst>
      <p:ext uri="{BB962C8B-B14F-4D97-AF65-F5344CB8AC3E}">
        <p14:creationId xmlns:p14="http://schemas.microsoft.com/office/powerpoint/2010/main" val="1352726534"/>
      </p:ext>
    </p:extLst>
  </p:cSld>
</p:sld>
</file>

<file path=ppt/slides/slide3.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32706B0-7368-4378-8DE9-8F110DA3BCD3}"/>
              </a:ext>
            </a:extLst>
          </p:cNvPr>
          <p:cNvSpPr>
            <a:spLocks xmlns:a="http://schemas.openxmlformats.org/drawingml/2006/main" noGrp="1"/>
          </p:cNvSpPr>
          <p:nvPr/>
        </p:nvSpPr>
        <p:spPr>
          <a:xfrm xmlns:a="http://schemas.openxmlformats.org/drawingml/2006/main">
            <a:off x="533400" y="381000"/>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A FAMILIAR OPERATIONS PATTERN</a:t>
            </a:r>
          </a:p>
        </p:txBody>
      </p:sp>
      <p:sp>
        <p:nvSpPr>
          <p:cNvPr id="2" name="">
            <a:extLst xmlns:a="http://schemas.openxmlformats.org/drawingml/2006/main">
              <a:ext uri="{FF2B5EF4-FFF2-40B4-BE49-F238E27FC236}">
                <a16:creationId xmlns:a16="http://schemas.microsoft.com/office/drawing/2014/main" id="{B84A9F75-03D0-4276-85C1-0FD864EE7B58}"/>
              </a:ext>
            </a:extLst>
          </p:cNvPr>
          <p:cNvSpPr>
            <a:spLocks xmlns:a="http://schemas.openxmlformats.org/drawingml/2006/main" noGrp="1"/>
          </p:cNvSpPr>
          <p:nvPr/>
        </p:nvSpPr>
        <p:spPr>
          <a:xfrm xmlns:a="http://schemas.openxmlformats.org/drawingml/2006/main">
            <a:off x="533400" y="723900"/>
            <a:ext cx="11125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i="0">
                <a:solidFill>
                  <a:srgbClr val="111111"/>
                </a:solidFill>
                <a:latin typeface="Helvetica Neue"/>
                <a:ea typeface="Helvetica Neue"/>
                <a:cs typeface="Helvetica Neue"/>
              </a:defRPr>
            </a:pPr>
            <a:r>
              <a:rPr sz="3150" b="1" i="0">
                <a:solidFill>
                  <a:srgbClr val="111111"/>
                </a:solidFill>
                <a:latin typeface="Helvetica Neue"/>
                <a:ea typeface="Helvetica Neue"/>
                <a:cs typeface="Helvetica Neue"/>
              </a:rPr>
              <a:t>The operations layer website agents are missing.</a:t>
            </a:r>
          </a:p>
        </p:txBody>
      </p:sp>
      <p:cxnSp>
        <p:nvCxnSpPr>
          <p:cNvPr id="279" name=""/>
          <p:cNvCxnSpPr/>
          <p:nvPr/>
        </p:nvCxnSpPr>
        <p:spPr>
          <a:xfrm xmlns:a="http://schemas.openxmlformats.org/drawingml/2006/main">
            <a:off x="533400" y="6457950"/>
            <a:ext cx="11125200" cy="0"/>
          </a:xfrm>
          <a:prstGeom xmlns:a="http://schemas.openxmlformats.org/drawingml/2006/main" prst="straightConnector1">
            <a:avLst/>
          </a:prstGeom>
          <a:ln xmlns:a="http://schemas.openxmlformats.org/drawingml/2006/main" w="9525">
            <a:solidFill>
              <a:srgbClr val="D1D5D8"/>
            </a:solidFill>
            <a:prstDash val="solid"/>
          </a:ln>
        </p:spPr>
      </p:cxnSp>
      <p:sp>
        <p:nvSpPr>
          <p:cNvPr id="4" name="">
            <a:extLst xmlns:a="http://schemas.openxmlformats.org/drawingml/2006/main">
              <a:ext uri="{FF2B5EF4-FFF2-40B4-BE49-F238E27FC236}">
                <a16:creationId xmlns:a16="http://schemas.microsoft.com/office/drawing/2014/main" id="{BDC05C8E-A901-4800-9059-59BBD2EAABD6}"/>
              </a:ext>
            </a:extLst>
          </p:cNvPr>
          <p:cNvSpPr>
            <a:spLocks xmlns:a="http://schemas.openxmlformats.org/drawingml/2006/main" noGrp="1"/>
          </p:cNvSpPr>
          <p:nvPr/>
        </p:nvSpPr>
        <p:spPr>
          <a:xfrm xmlns:a="http://schemas.openxmlformats.org/drawingml/2006/main">
            <a:off x="533400" y="6553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AGENT SNR · HACKATHON DEMO</a:t>
            </a:r>
          </a:p>
        </p:txBody>
      </p:sp>
      <p:sp>
        <p:nvSpPr>
          <p:cNvPr id="5" name="">
            <a:extLst xmlns:a="http://schemas.openxmlformats.org/drawingml/2006/main">
              <a:ext uri="{FF2B5EF4-FFF2-40B4-BE49-F238E27FC236}">
                <a16:creationId xmlns:a16="http://schemas.microsoft.com/office/drawing/2014/main" id="{94E08696-6379-4C65-9F92-F1B83ADCED7C}"/>
              </a:ext>
            </a:extLst>
          </p:cNvPr>
          <p:cNvSpPr>
            <a:spLocks xmlns:a="http://schemas.openxmlformats.org/drawingml/2006/main" noGrp="1"/>
          </p:cNvSpPr>
          <p:nvPr/>
        </p:nvSpPr>
        <p:spPr>
          <a:xfrm xmlns:a="http://schemas.openxmlformats.org/drawingml/2006/main">
            <a:off x="11049000" y="65341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1" i="0">
                <a:solidFill>
                  <a:srgbClr val="5E666D"/>
                </a:solidFill>
                <a:latin typeface="Menlo"/>
                <a:ea typeface="Menlo"/>
                <a:cs typeface="Menlo"/>
              </a:defRPr>
            </a:pPr>
            <a:r>
              <a:rPr sz="975" b="1" i="0">
                <a:solidFill>
                  <a:srgbClr val="5E666D"/>
                </a:solidFill>
                <a:latin typeface="Menlo"/>
                <a:ea typeface="Menlo"/>
                <a:cs typeface="Menlo"/>
              </a:rPr>
              <a:t>03</a:t>
            </a:r>
          </a:p>
        </p:txBody>
      </p:sp>
      <p:sp>
        <p:nvSpPr>
          <p:cNvPr id="6" name="">
            <a:extLst xmlns:a="http://schemas.openxmlformats.org/drawingml/2006/main">
              <a:ext uri="{FF2B5EF4-FFF2-40B4-BE49-F238E27FC236}">
                <a16:creationId xmlns:a16="http://schemas.microsoft.com/office/drawing/2014/main" id="{1483E785-72BA-448F-8294-E3B85635F473}"/>
              </a:ext>
            </a:extLst>
          </p:cNvPr>
          <p:cNvSpPr>
            <a:spLocks xmlns:a="http://schemas.openxmlformats.org/drawingml/2006/main" noGrp="1"/>
          </p:cNvSpPr>
          <p:nvPr/>
        </p:nvSpPr>
        <p:spPr>
          <a:xfrm xmlns:a="http://schemas.openxmlformats.org/drawingml/2006/main">
            <a:off x="533400" y="19812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INVESTIGATE</a:t>
            </a:r>
          </a:p>
        </p:txBody>
      </p:sp>
      <p:sp>
        <p:nvSpPr>
          <p:cNvPr id="7" name="">
            <a:extLst xmlns:a="http://schemas.openxmlformats.org/drawingml/2006/main">
              <a:ext uri="{FF2B5EF4-FFF2-40B4-BE49-F238E27FC236}">
                <a16:creationId xmlns:a16="http://schemas.microsoft.com/office/drawing/2014/main" id="{E1AAB900-33B8-4470-BB17-193F8972D1CD}"/>
              </a:ext>
            </a:extLst>
          </p:cNvPr>
          <p:cNvSpPr>
            <a:spLocks xmlns:a="http://schemas.openxmlformats.org/drawingml/2006/main" noGrp="1"/>
          </p:cNvSpPr>
          <p:nvPr/>
        </p:nvSpPr>
        <p:spPr>
          <a:xfrm xmlns:a="http://schemas.openxmlformats.org/drawingml/2006/main">
            <a:off x="533400" y="24193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i="0">
                <a:solidFill>
                  <a:srgbClr val="111111"/>
                </a:solidFill>
                <a:latin typeface="Helvetica Neue"/>
                <a:ea typeface="Helvetica Neue"/>
                <a:cs typeface="Helvetica Neue"/>
              </a:defRPr>
            </a:pPr>
            <a:r>
              <a:rPr sz="2250" b="1" i="0">
                <a:solidFill>
                  <a:srgbClr val="111111"/>
                </a:solidFill>
                <a:latin typeface="Helvetica Neue"/>
                <a:ea typeface="Helvetica Neue"/>
                <a:cs typeface="Helvetica Neue"/>
              </a:rPr>
              <a:t>Journey replay</a:t>
            </a:r>
          </a:p>
        </p:txBody>
      </p:sp>
      <p:sp>
        <p:nvSpPr>
          <p:cNvPr id="8" name="">
            <a:extLst xmlns:a="http://schemas.openxmlformats.org/drawingml/2006/main">
              <a:ext uri="{FF2B5EF4-FFF2-40B4-BE49-F238E27FC236}">
                <a16:creationId xmlns:a16="http://schemas.microsoft.com/office/drawing/2014/main" id="{8F887841-408D-48B1-930A-0A0DF570E05D}"/>
              </a:ext>
            </a:extLst>
          </p:cNvPr>
          <p:cNvSpPr>
            <a:spLocks xmlns:a="http://schemas.openxmlformats.org/drawingml/2006/main" noGrp="1"/>
          </p:cNvSpPr>
          <p:nvPr/>
        </p:nvSpPr>
        <p:spPr>
          <a:xfrm xmlns:a="http://schemas.openxmlformats.org/drawingml/2006/main">
            <a:off x="533400" y="3352800"/>
            <a:ext cx="314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E666D"/>
                </a:solidFill>
                <a:latin typeface="Helvetica Neue"/>
                <a:ea typeface="Helvetica Neue"/>
                <a:cs typeface="Helvetica Neue"/>
              </a:defRPr>
            </a:pPr>
            <a:r>
              <a:rPr sz="1425" b="0" i="0">
                <a:solidFill>
                  <a:srgbClr val="5E666D"/>
                </a:solidFill>
                <a:latin typeface="Helvetica Neue"/>
                <a:ea typeface="Helvetica Neue"/>
                <a:cs typeface="Helvetica Neue"/>
              </a:rPr>
              <a:t>Reconstruct a journey</a:t>
            </a:r>
          </a:p>
        </p:txBody>
      </p:sp>
      <p:cxnSp>
        <p:nvCxnSpPr>
          <p:cNvPr id="285" name=""/>
          <p:cNvCxnSpPr/>
          <p:nvPr/>
        </p:nvCxnSpPr>
        <p:spPr>
          <a:xfrm xmlns:a="http://schemas.openxmlformats.org/drawingml/2006/main">
            <a:off x="533400" y="4038600"/>
            <a:ext cx="3143250" cy="0"/>
          </a:xfrm>
          <a:prstGeom xmlns:a="http://schemas.openxmlformats.org/drawingml/2006/main" prst="straightConnector1">
            <a:avLst/>
          </a:prstGeom>
          <a:ln xmlns:a="http://schemas.openxmlformats.org/drawingml/2006/main" w="9525">
            <a:solidFill>
              <a:srgbClr val="B9BEC3"/>
            </a:solidFill>
            <a:prstDash val="solid"/>
          </a:ln>
        </p:spPr>
      </p:cxnSp>
      <p:sp>
        <p:nvSpPr>
          <p:cNvPr id="10" name="">
            <a:extLst xmlns:a="http://schemas.openxmlformats.org/drawingml/2006/main">
              <a:ext uri="{FF2B5EF4-FFF2-40B4-BE49-F238E27FC236}">
                <a16:creationId xmlns:a16="http://schemas.microsoft.com/office/drawing/2014/main" id="{E31B202C-F03F-41CA-B2D9-0EFBA648442B}"/>
              </a:ext>
            </a:extLst>
          </p:cNvPr>
          <p:cNvSpPr>
            <a:spLocks xmlns:a="http://schemas.openxmlformats.org/drawingml/2006/main" noGrp="1"/>
          </p:cNvSpPr>
          <p:nvPr/>
        </p:nvSpPr>
        <p:spPr>
          <a:xfrm xmlns:a="http://schemas.openxmlformats.org/drawingml/2006/main">
            <a:off x="4248150" y="19812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RELIABILITY</a:t>
            </a:r>
          </a:p>
        </p:txBody>
      </p:sp>
      <p:sp>
        <p:nvSpPr>
          <p:cNvPr id="11" name="">
            <a:extLst xmlns:a="http://schemas.openxmlformats.org/drawingml/2006/main">
              <a:ext uri="{FF2B5EF4-FFF2-40B4-BE49-F238E27FC236}">
                <a16:creationId xmlns:a16="http://schemas.microsoft.com/office/drawing/2014/main" id="{048F44BB-BE70-456A-B17A-6864D19E8D52}"/>
              </a:ext>
            </a:extLst>
          </p:cNvPr>
          <p:cNvSpPr>
            <a:spLocks xmlns:a="http://schemas.openxmlformats.org/drawingml/2006/main" noGrp="1"/>
          </p:cNvSpPr>
          <p:nvPr/>
        </p:nvSpPr>
        <p:spPr>
          <a:xfrm xmlns:a="http://schemas.openxmlformats.org/drawingml/2006/main">
            <a:off x="4248150" y="24193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i="0">
                <a:solidFill>
                  <a:srgbClr val="111111"/>
                </a:solidFill>
                <a:latin typeface="Helvetica Neue"/>
                <a:ea typeface="Helvetica Neue"/>
                <a:cs typeface="Helvetica Neue"/>
              </a:defRPr>
            </a:pPr>
            <a:r>
              <a:rPr sz="2250" b="1" i="0">
                <a:solidFill>
                  <a:srgbClr val="111111"/>
                </a:solidFill>
                <a:latin typeface="Helvetica Neue"/>
                <a:ea typeface="Helvetica Neue"/>
                <a:cs typeface="Helvetica Neue"/>
              </a:rPr>
              <a:t>Tool observability</a:t>
            </a:r>
          </a:p>
        </p:txBody>
      </p:sp>
      <p:sp>
        <p:nvSpPr>
          <p:cNvPr id="12" name="">
            <a:extLst xmlns:a="http://schemas.openxmlformats.org/drawingml/2006/main">
              <a:ext uri="{FF2B5EF4-FFF2-40B4-BE49-F238E27FC236}">
                <a16:creationId xmlns:a16="http://schemas.microsoft.com/office/drawing/2014/main" id="{2D63E262-1393-4929-BB8C-4D1CA663DA44}"/>
              </a:ext>
            </a:extLst>
          </p:cNvPr>
          <p:cNvSpPr>
            <a:spLocks xmlns:a="http://schemas.openxmlformats.org/drawingml/2006/main" noGrp="1"/>
          </p:cNvSpPr>
          <p:nvPr/>
        </p:nvSpPr>
        <p:spPr>
          <a:xfrm xmlns:a="http://schemas.openxmlformats.org/drawingml/2006/main">
            <a:off x="4248150" y="3352800"/>
            <a:ext cx="314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E666D"/>
                </a:solidFill>
                <a:latin typeface="Helvetica Neue"/>
                <a:ea typeface="Helvetica Neue"/>
                <a:cs typeface="Helvetica Neue"/>
              </a:defRPr>
            </a:pPr>
            <a:r>
              <a:rPr sz="1425" b="0" i="0">
                <a:solidFill>
                  <a:srgbClr val="5E666D"/>
                </a:solidFill>
                <a:latin typeface="Helvetica Neue"/>
                <a:ea typeface="Helvetica Neue"/>
                <a:cs typeface="Helvetica Neue"/>
              </a:rPr>
              <a:t>Find failures and latency</a:t>
            </a:r>
          </a:p>
        </p:txBody>
      </p:sp>
      <p:cxnSp>
        <p:nvCxnSpPr>
          <p:cNvPr id="289" name=""/>
          <p:cNvCxnSpPr/>
          <p:nvPr/>
        </p:nvCxnSpPr>
        <p:spPr>
          <a:xfrm xmlns:a="http://schemas.openxmlformats.org/drawingml/2006/main">
            <a:off x="4248150" y="4038600"/>
            <a:ext cx="3143250" cy="0"/>
          </a:xfrm>
          <a:prstGeom xmlns:a="http://schemas.openxmlformats.org/drawingml/2006/main" prst="straightConnector1">
            <a:avLst/>
          </a:prstGeom>
          <a:ln xmlns:a="http://schemas.openxmlformats.org/drawingml/2006/main" w="9525">
            <a:solidFill>
              <a:srgbClr val="B9BEC3"/>
            </a:solidFill>
            <a:prstDash val="solid"/>
          </a:ln>
        </p:spPr>
      </p:cxnSp>
      <p:sp>
        <p:nvSpPr>
          <p:cNvPr id="14" name="">
            <a:extLst xmlns:a="http://schemas.openxmlformats.org/drawingml/2006/main">
              <a:ext uri="{FF2B5EF4-FFF2-40B4-BE49-F238E27FC236}">
                <a16:creationId xmlns:a16="http://schemas.microsoft.com/office/drawing/2014/main" id="{8804B0A9-9F3D-452E-9BB3-8042A22A1BCD}"/>
              </a:ext>
            </a:extLst>
          </p:cNvPr>
          <p:cNvSpPr>
            <a:spLocks xmlns:a="http://schemas.openxmlformats.org/drawingml/2006/main" noGrp="1"/>
          </p:cNvSpPr>
          <p:nvPr/>
        </p:nvSpPr>
        <p:spPr>
          <a:xfrm xmlns:a="http://schemas.openxmlformats.org/drawingml/2006/main">
            <a:off x="7962900" y="19812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OUTCOMES</a:t>
            </a:r>
          </a:p>
        </p:txBody>
      </p:sp>
      <p:sp>
        <p:nvSpPr>
          <p:cNvPr id="15" name="">
            <a:extLst xmlns:a="http://schemas.openxmlformats.org/drawingml/2006/main">
              <a:ext uri="{FF2B5EF4-FFF2-40B4-BE49-F238E27FC236}">
                <a16:creationId xmlns:a16="http://schemas.microsoft.com/office/drawing/2014/main" id="{84F28179-34FD-47AB-9F6C-D7BF27BEF56C}"/>
              </a:ext>
            </a:extLst>
          </p:cNvPr>
          <p:cNvSpPr>
            <a:spLocks xmlns:a="http://schemas.openxmlformats.org/drawingml/2006/main" noGrp="1"/>
          </p:cNvSpPr>
          <p:nvPr/>
        </p:nvSpPr>
        <p:spPr>
          <a:xfrm xmlns:a="http://schemas.openxmlformats.org/drawingml/2006/main">
            <a:off x="7962900" y="24193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i="0">
                <a:solidFill>
                  <a:srgbClr val="111111"/>
                </a:solidFill>
                <a:latin typeface="Helvetica Neue"/>
                <a:ea typeface="Helvetica Neue"/>
                <a:cs typeface="Helvetica Neue"/>
              </a:defRPr>
            </a:pPr>
            <a:r>
              <a:rPr sz="2250" b="1" i="0">
                <a:solidFill>
                  <a:srgbClr val="111111"/>
                </a:solidFill>
                <a:latin typeface="Helvetica Neue"/>
                <a:ea typeface="Helvetica Neue"/>
                <a:cs typeface="Helvetica Neue"/>
              </a:rPr>
              <a:t>Product analytics</a:t>
            </a:r>
          </a:p>
        </p:txBody>
      </p:sp>
      <p:sp>
        <p:nvSpPr>
          <p:cNvPr id="16" name="">
            <a:extLst xmlns:a="http://schemas.openxmlformats.org/drawingml/2006/main">
              <a:ext uri="{FF2B5EF4-FFF2-40B4-BE49-F238E27FC236}">
                <a16:creationId xmlns:a16="http://schemas.microsoft.com/office/drawing/2014/main" id="{055847C8-BB47-495B-A26F-B2EC1E7E34C2}"/>
              </a:ext>
            </a:extLst>
          </p:cNvPr>
          <p:cNvSpPr>
            <a:spLocks xmlns:a="http://schemas.openxmlformats.org/drawingml/2006/main" noGrp="1"/>
          </p:cNvSpPr>
          <p:nvPr/>
        </p:nvSpPr>
        <p:spPr>
          <a:xfrm xmlns:a="http://schemas.openxmlformats.org/drawingml/2006/main">
            <a:off x="7962900" y="3352800"/>
            <a:ext cx="314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E666D"/>
                </a:solidFill>
                <a:latin typeface="Helvetica Neue"/>
                <a:ea typeface="Helvetica Neue"/>
                <a:cs typeface="Helvetica Neue"/>
              </a:defRPr>
            </a:pPr>
            <a:r>
              <a:rPr sz="1425" b="0" i="0">
                <a:solidFill>
                  <a:srgbClr val="5E666D"/>
                </a:solidFill>
                <a:latin typeface="Helvetica Neue"/>
                <a:ea typeface="Helvetica Neue"/>
                <a:cs typeface="Helvetica Neue"/>
              </a:rPr>
              <a:t>Connect behavior to results</a:t>
            </a:r>
          </a:p>
        </p:txBody>
      </p:sp>
      <p:cxnSp>
        <p:nvCxnSpPr>
          <p:cNvPr id="293" name=""/>
          <p:cNvCxnSpPr/>
          <p:nvPr/>
        </p:nvCxnSpPr>
        <p:spPr>
          <a:xfrm xmlns:a="http://schemas.openxmlformats.org/drawingml/2006/main">
            <a:off x="7962900" y="4038600"/>
            <a:ext cx="3143250" cy="0"/>
          </a:xfrm>
          <a:prstGeom xmlns:a="http://schemas.openxmlformats.org/drawingml/2006/main" prst="straightConnector1">
            <a:avLst/>
          </a:prstGeom>
          <a:ln xmlns:a="http://schemas.openxmlformats.org/drawingml/2006/main" w="9525">
            <a:solidFill>
              <a:srgbClr val="B9BEC3"/>
            </a:solidFill>
            <a:prstDash val="solid"/>
          </a:ln>
        </p:spPr>
      </p:cxnSp>
      <p:sp>
        <p:nvSpPr>
          <p:cNvPr id="18" name="">
            <a:extLst xmlns:a="http://schemas.openxmlformats.org/drawingml/2006/main">
              <a:ext uri="{FF2B5EF4-FFF2-40B4-BE49-F238E27FC236}">
                <a16:creationId xmlns:a16="http://schemas.microsoft.com/office/drawing/2014/main" id="{E3F5B7C4-BA7A-46FE-A983-9435249157F5}"/>
              </a:ext>
            </a:extLst>
          </p:cNvPr>
          <p:cNvSpPr>
            <a:spLocks xmlns:a="http://schemas.openxmlformats.org/drawingml/2006/main" noGrp="1"/>
          </p:cNvSpPr>
          <p:nvPr/>
        </p:nvSpPr>
        <p:spPr>
          <a:xfrm xmlns:a="http://schemas.openxmlformats.org/drawingml/2006/main">
            <a:off x="533400" y="4552950"/>
            <a:ext cx="11125200" cy="1181100"/>
          </a:xfrm>
          <a:prstGeom xmlns:a="http://schemas.openxmlformats.org/drawingml/2006/main" prst="roundRect">
            <a:avLst>
              <a:gd name="adj" fmla="val 9677"/>
            </a:avLst>
          </a:prstGeom>
          <a:solidFill xmlns:a="http://schemas.openxmlformats.org/drawingml/2006/main">
            <a:srgbClr val="1769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734064B-B720-45E7-BCD1-D83DB517E863}"/>
              </a:ext>
            </a:extLst>
          </p:cNvPr>
          <p:cNvSpPr>
            <a:spLocks xmlns:a="http://schemas.openxmlformats.org/drawingml/2006/main" noGrp="1"/>
          </p:cNvSpPr>
          <p:nvPr/>
        </p:nvSpPr>
        <p:spPr>
          <a:xfrm xmlns:a="http://schemas.openxmlformats.org/drawingml/2006/main">
            <a:off x="781050" y="4819650"/>
            <a:ext cx="233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Agent SNR adds</a:t>
            </a:r>
          </a:p>
        </p:txBody>
      </p:sp>
      <p:sp>
        <p:nvSpPr>
          <p:cNvPr id="20" name="">
            <a:extLst xmlns:a="http://schemas.openxmlformats.org/drawingml/2006/main">
              <a:ext uri="{FF2B5EF4-FFF2-40B4-BE49-F238E27FC236}">
                <a16:creationId xmlns:a16="http://schemas.microsoft.com/office/drawing/2014/main" id="{88B0EE3E-95D5-4EC9-8CE5-9D252702298A}"/>
              </a:ext>
            </a:extLst>
          </p:cNvPr>
          <p:cNvSpPr>
            <a:spLocks xmlns:a="http://schemas.openxmlformats.org/drawingml/2006/main" noGrp="1"/>
          </p:cNvSpPr>
          <p:nvPr/>
        </p:nvSpPr>
        <p:spPr>
          <a:xfrm xmlns:a="http://schemas.openxmlformats.org/drawingml/2006/main">
            <a:off x="3181350" y="4800600"/>
            <a:ext cx="813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534"/>
          </a:bodyPr>
          <a:lstStyle xmlns:a="http://schemas.openxmlformats.org/drawingml/2006/main"/>
          <a:p xmlns:a="http://schemas.openxmlformats.org/drawingml/2006/main">
            <a:pPr algn="l">
              <a:buNone/>
              <a:defRPr sz="1875" b="1" i="0">
                <a:solidFill>
                  <a:srgbClr val="FFFFFF"/>
                </a:solidFill>
                <a:latin typeface="Helvetica Neue"/>
                <a:ea typeface="Helvetica Neue"/>
                <a:cs typeface="Helvetica Neue"/>
              </a:defRPr>
            </a:pPr>
            <a:r>
              <a:rPr sz="1875" b="1" i="0">
                <a:solidFill>
                  <a:srgbClr val="FFFFFF"/>
                </a:solidFill>
                <a:latin typeface="Helvetica Neue"/>
                <a:ea typeface="Helvetica Neue"/>
                <a:cs typeface="Helvetica Neue"/>
              </a:rPr>
              <a:t>WebMCP inventory  ·  observed demand  ·  direct agent feedback  ·  verified outcomes</a:t>
            </a:r>
          </a:p>
        </p:txBody>
      </p:sp>
      <p:sp>
        <p:nvSpPr>
          <p:cNvPr id="21" name="">
            <a:extLst xmlns:a="http://schemas.openxmlformats.org/drawingml/2006/main">
              <a:ext uri="{FF2B5EF4-FFF2-40B4-BE49-F238E27FC236}">
                <a16:creationId xmlns:a16="http://schemas.microsoft.com/office/drawing/2014/main" id="{F2BE4421-1F00-4A4C-894A-1A7E040B88DA}"/>
              </a:ext>
            </a:extLst>
          </p:cNvPr>
          <p:cNvSpPr>
            <a:spLocks xmlns:a="http://schemas.openxmlformats.org/drawingml/2006/main" noGrp="1"/>
          </p:cNvSpPr>
          <p:nvPr/>
        </p:nvSpPr>
        <p:spPr>
          <a:xfrm xmlns:a="http://schemas.openxmlformats.org/drawingml/2006/main">
            <a:off x="781050" y="5410200"/>
            <a:ext cx="971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DCE8FF"/>
                </a:solidFill>
                <a:latin typeface="Menlo"/>
                <a:ea typeface="Menlo"/>
                <a:cs typeface="Menlo"/>
              </a:defRPr>
            </a:pPr>
            <a:r>
              <a:rPr sz="975" b="1" i="0">
                <a:solidFill>
                  <a:srgbClr val="DCE8FF"/>
                </a:solidFill>
                <a:latin typeface="Menlo"/>
                <a:ea typeface="Menlo"/>
                <a:cs typeface="Menlo"/>
              </a:rPr>
              <a:t>OBSERVED, REPORTED, AND VERIFIED EVIDENCE STAY DISTINCT—NO SCREEN RECORDING.</a:t>
            </a:r>
          </a:p>
        </p:txBody>
      </p:sp>
    </p:spTree>
    <p:extLst>
      <p:ext uri="{BB962C8B-B14F-4D97-AF65-F5344CB8AC3E}">
        <p14:creationId xmlns:p14="http://schemas.microsoft.com/office/powerpoint/2010/main" val="5758017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82565A64-9140-4DC7-9B4C-51B3AA0397EC}"/>
              </a:ext>
            </a:extLst>
          </p:cNvPr>
          <p:cNvSpPr>
            <a:spLocks xmlns:a="http://schemas.openxmlformats.org/drawingml/2006/main" noGrp="1"/>
          </p:cNvSpPr>
          <p:nvPr/>
        </p:nvSpPr>
        <p:spPr>
          <a:xfrm xmlns:a="http://schemas.openxmlformats.org/drawingml/2006/main">
            <a:off x="533400" y="381000"/>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ARCHITECTURE</a:t>
            </a:r>
          </a:p>
        </p:txBody>
      </p:sp>
      <p:sp>
        <p:nvSpPr>
          <p:cNvPr id="2" name="">
            <a:extLst xmlns:a="http://schemas.openxmlformats.org/drawingml/2006/main">
              <a:ext uri="{FF2B5EF4-FFF2-40B4-BE49-F238E27FC236}">
                <a16:creationId xmlns:a16="http://schemas.microsoft.com/office/drawing/2014/main" id="{8A8CE762-B187-426A-954C-9F9E47CDEB43}"/>
              </a:ext>
            </a:extLst>
          </p:cNvPr>
          <p:cNvSpPr>
            <a:spLocks xmlns:a="http://schemas.openxmlformats.org/drawingml/2006/main" noGrp="1"/>
          </p:cNvSpPr>
          <p:nvPr/>
        </p:nvSpPr>
        <p:spPr>
          <a:xfrm xmlns:a="http://schemas.openxmlformats.org/drawingml/2006/main">
            <a:off x="533400" y="723900"/>
            <a:ext cx="11125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75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The website guides every action—and keeps testimony separate from proof.</a:t>
            </a:r>
          </a:p>
        </p:txBody>
      </p:sp>
      <p:cxnSp>
        <p:nvCxnSpPr>
          <p:cNvPr id="243" name=""/>
          <p:cNvCxnSpPr/>
          <p:nvPr/>
        </p:nvCxnSpPr>
        <p:spPr>
          <a:xfrm xmlns:a="http://schemas.openxmlformats.org/drawingml/2006/main">
            <a:off x="533400" y="6457950"/>
            <a:ext cx="11125200" cy="0"/>
          </a:xfrm>
          <a:prstGeom xmlns:a="http://schemas.openxmlformats.org/drawingml/2006/main" prst="straightConnector1">
            <a:avLst/>
          </a:prstGeom>
          <a:ln xmlns:a="http://schemas.openxmlformats.org/drawingml/2006/main" w="9525">
            <a:solidFill>
              <a:srgbClr val="D1D5D8"/>
            </a:solidFill>
            <a:prstDash val="solid"/>
          </a:ln>
        </p:spPr>
      </p:cxnSp>
      <p:sp>
        <p:nvSpPr>
          <p:cNvPr id="4" name="">
            <a:extLst xmlns:a="http://schemas.openxmlformats.org/drawingml/2006/main">
              <a:ext uri="{FF2B5EF4-FFF2-40B4-BE49-F238E27FC236}">
                <a16:creationId xmlns:a16="http://schemas.microsoft.com/office/drawing/2014/main" id="{5DC5D6DC-F787-4367-9FD7-8D4BF6C64679}"/>
              </a:ext>
            </a:extLst>
          </p:cNvPr>
          <p:cNvSpPr>
            <a:spLocks xmlns:a="http://schemas.openxmlformats.org/drawingml/2006/main" noGrp="1"/>
          </p:cNvSpPr>
          <p:nvPr/>
        </p:nvSpPr>
        <p:spPr>
          <a:xfrm xmlns:a="http://schemas.openxmlformats.org/drawingml/2006/main">
            <a:off x="533400" y="6553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AGENT SNR · HACKATHON DEMO</a:t>
            </a:r>
          </a:p>
        </p:txBody>
      </p:sp>
      <p:sp>
        <p:nvSpPr>
          <p:cNvPr id="5" name="">
            <a:extLst xmlns:a="http://schemas.openxmlformats.org/drawingml/2006/main">
              <a:ext uri="{FF2B5EF4-FFF2-40B4-BE49-F238E27FC236}">
                <a16:creationId xmlns:a16="http://schemas.microsoft.com/office/drawing/2014/main" id="{69837088-F50D-412A-8FC2-24133B28AC3A}"/>
              </a:ext>
            </a:extLst>
          </p:cNvPr>
          <p:cNvSpPr>
            <a:spLocks xmlns:a="http://schemas.openxmlformats.org/drawingml/2006/main" noGrp="1"/>
          </p:cNvSpPr>
          <p:nvPr/>
        </p:nvSpPr>
        <p:spPr>
          <a:xfrm xmlns:a="http://schemas.openxmlformats.org/drawingml/2006/main">
            <a:off x="11049000" y="65341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1" i="0">
                <a:solidFill>
                  <a:srgbClr val="5E666D"/>
                </a:solidFill>
                <a:latin typeface="Menlo"/>
                <a:ea typeface="Menlo"/>
                <a:cs typeface="Menlo"/>
              </a:defRPr>
            </a:pPr>
            <a:r>
              <a:rPr sz="975" b="1" i="0">
                <a:solidFill>
                  <a:srgbClr val="5E666D"/>
                </a:solidFill>
                <a:latin typeface="Menlo"/>
                <a:ea typeface="Menlo"/>
                <a:cs typeface="Menlo"/>
              </a:rPr>
              <a:t>04</a:t>
            </a:r>
          </a:p>
        </p:txBody>
      </p:sp>
      <p:sp>
        <p:nvSpPr>
          <p:cNvPr id="6" name="">
            <a:extLst xmlns:a="http://schemas.openxmlformats.org/drawingml/2006/main">
              <a:ext uri="{FF2B5EF4-FFF2-40B4-BE49-F238E27FC236}">
                <a16:creationId xmlns:a16="http://schemas.microsoft.com/office/drawing/2014/main" id="{3569F30C-BA6B-4FAA-8C37-FCD389E60EF5}"/>
              </a:ext>
            </a:extLst>
          </p:cNvPr>
          <p:cNvSpPr>
            <a:spLocks xmlns:a="http://schemas.openxmlformats.org/drawingml/2006/main" noGrp="1"/>
          </p:cNvSpPr>
          <p:nvPr/>
        </p:nvSpPr>
        <p:spPr>
          <a:xfrm xmlns:a="http://schemas.openxmlformats.org/drawingml/2006/main">
            <a:off x="533400" y="1524000"/>
            <a:ext cx="426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UNTRUSTED BROWSER</a:t>
            </a:r>
          </a:p>
        </p:txBody>
      </p:sp>
      <p:sp>
        <p:nvSpPr>
          <p:cNvPr id="7" name="">
            <a:extLst xmlns:a="http://schemas.openxmlformats.org/drawingml/2006/main">
              <a:ext uri="{FF2B5EF4-FFF2-40B4-BE49-F238E27FC236}">
                <a16:creationId xmlns:a16="http://schemas.microsoft.com/office/drawing/2014/main" id="{7668B170-F837-4AD8-8B6C-4563292700E5}"/>
              </a:ext>
            </a:extLst>
          </p:cNvPr>
          <p:cNvSpPr>
            <a:spLocks xmlns:a="http://schemas.openxmlformats.org/drawingml/2006/main" noGrp="1"/>
          </p:cNvSpPr>
          <p:nvPr/>
        </p:nvSpPr>
        <p:spPr>
          <a:xfrm xmlns:a="http://schemas.openxmlformats.org/drawingml/2006/main">
            <a:off x="5067300" y="1524000"/>
            <a:ext cx="426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TRUSTED WORDPRESS</a:t>
            </a:r>
          </a:p>
        </p:txBody>
      </p:sp>
      <p:sp>
        <p:nvSpPr>
          <p:cNvPr id="8" name="">
            <a:extLst xmlns:a="http://schemas.openxmlformats.org/drawingml/2006/main">
              <a:ext uri="{FF2B5EF4-FFF2-40B4-BE49-F238E27FC236}">
                <a16:creationId xmlns:a16="http://schemas.microsoft.com/office/drawing/2014/main" id="{FB941CBC-B741-47B9-BB8F-A80DC470FFF4}"/>
              </a:ext>
            </a:extLst>
          </p:cNvPr>
          <p:cNvSpPr>
            <a:spLocks xmlns:a="http://schemas.openxmlformats.org/drawingml/2006/main" noGrp="1"/>
          </p:cNvSpPr>
          <p:nvPr/>
        </p:nvSpPr>
        <p:spPr>
          <a:xfrm xmlns:a="http://schemas.openxmlformats.org/drawingml/2006/main">
            <a:off x="9601200" y="152400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VERIFIED COMMERCE</a:t>
            </a:r>
          </a:p>
        </p:txBody>
      </p:sp>
      <p:sp>
        <p:nvSpPr>
          <p:cNvPr id="9" name="">
            <a:extLst xmlns:a="http://schemas.openxmlformats.org/drawingml/2006/main">
              <a:ext uri="{FF2B5EF4-FFF2-40B4-BE49-F238E27FC236}">
                <a16:creationId xmlns:a16="http://schemas.microsoft.com/office/drawing/2014/main" id="{60D24464-C654-4160-8A56-0FE45F297679}"/>
              </a:ext>
            </a:extLst>
          </p:cNvPr>
          <p:cNvSpPr>
            <a:spLocks xmlns:a="http://schemas.openxmlformats.org/drawingml/2006/main" noGrp="1"/>
          </p:cNvSpPr>
          <p:nvPr/>
        </p:nvSpPr>
        <p:spPr>
          <a:xfrm xmlns:a="http://schemas.openxmlformats.org/drawingml/2006/main">
            <a:off x="2457450" y="2400300"/>
            <a:ext cx="723900" cy="133350"/>
          </a:xfrm>
          <a:prstGeom xmlns:a="http://schemas.openxmlformats.org/drawingml/2006/main" prst="rightArrow">
            <a:avLst/>
          </a:prstGeom>
          <a:solidFill xmlns:a="http://schemas.openxmlformats.org/drawingml/2006/main">
            <a:srgbClr val="1769FF"/>
          </a:solidFill>
          <a:ln xmlns:a="http://schemas.openxmlformats.org/drawingml/2006/main" w="0">
            <a:solidFill>
              <a:srgbClr val="1769FF"/>
            </a:solidFill>
            <a:prstDash val="solid"/>
          </a:ln>
        </p:spPr>
      </p:sp>
      <p:sp>
        <p:nvSpPr>
          <p:cNvPr id="10" name="">
            <a:extLst xmlns:a="http://schemas.openxmlformats.org/drawingml/2006/main">
              <a:ext uri="{FF2B5EF4-FFF2-40B4-BE49-F238E27FC236}">
                <a16:creationId xmlns:a16="http://schemas.microsoft.com/office/drawing/2014/main" id="{F31C0870-1D09-48CB-940B-266C6D4EA38E}"/>
              </a:ext>
            </a:extLst>
          </p:cNvPr>
          <p:cNvSpPr>
            <a:spLocks xmlns:a="http://schemas.openxmlformats.org/drawingml/2006/main" noGrp="1"/>
          </p:cNvSpPr>
          <p:nvPr/>
        </p:nvSpPr>
        <p:spPr>
          <a:xfrm xmlns:a="http://schemas.openxmlformats.org/drawingml/2006/main">
            <a:off x="4724400" y="2400300"/>
            <a:ext cx="723900" cy="133350"/>
          </a:xfrm>
          <a:prstGeom xmlns:a="http://schemas.openxmlformats.org/drawingml/2006/main" prst="rightArrow">
            <a:avLst/>
          </a:prstGeom>
          <a:solidFill xmlns:a="http://schemas.openxmlformats.org/drawingml/2006/main">
            <a:srgbClr val="1769FF"/>
          </a:solidFill>
          <a:ln xmlns:a="http://schemas.openxmlformats.org/drawingml/2006/main" w="0">
            <a:solidFill>
              <a:srgbClr val="1769FF"/>
            </a:solidFill>
            <a:prstDash val="solid"/>
          </a:ln>
        </p:spPr>
      </p:sp>
      <p:sp>
        <p:nvSpPr>
          <p:cNvPr id="11" name="">
            <a:extLst xmlns:a="http://schemas.openxmlformats.org/drawingml/2006/main">
              <a:ext uri="{FF2B5EF4-FFF2-40B4-BE49-F238E27FC236}">
                <a16:creationId xmlns:a16="http://schemas.microsoft.com/office/drawing/2014/main" id="{C72F2A2A-4C0F-43FF-9C7A-506012E1431E}"/>
              </a:ext>
            </a:extLst>
          </p:cNvPr>
          <p:cNvSpPr>
            <a:spLocks xmlns:a="http://schemas.openxmlformats.org/drawingml/2006/main" noGrp="1"/>
          </p:cNvSpPr>
          <p:nvPr/>
        </p:nvSpPr>
        <p:spPr>
          <a:xfrm xmlns:a="http://schemas.openxmlformats.org/drawingml/2006/main">
            <a:off x="6991350" y="2400300"/>
            <a:ext cx="723900" cy="133350"/>
          </a:xfrm>
          <a:prstGeom xmlns:a="http://schemas.openxmlformats.org/drawingml/2006/main" prst="rightArrow">
            <a:avLst/>
          </a:prstGeom>
          <a:solidFill xmlns:a="http://schemas.openxmlformats.org/drawingml/2006/main">
            <a:srgbClr val="1769FF"/>
          </a:solidFill>
          <a:ln xmlns:a="http://schemas.openxmlformats.org/drawingml/2006/main" w="0">
            <a:solidFill>
              <a:srgbClr val="1769FF"/>
            </a:solidFill>
            <a:prstDash val="solid"/>
          </a:ln>
        </p:spPr>
      </p:sp>
      <p:sp>
        <p:nvSpPr>
          <p:cNvPr id="12" name="">
            <a:extLst xmlns:a="http://schemas.openxmlformats.org/drawingml/2006/main">
              <a:ext uri="{FF2B5EF4-FFF2-40B4-BE49-F238E27FC236}">
                <a16:creationId xmlns:a16="http://schemas.microsoft.com/office/drawing/2014/main" id="{319B1CB0-39A3-454B-A760-94E9E048C0A3}"/>
              </a:ext>
            </a:extLst>
          </p:cNvPr>
          <p:cNvSpPr>
            <a:spLocks xmlns:a="http://schemas.openxmlformats.org/drawingml/2006/main" noGrp="1"/>
          </p:cNvSpPr>
          <p:nvPr/>
        </p:nvSpPr>
        <p:spPr>
          <a:xfrm xmlns:a="http://schemas.openxmlformats.org/drawingml/2006/main">
            <a:off x="9258300" y="2400300"/>
            <a:ext cx="723900" cy="133350"/>
          </a:xfrm>
          <a:prstGeom xmlns:a="http://schemas.openxmlformats.org/drawingml/2006/main" prst="rightArrow">
            <a:avLst/>
          </a:prstGeom>
          <a:solidFill xmlns:a="http://schemas.openxmlformats.org/drawingml/2006/main">
            <a:srgbClr val="1769FF"/>
          </a:solidFill>
          <a:ln xmlns:a="http://schemas.openxmlformats.org/drawingml/2006/main" w="0">
            <a:solidFill>
              <a:srgbClr val="1769FF"/>
            </a:solidFill>
            <a:prstDash val="solid"/>
          </a:ln>
        </p:spPr>
      </p:sp>
      <p:cxnSp>
        <p:nvCxnSpPr>
          <p:cNvPr id="253" name=""/>
          <p:cNvCxnSpPr/>
          <p:nvPr/>
        </p:nvCxnSpPr>
        <p:spPr>
          <a:xfrm xmlns:a="http://schemas.openxmlformats.org/drawingml/2006/main">
            <a:off x="10553700" y="3086100"/>
            <a:ext cx="0" cy="1028700"/>
          </a:xfrm>
          <a:prstGeom xmlns:a="http://schemas.openxmlformats.org/drawingml/2006/main" prst="straightConnector1">
            <a:avLst/>
          </a:prstGeom>
          <a:ln xmlns:a="http://schemas.openxmlformats.org/drawingml/2006/main" w="28575">
            <a:solidFill>
              <a:srgbClr val="1769FF"/>
            </a:solidFill>
            <a:prstDash val="solid"/>
          </a:ln>
        </p:spPr>
      </p:cxnSp>
      <p:sp>
        <p:nvSpPr>
          <p:cNvPr id="14" name="">
            <a:extLst xmlns:a="http://schemas.openxmlformats.org/drawingml/2006/main">
              <a:ext uri="{FF2B5EF4-FFF2-40B4-BE49-F238E27FC236}">
                <a16:creationId xmlns:a16="http://schemas.microsoft.com/office/drawing/2014/main" id="{A2D89CAD-2044-4AD5-BD60-A9B44791F7C1}"/>
              </a:ext>
            </a:extLst>
          </p:cNvPr>
          <p:cNvSpPr>
            <a:spLocks xmlns:a="http://schemas.openxmlformats.org/drawingml/2006/main" noGrp="1"/>
          </p:cNvSpPr>
          <p:nvPr/>
        </p:nvSpPr>
        <p:spPr>
          <a:xfrm xmlns:a="http://schemas.openxmlformats.org/drawingml/2006/main">
            <a:off x="8343900" y="4657725"/>
            <a:ext cx="419100" cy="133350"/>
          </a:xfrm>
          <a:prstGeom xmlns:a="http://schemas.openxmlformats.org/drawingml/2006/main" prst="leftArrow">
            <a:avLst/>
          </a:prstGeom>
          <a:solidFill xmlns:a="http://schemas.openxmlformats.org/drawingml/2006/main">
            <a:srgbClr val="1769FF"/>
          </a:solidFill>
          <a:ln xmlns:a="http://schemas.openxmlformats.org/drawingml/2006/main" w="0">
            <a:solidFill>
              <a:srgbClr val="1769FF"/>
            </a:solidFill>
            <a:prstDash val="solid"/>
          </a:ln>
        </p:spPr>
      </p:sp>
      <p:sp>
        <p:nvSpPr>
          <p:cNvPr id="15" name="">
            <a:extLst xmlns:a="http://schemas.openxmlformats.org/drawingml/2006/main">
              <a:ext uri="{FF2B5EF4-FFF2-40B4-BE49-F238E27FC236}">
                <a16:creationId xmlns:a16="http://schemas.microsoft.com/office/drawing/2014/main" id="{629B6A85-B83C-45DF-B402-962C19925534}"/>
              </a:ext>
            </a:extLst>
          </p:cNvPr>
          <p:cNvSpPr>
            <a:spLocks xmlns:a="http://schemas.openxmlformats.org/drawingml/2006/main" noGrp="1"/>
          </p:cNvSpPr>
          <p:nvPr/>
        </p:nvSpPr>
        <p:spPr>
          <a:xfrm xmlns:a="http://schemas.openxmlformats.org/drawingml/2006/main">
            <a:off x="5734050" y="4657725"/>
            <a:ext cx="342900" cy="133350"/>
          </a:xfrm>
          <a:prstGeom xmlns:a="http://schemas.openxmlformats.org/drawingml/2006/main" prst="leftArrow">
            <a:avLst/>
          </a:prstGeom>
          <a:solidFill xmlns:a="http://schemas.openxmlformats.org/drawingml/2006/main">
            <a:srgbClr val="1769FF"/>
          </a:solidFill>
          <a:ln xmlns:a="http://schemas.openxmlformats.org/drawingml/2006/main" w="0">
            <a:solidFill>
              <a:srgbClr val="1769FF"/>
            </a:solidFill>
            <a:prstDash val="solid"/>
          </a:ln>
        </p:spPr>
      </p:sp>
      <p:sp>
        <p:nvSpPr>
          <p:cNvPr id="16" name="">
            <a:extLst xmlns:a="http://schemas.openxmlformats.org/drawingml/2006/main">
              <a:ext uri="{FF2B5EF4-FFF2-40B4-BE49-F238E27FC236}">
                <a16:creationId xmlns:a16="http://schemas.microsoft.com/office/drawing/2014/main" id="{46888234-B7C6-48CE-84B0-81348A39AAC0}"/>
              </a:ext>
            </a:extLst>
          </p:cNvPr>
          <p:cNvSpPr>
            <a:spLocks xmlns:a="http://schemas.openxmlformats.org/drawingml/2006/main" noGrp="1"/>
          </p:cNvSpPr>
          <p:nvPr/>
        </p:nvSpPr>
        <p:spPr>
          <a:xfrm xmlns:a="http://schemas.openxmlformats.org/drawingml/2006/main">
            <a:off x="3276600" y="3086100"/>
            <a:ext cx="133350" cy="1314450"/>
          </a:xfrm>
          <a:prstGeom xmlns:a="http://schemas.openxmlformats.org/drawingml/2006/main" prst="upArrow">
            <a:avLst/>
          </a:prstGeom>
          <a:solidFill xmlns:a="http://schemas.openxmlformats.org/drawingml/2006/main">
            <a:srgbClr val="1769FF"/>
          </a:solidFill>
          <a:ln xmlns:a="http://schemas.openxmlformats.org/drawingml/2006/main" w="0">
            <a:solidFill>
              <a:srgbClr val="1769FF"/>
            </a:solidFill>
            <a:prstDash val="solid"/>
          </a:ln>
        </p:spPr>
      </p:sp>
      <p:sp>
        <p:nvSpPr>
          <p:cNvPr id="17" name="">
            <a:extLst xmlns:a="http://schemas.openxmlformats.org/drawingml/2006/main">
              <a:ext uri="{FF2B5EF4-FFF2-40B4-BE49-F238E27FC236}">
                <a16:creationId xmlns:a16="http://schemas.microsoft.com/office/drawing/2014/main" id="{12B34982-1CAE-4495-BE93-2C53B3937BCE}"/>
              </a:ext>
            </a:extLst>
          </p:cNvPr>
          <p:cNvSpPr>
            <a:spLocks xmlns:a="http://schemas.openxmlformats.org/drawingml/2006/main" noGrp="1"/>
          </p:cNvSpPr>
          <p:nvPr/>
        </p:nvSpPr>
        <p:spPr>
          <a:xfrm xmlns:a="http://schemas.openxmlformats.org/drawingml/2006/main">
            <a:off x="533400" y="2057400"/>
            <a:ext cx="2000250" cy="1028700"/>
          </a:xfrm>
          <a:prstGeom xmlns:a="http://schemas.openxmlformats.org/drawingml/2006/main" prst="roundRect">
            <a:avLst>
              <a:gd name="adj" fmla="val 11111"/>
            </a:avLst>
          </a:prstGeom>
          <a:solidFill xmlns:a="http://schemas.openxmlformats.org/drawingml/2006/main">
            <a:srgbClr val="F7F7F3"/>
          </a:solidFill>
          <a:ln xmlns:a="http://schemas.openxmlformats.org/drawingml/2006/main" w="9525">
            <a:solidFill>
              <a:srgbClr val="B9BEC3"/>
            </a:solidFill>
            <a:prstDash val="solid"/>
          </a:ln>
        </p:spPr>
      </p:sp>
      <p:sp>
        <p:nvSpPr>
          <p:cNvPr id="18" name="">
            <a:extLst xmlns:a="http://schemas.openxmlformats.org/drawingml/2006/main">
              <a:ext uri="{FF2B5EF4-FFF2-40B4-BE49-F238E27FC236}">
                <a16:creationId xmlns:a16="http://schemas.microsoft.com/office/drawing/2014/main" id="{FEDEB723-EAE4-4FAE-B624-911AE36E4928}"/>
              </a:ext>
            </a:extLst>
          </p:cNvPr>
          <p:cNvSpPr>
            <a:spLocks xmlns:a="http://schemas.openxmlformats.org/drawingml/2006/main" noGrp="1"/>
          </p:cNvSpPr>
          <p:nvPr/>
        </p:nvSpPr>
        <p:spPr>
          <a:xfrm xmlns:a="http://schemas.openxmlformats.org/drawingml/2006/main">
            <a:off x="704850" y="22669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Browser agent</a:t>
            </a:r>
          </a:p>
        </p:txBody>
      </p:sp>
      <p:sp>
        <p:nvSpPr>
          <p:cNvPr id="19" name="">
            <a:extLst xmlns:a="http://schemas.openxmlformats.org/drawingml/2006/main">
              <a:ext uri="{FF2B5EF4-FFF2-40B4-BE49-F238E27FC236}">
                <a16:creationId xmlns:a16="http://schemas.microsoft.com/office/drawing/2014/main" id="{20A02EFC-544B-4156-A466-8B07480AD350}"/>
              </a:ext>
            </a:extLst>
          </p:cNvPr>
          <p:cNvSpPr>
            <a:spLocks xmlns:a="http://schemas.openxmlformats.org/drawingml/2006/main" noGrp="1"/>
          </p:cNvSpPr>
          <p:nvPr/>
        </p:nvSpPr>
        <p:spPr>
          <a:xfrm xmlns:a="http://schemas.openxmlformats.org/drawingml/2006/main">
            <a:off x="704850" y="26479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i="0">
                <a:solidFill>
                  <a:srgbClr val="5E666D"/>
                </a:solidFill>
                <a:latin typeface="Menlo"/>
                <a:ea typeface="Menlo"/>
                <a:cs typeface="Menlo"/>
              </a:defRPr>
            </a:pPr>
            <a:r>
              <a:rPr sz="975" b="0" i="0">
                <a:solidFill>
                  <a:srgbClr val="5E666D"/>
                </a:solidFill>
                <a:latin typeface="Menlo"/>
                <a:ea typeface="Menlo"/>
                <a:cs typeface="Menlo"/>
              </a:rPr>
              <a:t>Reads the Agent Guide</a:t>
            </a:r>
          </a:p>
        </p:txBody>
      </p:sp>
      <p:sp>
        <p:nvSpPr>
          <p:cNvPr id="20" name="">
            <a:extLst xmlns:a="http://schemas.openxmlformats.org/drawingml/2006/main">
              <a:ext uri="{FF2B5EF4-FFF2-40B4-BE49-F238E27FC236}">
                <a16:creationId xmlns:a16="http://schemas.microsoft.com/office/drawing/2014/main" id="{A89A8282-95ED-4530-A9D3-B5686DC45BBF}"/>
              </a:ext>
            </a:extLst>
          </p:cNvPr>
          <p:cNvSpPr>
            <a:spLocks xmlns:a="http://schemas.openxmlformats.org/drawingml/2006/main" noGrp="1"/>
          </p:cNvSpPr>
          <p:nvPr/>
        </p:nvSpPr>
        <p:spPr>
          <a:xfrm xmlns:a="http://schemas.openxmlformats.org/drawingml/2006/main">
            <a:off x="2800350" y="2057400"/>
            <a:ext cx="2000250" cy="1028700"/>
          </a:xfrm>
          <a:prstGeom xmlns:a="http://schemas.openxmlformats.org/drawingml/2006/main" prst="roundRect">
            <a:avLst>
              <a:gd name="adj" fmla="val 11111"/>
            </a:avLst>
          </a:prstGeom>
          <a:solidFill xmlns:a="http://schemas.openxmlformats.org/drawingml/2006/main">
            <a:srgbClr val="F7F7F3"/>
          </a:solidFill>
          <a:ln xmlns:a="http://schemas.openxmlformats.org/drawingml/2006/main" w="9525">
            <a:solidFill>
              <a:srgbClr val="B9BEC3"/>
            </a:solidFill>
            <a:prstDash val="solid"/>
          </a:ln>
        </p:spPr>
      </p:sp>
      <p:sp>
        <p:nvSpPr>
          <p:cNvPr id="21" name="">
            <a:extLst xmlns:a="http://schemas.openxmlformats.org/drawingml/2006/main">
              <a:ext uri="{FF2B5EF4-FFF2-40B4-BE49-F238E27FC236}">
                <a16:creationId xmlns:a16="http://schemas.microsoft.com/office/drawing/2014/main" id="{A67A4ABB-4C0F-43CD-94F2-4201D11CF357}"/>
              </a:ext>
            </a:extLst>
          </p:cNvPr>
          <p:cNvSpPr>
            <a:spLocks xmlns:a="http://schemas.openxmlformats.org/drawingml/2006/main" noGrp="1"/>
          </p:cNvSpPr>
          <p:nvPr/>
        </p:nvSpPr>
        <p:spPr>
          <a:xfrm xmlns:a="http://schemas.openxmlformats.org/drawingml/2006/main">
            <a:off x="2971800" y="22669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WebMCP runtime</a:t>
            </a:r>
          </a:p>
        </p:txBody>
      </p:sp>
      <p:sp>
        <p:nvSpPr>
          <p:cNvPr id="22" name="">
            <a:extLst xmlns:a="http://schemas.openxmlformats.org/drawingml/2006/main">
              <a:ext uri="{FF2B5EF4-FFF2-40B4-BE49-F238E27FC236}">
                <a16:creationId xmlns:a16="http://schemas.microsoft.com/office/drawing/2014/main" id="{85C39A26-8F9B-45E9-9A0E-1FE526CB2824}"/>
              </a:ext>
            </a:extLst>
          </p:cNvPr>
          <p:cNvSpPr>
            <a:spLocks xmlns:a="http://schemas.openxmlformats.org/drawingml/2006/main" noGrp="1"/>
          </p:cNvSpPr>
          <p:nvPr/>
        </p:nvSpPr>
        <p:spPr>
          <a:xfrm xmlns:a="http://schemas.openxmlformats.org/drawingml/2006/main">
            <a:off x="2971800" y="26479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i="0">
                <a:solidFill>
                  <a:srgbClr val="5E666D"/>
                </a:solidFill>
                <a:latin typeface="Menlo"/>
                <a:ea typeface="Menlo"/>
                <a:cs typeface="Menlo"/>
              </a:defRPr>
            </a:pPr>
            <a:r>
              <a:rPr sz="975" b="0" i="0">
                <a:solidFill>
                  <a:srgbClr val="5E666D"/>
                </a:solidFill>
                <a:latin typeface="Menlo"/>
                <a:ea typeface="Menlo"/>
                <a:cs typeface="Menlo"/>
              </a:rPr>
              <a:t>12 storefront tools</a:t>
            </a:r>
          </a:p>
        </p:txBody>
      </p:sp>
      <p:sp>
        <p:nvSpPr>
          <p:cNvPr id="23" name="">
            <a:extLst xmlns:a="http://schemas.openxmlformats.org/drawingml/2006/main">
              <a:ext uri="{FF2B5EF4-FFF2-40B4-BE49-F238E27FC236}">
                <a16:creationId xmlns:a16="http://schemas.microsoft.com/office/drawing/2014/main" id="{E509F39D-ABA2-4B1D-8FD7-B52B4E79978C}"/>
              </a:ext>
            </a:extLst>
          </p:cNvPr>
          <p:cNvSpPr>
            <a:spLocks xmlns:a="http://schemas.openxmlformats.org/drawingml/2006/main" noGrp="1"/>
          </p:cNvSpPr>
          <p:nvPr/>
        </p:nvSpPr>
        <p:spPr>
          <a:xfrm xmlns:a="http://schemas.openxmlformats.org/drawingml/2006/main">
            <a:off x="5067300" y="2057400"/>
            <a:ext cx="2000250" cy="1028700"/>
          </a:xfrm>
          <a:prstGeom xmlns:a="http://schemas.openxmlformats.org/drawingml/2006/main" prst="roundRect">
            <a:avLst>
              <a:gd name="adj" fmla="val 11111"/>
            </a:avLst>
          </a:prstGeom>
          <a:solidFill xmlns:a="http://schemas.openxmlformats.org/drawingml/2006/main">
            <a:srgbClr val="F7F7F3"/>
          </a:solidFill>
          <a:ln xmlns:a="http://schemas.openxmlformats.org/drawingml/2006/main" w="9525">
            <a:solidFill>
              <a:srgbClr val="B9BEC3"/>
            </a:solidFill>
            <a:prstDash val="solid"/>
          </a:ln>
        </p:spPr>
      </p:sp>
      <p:sp>
        <p:nvSpPr>
          <p:cNvPr id="24" name="">
            <a:extLst xmlns:a="http://schemas.openxmlformats.org/drawingml/2006/main">
              <a:ext uri="{FF2B5EF4-FFF2-40B4-BE49-F238E27FC236}">
                <a16:creationId xmlns:a16="http://schemas.microsoft.com/office/drawing/2014/main" id="{98417FCD-3B5C-4823-B6F3-95BF0A54078A}"/>
              </a:ext>
            </a:extLst>
          </p:cNvPr>
          <p:cNvSpPr>
            <a:spLocks xmlns:a="http://schemas.openxmlformats.org/drawingml/2006/main" noGrp="1"/>
          </p:cNvSpPr>
          <p:nvPr/>
        </p:nvSpPr>
        <p:spPr>
          <a:xfrm xmlns:a="http://schemas.openxmlformats.org/drawingml/2006/main">
            <a:off x="5238750" y="22669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247"/>
          </a:bodyPr>
          <a:lstStyle xmlns:a="http://schemas.openxmlformats.org/drawingml/2006/main"/>
          <a:p xmlns:a="http://schemas.openxmlformats.org/drawingml/2006/main">
            <a:pPr algn="l">
              <a:buNone/>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Execution gateway</a:t>
            </a:r>
          </a:p>
        </p:txBody>
      </p:sp>
      <p:sp>
        <p:nvSpPr>
          <p:cNvPr id="25" name="">
            <a:extLst xmlns:a="http://schemas.openxmlformats.org/drawingml/2006/main">
              <a:ext uri="{FF2B5EF4-FFF2-40B4-BE49-F238E27FC236}">
                <a16:creationId xmlns:a16="http://schemas.microsoft.com/office/drawing/2014/main" id="{15C15B40-EE30-48E9-BE3B-B3660F2C5194}"/>
              </a:ext>
            </a:extLst>
          </p:cNvPr>
          <p:cNvSpPr>
            <a:spLocks xmlns:a="http://schemas.openxmlformats.org/drawingml/2006/main" noGrp="1"/>
          </p:cNvSpPr>
          <p:nvPr/>
        </p:nvSpPr>
        <p:spPr>
          <a:xfrm xmlns:a="http://schemas.openxmlformats.org/drawingml/2006/main">
            <a:off x="5238750" y="26479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881"/>
          </a:bodyPr>
          <a:lstStyle xmlns:a="http://schemas.openxmlformats.org/drawingml/2006/main"/>
          <a:p xmlns:a="http://schemas.openxmlformats.org/drawingml/2006/main">
            <a:pPr algn="l">
              <a:buNone/>
              <a:defRPr sz="975" b="0" i="0">
                <a:solidFill>
                  <a:srgbClr val="5E666D"/>
                </a:solidFill>
                <a:latin typeface="Menlo"/>
                <a:ea typeface="Menlo"/>
                <a:cs typeface="Menlo"/>
              </a:defRPr>
            </a:pPr>
            <a:r>
              <a:rPr sz="975" b="0" i="0">
                <a:solidFill>
                  <a:srgbClr val="5E666D"/>
                </a:solidFill>
                <a:latin typeface="Menlo"/>
                <a:ea typeface="Menlo"/>
                <a:cs typeface="Menlo"/>
              </a:rPr>
              <a:t>Origin · session · CSRF</a:t>
            </a:r>
          </a:p>
        </p:txBody>
      </p:sp>
      <p:sp>
        <p:nvSpPr>
          <p:cNvPr id="26" name="">
            <a:extLst xmlns:a="http://schemas.openxmlformats.org/drawingml/2006/main">
              <a:ext uri="{FF2B5EF4-FFF2-40B4-BE49-F238E27FC236}">
                <a16:creationId xmlns:a16="http://schemas.microsoft.com/office/drawing/2014/main" id="{78631617-03C1-472B-9BFD-FB258FC35078}"/>
              </a:ext>
            </a:extLst>
          </p:cNvPr>
          <p:cNvSpPr>
            <a:spLocks xmlns:a="http://schemas.openxmlformats.org/drawingml/2006/main" noGrp="1"/>
          </p:cNvSpPr>
          <p:nvPr/>
        </p:nvSpPr>
        <p:spPr>
          <a:xfrm xmlns:a="http://schemas.openxmlformats.org/drawingml/2006/main">
            <a:off x="7334250" y="2057400"/>
            <a:ext cx="2000250" cy="1028700"/>
          </a:xfrm>
          <a:prstGeom xmlns:a="http://schemas.openxmlformats.org/drawingml/2006/main" prst="roundRect">
            <a:avLst>
              <a:gd name="adj" fmla="val 11111"/>
            </a:avLst>
          </a:prstGeom>
          <a:solidFill xmlns:a="http://schemas.openxmlformats.org/drawingml/2006/main">
            <a:srgbClr val="F7F7F3"/>
          </a:solidFill>
          <a:ln xmlns:a="http://schemas.openxmlformats.org/drawingml/2006/main" w="9525">
            <a:solidFill>
              <a:srgbClr val="B9BEC3"/>
            </a:solidFill>
            <a:prstDash val="solid"/>
          </a:ln>
        </p:spPr>
      </p:sp>
      <p:sp>
        <p:nvSpPr>
          <p:cNvPr id="27" name="">
            <a:extLst xmlns:a="http://schemas.openxmlformats.org/drawingml/2006/main">
              <a:ext uri="{FF2B5EF4-FFF2-40B4-BE49-F238E27FC236}">
                <a16:creationId xmlns:a16="http://schemas.microsoft.com/office/drawing/2014/main" id="{FB4F0BB5-0812-45E7-A851-31C9D0959BDF}"/>
              </a:ext>
            </a:extLst>
          </p:cNvPr>
          <p:cNvSpPr>
            <a:spLocks xmlns:a="http://schemas.openxmlformats.org/drawingml/2006/main" noGrp="1"/>
          </p:cNvSpPr>
          <p:nvPr/>
        </p:nvSpPr>
        <p:spPr>
          <a:xfrm xmlns:a="http://schemas.openxmlformats.org/drawingml/2006/main">
            <a:off x="7505700" y="22669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WP Abilities</a:t>
            </a:r>
          </a:p>
        </p:txBody>
      </p:sp>
      <p:sp>
        <p:nvSpPr>
          <p:cNvPr id="28" name="">
            <a:extLst xmlns:a="http://schemas.openxmlformats.org/drawingml/2006/main">
              <a:ext uri="{FF2B5EF4-FFF2-40B4-BE49-F238E27FC236}">
                <a16:creationId xmlns:a16="http://schemas.microsoft.com/office/drawing/2014/main" id="{002963F9-0EA7-489D-9D5F-B680C341D6C2}"/>
              </a:ext>
            </a:extLst>
          </p:cNvPr>
          <p:cNvSpPr>
            <a:spLocks xmlns:a="http://schemas.openxmlformats.org/drawingml/2006/main" noGrp="1"/>
          </p:cNvSpPr>
          <p:nvPr/>
        </p:nvSpPr>
        <p:spPr>
          <a:xfrm xmlns:a="http://schemas.openxmlformats.org/drawingml/2006/main">
            <a:off x="7505700" y="26479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i="0">
                <a:solidFill>
                  <a:srgbClr val="5E666D"/>
                </a:solidFill>
                <a:latin typeface="Menlo"/>
                <a:ea typeface="Menlo"/>
                <a:cs typeface="Menlo"/>
              </a:defRPr>
            </a:pPr>
            <a:r>
              <a:rPr sz="975" b="0" i="0">
                <a:solidFill>
                  <a:srgbClr val="5E666D"/>
                </a:solidFill>
                <a:latin typeface="Menlo"/>
                <a:ea typeface="Menlo"/>
                <a:cs typeface="Menlo"/>
              </a:rPr>
              <a:t>Schema · policy · rate</a:t>
            </a:r>
          </a:p>
        </p:txBody>
      </p:sp>
      <p:sp>
        <p:nvSpPr>
          <p:cNvPr id="29" name="">
            <a:extLst xmlns:a="http://schemas.openxmlformats.org/drawingml/2006/main">
              <a:ext uri="{FF2B5EF4-FFF2-40B4-BE49-F238E27FC236}">
                <a16:creationId xmlns:a16="http://schemas.microsoft.com/office/drawing/2014/main" id="{EA09134B-BE15-453A-A9A9-4BEB6D1B10DC}"/>
              </a:ext>
            </a:extLst>
          </p:cNvPr>
          <p:cNvSpPr>
            <a:spLocks xmlns:a="http://schemas.openxmlformats.org/drawingml/2006/main" noGrp="1"/>
          </p:cNvSpPr>
          <p:nvPr/>
        </p:nvSpPr>
        <p:spPr>
          <a:xfrm xmlns:a="http://schemas.openxmlformats.org/drawingml/2006/main">
            <a:off x="9601200" y="2057400"/>
            <a:ext cx="2057400" cy="1028700"/>
          </a:xfrm>
          <a:prstGeom xmlns:a="http://schemas.openxmlformats.org/drawingml/2006/main" prst="roundRect">
            <a:avLst>
              <a:gd name="adj" fmla="val 11111"/>
            </a:avLst>
          </a:prstGeom>
          <a:solidFill xmlns:a="http://schemas.openxmlformats.org/drawingml/2006/main">
            <a:srgbClr val="1769FF"/>
          </a:solidFill>
          <a:ln xmlns:a="http://schemas.openxmlformats.org/drawingml/2006/main" w="9525">
            <a:solidFill>
              <a:srgbClr val="1769FF"/>
            </a:solidFill>
            <a:prstDash val="solid"/>
          </a:ln>
        </p:spPr>
      </p:sp>
      <p:sp>
        <p:nvSpPr>
          <p:cNvPr id="30" name="">
            <a:extLst xmlns:a="http://schemas.openxmlformats.org/drawingml/2006/main">
              <a:ext uri="{FF2B5EF4-FFF2-40B4-BE49-F238E27FC236}">
                <a16:creationId xmlns:a16="http://schemas.microsoft.com/office/drawing/2014/main" id="{708CD624-786D-43DC-9CE3-DE2E28D95E5D}"/>
              </a:ext>
            </a:extLst>
          </p:cNvPr>
          <p:cNvSpPr>
            <a:spLocks xmlns:a="http://schemas.openxmlformats.org/drawingml/2006/main" noGrp="1"/>
          </p:cNvSpPr>
          <p:nvPr/>
        </p:nvSpPr>
        <p:spPr>
          <a:xfrm xmlns:a="http://schemas.openxmlformats.org/drawingml/2006/main">
            <a:off x="9772650" y="22669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WooCommerce</a:t>
            </a:r>
          </a:p>
        </p:txBody>
      </p:sp>
      <p:sp>
        <p:nvSpPr>
          <p:cNvPr id="31" name="">
            <a:extLst xmlns:a="http://schemas.openxmlformats.org/drawingml/2006/main">
              <a:ext uri="{FF2B5EF4-FFF2-40B4-BE49-F238E27FC236}">
                <a16:creationId xmlns:a16="http://schemas.microsoft.com/office/drawing/2014/main" id="{D3CB26DE-64A7-4066-8E27-BC60BAAFA81E}"/>
              </a:ext>
            </a:extLst>
          </p:cNvPr>
          <p:cNvSpPr>
            <a:spLocks xmlns:a="http://schemas.openxmlformats.org/drawingml/2006/main" noGrp="1"/>
          </p:cNvSpPr>
          <p:nvPr/>
        </p:nvSpPr>
        <p:spPr>
          <a:xfrm xmlns:a="http://schemas.openxmlformats.org/drawingml/2006/main">
            <a:off x="9772650" y="2647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i="0">
                <a:solidFill>
                  <a:srgbClr val="DCE8FF"/>
                </a:solidFill>
                <a:latin typeface="Menlo"/>
                <a:ea typeface="Menlo"/>
                <a:cs typeface="Menlo"/>
              </a:defRPr>
            </a:pPr>
            <a:r>
              <a:rPr sz="975" b="0" i="0">
                <a:solidFill>
                  <a:srgbClr val="DCE8FF"/>
                </a:solidFill>
                <a:latin typeface="Menlo"/>
                <a:ea typeface="Menlo"/>
                <a:cs typeface="Menlo"/>
              </a:rPr>
              <a:t>Catalog · cart · order</a:t>
            </a:r>
          </a:p>
        </p:txBody>
      </p:sp>
      <p:sp>
        <p:nvSpPr>
          <p:cNvPr id="32" name="">
            <a:extLst xmlns:a="http://schemas.openxmlformats.org/drawingml/2006/main">
              <a:ext uri="{FF2B5EF4-FFF2-40B4-BE49-F238E27FC236}">
                <a16:creationId xmlns:a16="http://schemas.microsoft.com/office/drawing/2014/main" id="{32F6AEAD-AF3F-44A6-966E-DD0435CAAB8B}"/>
              </a:ext>
            </a:extLst>
          </p:cNvPr>
          <p:cNvSpPr>
            <a:spLocks xmlns:a="http://schemas.openxmlformats.org/drawingml/2006/main" noGrp="1"/>
          </p:cNvSpPr>
          <p:nvPr/>
        </p:nvSpPr>
        <p:spPr>
          <a:xfrm xmlns:a="http://schemas.openxmlformats.org/drawingml/2006/main">
            <a:off x="8629650" y="3695700"/>
            <a:ext cx="3028950" cy="800100"/>
          </a:xfrm>
          <a:prstGeom xmlns:a="http://schemas.openxmlformats.org/drawingml/2006/main" prst="roundRect">
            <a:avLst>
              <a:gd name="adj" fmla="val 14286"/>
            </a:avLst>
          </a:prstGeom>
          <a:solidFill xmlns:a="http://schemas.openxmlformats.org/drawingml/2006/main">
            <a:srgbClr val="111111"/>
          </a:solidFill>
          <a:ln xmlns:a="http://schemas.openxmlformats.org/drawingml/2006/main" w="9525">
            <a:solidFill>
              <a:srgbClr val="111111"/>
            </a:solidFill>
            <a:prstDash val="solid"/>
          </a:ln>
        </p:spPr>
      </p:sp>
      <p:sp>
        <p:nvSpPr>
          <p:cNvPr id="33" name="">
            <a:extLst xmlns:a="http://schemas.openxmlformats.org/drawingml/2006/main">
              <a:ext uri="{FF2B5EF4-FFF2-40B4-BE49-F238E27FC236}">
                <a16:creationId xmlns:a16="http://schemas.microsoft.com/office/drawing/2014/main" id="{7DC79492-9ED5-438C-ACEF-17126BCE2AF2}"/>
              </a:ext>
            </a:extLst>
          </p:cNvPr>
          <p:cNvSpPr>
            <a:spLocks xmlns:a="http://schemas.openxmlformats.org/drawingml/2006/main" noGrp="1"/>
          </p:cNvSpPr>
          <p:nvPr/>
        </p:nvSpPr>
        <p:spPr>
          <a:xfrm xmlns:a="http://schemas.openxmlformats.org/drawingml/2006/main">
            <a:off x="8858250" y="3886200"/>
            <a:ext cx="2552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DCE8FF"/>
                </a:solidFill>
                <a:latin typeface="Menlo"/>
                <a:ea typeface="Menlo"/>
                <a:cs typeface="Menlo"/>
              </a:defRPr>
            </a:pPr>
            <a:r>
              <a:rPr sz="975" b="1" i="0">
                <a:solidFill>
                  <a:srgbClr val="DCE8FF"/>
                </a:solidFill>
                <a:latin typeface="Menlo"/>
                <a:ea typeface="Menlo"/>
                <a:cs typeface="Menlo"/>
              </a:rPr>
              <a:t>HUMAN CHECKPOINT</a:t>
            </a:r>
          </a:p>
        </p:txBody>
      </p:sp>
      <p:sp>
        <p:nvSpPr>
          <p:cNvPr id="34" name="">
            <a:extLst xmlns:a="http://schemas.openxmlformats.org/drawingml/2006/main">
              <a:ext uri="{FF2B5EF4-FFF2-40B4-BE49-F238E27FC236}">
                <a16:creationId xmlns:a16="http://schemas.microsoft.com/office/drawing/2014/main" id="{A11034C1-36FF-49AB-B5C7-9A75D49BD355}"/>
              </a:ext>
            </a:extLst>
          </p:cNvPr>
          <p:cNvSpPr>
            <a:spLocks xmlns:a="http://schemas.openxmlformats.org/drawingml/2006/main" noGrp="1"/>
          </p:cNvSpPr>
          <p:nvPr/>
        </p:nvSpPr>
        <p:spPr>
          <a:xfrm xmlns:a="http://schemas.openxmlformats.org/drawingml/2006/main">
            <a:off x="8858250" y="4152900"/>
            <a:ext cx="2552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Review · accept · place order</a:t>
            </a:r>
          </a:p>
        </p:txBody>
      </p:sp>
      <p:sp>
        <p:nvSpPr>
          <p:cNvPr id="35" name="">
            <a:extLst xmlns:a="http://schemas.openxmlformats.org/drawingml/2006/main">
              <a:ext uri="{FF2B5EF4-FFF2-40B4-BE49-F238E27FC236}">
                <a16:creationId xmlns:a16="http://schemas.microsoft.com/office/drawing/2014/main" id="{91F225FC-1F2A-45F5-A446-725722CBDFA8}"/>
              </a:ext>
            </a:extLst>
          </p:cNvPr>
          <p:cNvSpPr>
            <a:spLocks xmlns:a="http://schemas.openxmlformats.org/drawingml/2006/main" noGrp="1"/>
          </p:cNvSpPr>
          <p:nvPr/>
        </p:nvSpPr>
        <p:spPr>
          <a:xfrm xmlns:a="http://schemas.openxmlformats.org/drawingml/2006/main">
            <a:off x="5924550" y="4324350"/>
            <a:ext cx="2419350" cy="781050"/>
          </a:xfrm>
          <a:prstGeom xmlns:a="http://schemas.openxmlformats.org/drawingml/2006/main" prst="roundRect">
            <a:avLst>
              <a:gd name="adj" fmla="val 14634"/>
            </a:avLst>
          </a:prstGeom>
          <a:solidFill xmlns:a="http://schemas.openxmlformats.org/drawingml/2006/main">
            <a:srgbClr val="DCE8FF"/>
          </a:solidFill>
          <a:ln xmlns:a="http://schemas.openxmlformats.org/drawingml/2006/main" w="9525">
            <a:solidFill>
              <a:srgbClr val="1769FF"/>
            </a:solidFill>
            <a:prstDash val="solid"/>
          </a:ln>
        </p:spPr>
      </p:sp>
      <p:sp>
        <p:nvSpPr>
          <p:cNvPr id="36" name="">
            <a:extLst xmlns:a="http://schemas.openxmlformats.org/drawingml/2006/main">
              <a:ext uri="{FF2B5EF4-FFF2-40B4-BE49-F238E27FC236}">
                <a16:creationId xmlns:a16="http://schemas.microsoft.com/office/drawing/2014/main" id="{DB557354-2A51-477C-B482-2FB6425AF483}"/>
              </a:ext>
            </a:extLst>
          </p:cNvPr>
          <p:cNvSpPr>
            <a:spLocks xmlns:a="http://schemas.openxmlformats.org/drawingml/2006/main" noGrp="1"/>
          </p:cNvSpPr>
          <p:nvPr/>
        </p:nvSpPr>
        <p:spPr>
          <a:xfrm xmlns:a="http://schemas.openxmlformats.org/drawingml/2006/main">
            <a:off x="6115050" y="45339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i="0">
                <a:solidFill>
                  <a:srgbClr val="111111"/>
                </a:solidFill>
                <a:latin typeface="Helvetica Neue"/>
                <a:ea typeface="Helvetica Neue"/>
                <a:cs typeface="Helvetica Neue"/>
              </a:defRPr>
            </a:pPr>
            <a:r>
              <a:rPr sz="1350" b="1" i="0">
                <a:solidFill>
                  <a:srgbClr val="111111"/>
                </a:solidFill>
                <a:latin typeface="Helvetica Neue"/>
                <a:ea typeface="Helvetica Neue"/>
                <a:cs typeface="Helvetica Neue"/>
              </a:rPr>
              <a:t>Signals ledger</a:t>
            </a:r>
          </a:p>
        </p:txBody>
      </p:sp>
      <p:sp>
        <p:nvSpPr>
          <p:cNvPr id="37" name="">
            <a:extLst xmlns:a="http://schemas.openxmlformats.org/drawingml/2006/main">
              <a:ext uri="{FF2B5EF4-FFF2-40B4-BE49-F238E27FC236}">
                <a16:creationId xmlns:a16="http://schemas.microsoft.com/office/drawing/2014/main" id="{9A7C8A8E-A621-4861-A0A5-C33351EFB7E4}"/>
              </a:ext>
            </a:extLst>
          </p:cNvPr>
          <p:cNvSpPr>
            <a:spLocks xmlns:a="http://schemas.openxmlformats.org/drawingml/2006/main" noGrp="1"/>
          </p:cNvSpPr>
          <p:nvPr/>
        </p:nvSpPr>
        <p:spPr>
          <a:xfrm xmlns:a="http://schemas.openxmlformats.org/drawingml/2006/main">
            <a:off x="6115050" y="4829175"/>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58"/>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OBSERVED · REPORTED · VERIFIED</a:t>
            </a:r>
          </a:p>
        </p:txBody>
      </p:sp>
      <p:sp>
        <p:nvSpPr>
          <p:cNvPr id="38" name="">
            <a:extLst xmlns:a="http://schemas.openxmlformats.org/drawingml/2006/main">
              <a:ext uri="{FF2B5EF4-FFF2-40B4-BE49-F238E27FC236}">
                <a16:creationId xmlns:a16="http://schemas.microsoft.com/office/drawing/2014/main" id="{78D65CC4-886C-419A-B6DF-4E77C9E854E9}"/>
              </a:ext>
            </a:extLst>
          </p:cNvPr>
          <p:cNvSpPr>
            <a:spLocks xmlns:a="http://schemas.openxmlformats.org/drawingml/2006/main" noGrp="1"/>
          </p:cNvSpPr>
          <p:nvPr/>
        </p:nvSpPr>
        <p:spPr>
          <a:xfrm xmlns:a="http://schemas.openxmlformats.org/drawingml/2006/main">
            <a:off x="3200400" y="4324350"/>
            <a:ext cx="2533650" cy="781050"/>
          </a:xfrm>
          <a:prstGeom xmlns:a="http://schemas.openxmlformats.org/drawingml/2006/main" prst="roundRect">
            <a:avLst>
              <a:gd name="adj" fmla="val 14634"/>
            </a:avLst>
          </a:prstGeom>
          <a:solidFill xmlns:a="http://schemas.openxmlformats.org/drawingml/2006/main">
            <a:srgbClr val="F7F7F3"/>
          </a:solidFill>
          <a:ln xmlns:a="http://schemas.openxmlformats.org/drawingml/2006/main" w="9525">
            <a:solidFill>
              <a:srgbClr val="B9BEC3"/>
            </a:solidFill>
            <a:prstDash val="solid"/>
          </a:ln>
        </p:spPr>
      </p:sp>
      <p:sp>
        <p:nvSpPr>
          <p:cNvPr id="39" name="">
            <a:extLst xmlns:a="http://schemas.openxmlformats.org/drawingml/2006/main">
              <a:ext uri="{FF2B5EF4-FFF2-40B4-BE49-F238E27FC236}">
                <a16:creationId xmlns:a16="http://schemas.microsoft.com/office/drawing/2014/main" id="{6DB5864B-0A8D-4516-A5DA-1EC39233FA12}"/>
              </a:ext>
            </a:extLst>
          </p:cNvPr>
          <p:cNvSpPr>
            <a:spLocks xmlns:a="http://schemas.openxmlformats.org/drawingml/2006/main" noGrp="1"/>
          </p:cNvSpPr>
          <p:nvPr/>
        </p:nvSpPr>
        <p:spPr>
          <a:xfrm xmlns:a="http://schemas.openxmlformats.org/drawingml/2006/main">
            <a:off x="3390900" y="45339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i="0">
                <a:solidFill>
                  <a:srgbClr val="111111"/>
                </a:solidFill>
                <a:latin typeface="Helvetica Neue"/>
                <a:ea typeface="Helvetica Neue"/>
                <a:cs typeface="Helvetica Neue"/>
              </a:defRPr>
            </a:pPr>
            <a:r>
              <a:rPr sz="1350" b="1" i="0">
                <a:solidFill>
                  <a:srgbClr val="111111"/>
                </a:solidFill>
                <a:latin typeface="Helvetica Neue"/>
                <a:ea typeface="Helvetica Neue"/>
                <a:cs typeface="Helvetica Neue"/>
              </a:rPr>
              <a:t>Agent SNR monitor</a:t>
            </a:r>
          </a:p>
        </p:txBody>
      </p:sp>
      <p:sp>
        <p:nvSpPr>
          <p:cNvPr id="40" name="">
            <a:extLst xmlns:a="http://schemas.openxmlformats.org/drawingml/2006/main">
              <a:ext uri="{FF2B5EF4-FFF2-40B4-BE49-F238E27FC236}">
                <a16:creationId xmlns:a16="http://schemas.microsoft.com/office/drawing/2014/main" id="{BF5FE86C-806E-40A8-974E-ECF3FEAA3795}"/>
              </a:ext>
            </a:extLst>
          </p:cNvPr>
          <p:cNvSpPr>
            <a:spLocks xmlns:a="http://schemas.openxmlformats.org/drawingml/2006/main" noGrp="1"/>
          </p:cNvSpPr>
          <p:nvPr/>
        </p:nvSpPr>
        <p:spPr>
          <a:xfrm xmlns:a="http://schemas.openxmlformats.org/drawingml/2006/main">
            <a:off x="3390900" y="4829175"/>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881"/>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8 MONITOR TOOLS · REPLAY · NET</a:t>
            </a:r>
          </a:p>
        </p:txBody>
      </p:sp>
      <p:sp>
        <p:nvSpPr>
          <p:cNvPr id="41" name="">
            <a:extLst xmlns:a="http://schemas.openxmlformats.org/drawingml/2006/main">
              <a:ext uri="{FF2B5EF4-FFF2-40B4-BE49-F238E27FC236}">
                <a16:creationId xmlns:a16="http://schemas.microsoft.com/office/drawing/2014/main" id="{CE6DE820-4F58-40F3-B5AE-D83E8DCF04C7}"/>
              </a:ext>
            </a:extLst>
          </p:cNvPr>
          <p:cNvSpPr>
            <a:spLocks xmlns:a="http://schemas.openxmlformats.org/drawingml/2006/main" noGrp="1"/>
          </p:cNvSpPr>
          <p:nvPr/>
        </p:nvSpPr>
        <p:spPr>
          <a:xfrm xmlns:a="http://schemas.openxmlformats.org/drawingml/2006/main">
            <a:off x="533400" y="5467350"/>
            <a:ext cx="11125200" cy="590550"/>
          </a:xfrm>
          <a:prstGeom xmlns:a="http://schemas.openxmlformats.org/drawingml/2006/main" prst="roundRect">
            <a:avLst>
              <a:gd name="adj" fmla="val 19355"/>
            </a:avLst>
          </a:prstGeom>
          <a:solidFill xmlns:a="http://schemas.openxmlformats.org/drawingml/2006/main">
            <a:srgbClr val="111111"/>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CE818C3B-C04E-425D-B5F5-25F7183E825E}"/>
              </a:ext>
            </a:extLst>
          </p:cNvPr>
          <p:cNvSpPr>
            <a:spLocks xmlns:a="http://schemas.openxmlformats.org/drawingml/2006/main" noGrp="1"/>
          </p:cNvSpPr>
          <p:nvPr/>
        </p:nvSpPr>
        <p:spPr>
          <a:xfrm xmlns:a="http://schemas.openxmlformats.org/drawingml/2006/main">
            <a:off x="762000" y="567690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DCE8FF"/>
                </a:solidFill>
                <a:latin typeface="Menlo"/>
                <a:ea typeface="Menlo"/>
                <a:cs typeface="Menlo"/>
              </a:defRPr>
            </a:pPr>
            <a:r>
              <a:rPr sz="975" b="1" i="0">
                <a:solidFill>
                  <a:srgbClr val="DCE8FF"/>
                </a:solidFill>
                <a:latin typeface="Menlo"/>
                <a:ea typeface="Menlo"/>
                <a:cs typeface="Menlo"/>
              </a:rPr>
              <a:t>SNR STORES</a:t>
            </a:r>
          </a:p>
        </p:txBody>
      </p:sp>
      <p:sp>
        <p:nvSpPr>
          <p:cNvPr id="43" name="">
            <a:extLst xmlns:a="http://schemas.openxmlformats.org/drawingml/2006/main">
              <a:ext uri="{FF2B5EF4-FFF2-40B4-BE49-F238E27FC236}">
                <a16:creationId xmlns:a16="http://schemas.microsoft.com/office/drawing/2014/main" id="{3122BDA0-D885-44A8-8197-BB1487428778}"/>
              </a:ext>
            </a:extLst>
          </p:cNvPr>
          <p:cNvSpPr>
            <a:spLocks xmlns:a="http://schemas.openxmlformats.org/drawingml/2006/main" noGrp="1"/>
          </p:cNvSpPr>
          <p:nvPr/>
        </p:nvSpPr>
        <p:spPr>
          <a:xfrm xmlns:a="http://schemas.openxmlformats.org/drawingml/2006/main">
            <a:off x="1695450" y="5657850"/>
            <a:ext cx="518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i="0">
                <a:solidFill>
                  <a:srgbClr val="FFFFFF"/>
                </a:solidFill>
                <a:latin typeface="Helvetica Neue"/>
                <a:ea typeface="Helvetica Neue"/>
                <a:cs typeface="Helvetica Neue"/>
              </a:defRPr>
            </a:pPr>
            <a:r>
              <a:rPr sz="1050" b="1" i="0">
                <a:solidFill>
                  <a:srgbClr val="FFFFFF"/>
                </a:solidFill>
                <a:latin typeface="Helvetica Neue"/>
                <a:ea typeface="Helvetica Neue"/>
                <a:cs typeface="Helvetica Neue"/>
              </a:rPr>
              <a:t>Outcomes · canonical demand · feedback enums · evidence IDs · one-way hashes</a:t>
            </a:r>
          </a:p>
        </p:txBody>
      </p:sp>
      <p:sp>
        <p:nvSpPr>
          <p:cNvPr id="44" name="">
            <a:extLst xmlns:a="http://schemas.openxmlformats.org/drawingml/2006/main">
              <a:ext uri="{FF2B5EF4-FFF2-40B4-BE49-F238E27FC236}">
                <a16:creationId xmlns:a16="http://schemas.microsoft.com/office/drawing/2014/main" id="{5F5ACA54-88CC-4935-B127-67E083B28537}"/>
              </a:ext>
            </a:extLst>
          </p:cNvPr>
          <p:cNvSpPr>
            <a:spLocks xmlns:a="http://schemas.openxmlformats.org/drawingml/2006/main" noGrp="1"/>
          </p:cNvSpPr>
          <p:nvPr/>
        </p:nvSpPr>
        <p:spPr>
          <a:xfrm xmlns:a="http://schemas.openxmlformats.org/drawingml/2006/main">
            <a:off x="7219950" y="56769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FFB4AD"/>
                </a:solidFill>
                <a:latin typeface="Menlo"/>
                <a:ea typeface="Menlo"/>
                <a:cs typeface="Menlo"/>
              </a:defRPr>
            </a:pPr>
            <a:r>
              <a:rPr sz="975" b="1" i="0">
                <a:solidFill>
                  <a:srgbClr val="FFB4AD"/>
                </a:solidFill>
                <a:latin typeface="Menlo"/>
                <a:ea typeface="Menlo"/>
                <a:cs typeface="Menlo"/>
              </a:rPr>
              <a:t>SNR EXCLUDES</a:t>
            </a:r>
          </a:p>
        </p:txBody>
      </p:sp>
      <p:sp>
        <p:nvSpPr>
          <p:cNvPr id="45" name="">
            <a:extLst xmlns:a="http://schemas.openxmlformats.org/drawingml/2006/main">
              <a:ext uri="{FF2B5EF4-FFF2-40B4-BE49-F238E27FC236}">
                <a16:creationId xmlns:a16="http://schemas.microsoft.com/office/drawing/2014/main" id="{80489F24-9DA4-48D2-B3D1-021BDEE70603}"/>
              </a:ext>
            </a:extLst>
          </p:cNvPr>
          <p:cNvSpPr>
            <a:spLocks xmlns:a="http://schemas.openxmlformats.org/drawingml/2006/main" noGrp="1"/>
          </p:cNvSpPr>
          <p:nvPr/>
        </p:nvSpPr>
        <p:spPr>
          <a:xfrm xmlns:a="http://schemas.openxmlformats.org/drawingml/2006/main">
            <a:off x="8324850" y="5657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1429"/>
          </a:bodyPr>
          <a:lstStyle xmlns:a="http://schemas.openxmlformats.org/drawingml/2006/main"/>
          <a:p xmlns:a="http://schemas.openxmlformats.org/drawingml/2006/main">
            <a:pPr algn="l">
              <a:buNone/>
              <a:defRPr sz="1050" b="1" i="0">
                <a:solidFill>
                  <a:srgbClr val="FFFFFF"/>
                </a:solidFill>
                <a:latin typeface="Helvetica Neue"/>
                <a:ea typeface="Helvetica Neue"/>
                <a:cs typeface="Helvetica Neue"/>
              </a:defRPr>
            </a:pPr>
            <a:r>
              <a:rPr sz="1050" b="1" i="0">
                <a:solidFill>
                  <a:srgbClr val="FFFFFF"/>
                </a:solidFill>
                <a:latin typeface="Helvetica Neue"/>
                <a:ea typeface="Helvetica Neue"/>
                <a:cs typeface="Helvetica Neue"/>
              </a:rPr>
              <a:t>Raw search/prompt · free text · identity · address · payment · DOM/video</a:t>
            </a:r>
          </a:p>
        </p:txBody>
      </p:sp>
    </p:spTree>
    <p:extLst>
      <p:ext uri="{BB962C8B-B14F-4D97-AF65-F5344CB8AC3E}">
        <p14:creationId xmlns:p14="http://schemas.microsoft.com/office/powerpoint/2010/main" val="85785071"/>
      </p:ext>
    </p:extLst>
  </p:cSld>
</p:sld>
</file>

<file path=ppt/slides/slide5.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8A22680-70E8-4225-ADA0-C42C44185C4D}"/>
              </a:ext>
            </a:extLst>
          </p:cNvPr>
          <p:cNvSpPr>
            <a:spLocks xmlns:a="http://schemas.openxmlformats.org/drawingml/2006/main" noGrp="1"/>
          </p:cNvSpPr>
          <p:nvPr/>
        </p:nvSpPr>
        <p:spPr>
          <a:xfrm xmlns:a="http://schemas.openxmlformats.org/drawingml/2006/main">
            <a:off x="533400" y="381000"/>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TRUST BOUNDARY · 0 SENSITIVE TOOLS</a:t>
            </a:r>
          </a:p>
        </p:txBody>
      </p:sp>
      <p:sp>
        <p:nvSpPr>
          <p:cNvPr id="2" name="">
            <a:extLst xmlns:a="http://schemas.openxmlformats.org/drawingml/2006/main">
              <a:ext uri="{FF2B5EF4-FFF2-40B4-BE49-F238E27FC236}">
                <a16:creationId xmlns:a16="http://schemas.microsoft.com/office/drawing/2014/main" id="{C1B4C50A-EC07-4D4F-9E5B-D9136FAACCD8}"/>
              </a:ext>
            </a:extLst>
          </p:cNvPr>
          <p:cNvSpPr>
            <a:spLocks xmlns:a="http://schemas.openxmlformats.org/drawingml/2006/main" noGrp="1"/>
          </p:cNvSpPr>
          <p:nvPr/>
        </p:nvSpPr>
        <p:spPr>
          <a:xfrm xmlns:a="http://schemas.openxmlformats.org/drawingml/2006/main">
            <a:off x="533400" y="723900"/>
            <a:ext cx="11125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i="0">
                <a:solidFill>
                  <a:srgbClr val="111111"/>
                </a:solidFill>
                <a:latin typeface="Helvetica Neue"/>
                <a:ea typeface="Helvetica Neue"/>
                <a:cs typeface="Helvetica Neue"/>
              </a:defRPr>
            </a:pPr>
            <a:r>
              <a:rPr sz="3150" b="1" i="0">
                <a:solidFill>
                  <a:srgbClr val="111111"/>
                </a:solidFill>
                <a:latin typeface="Helvetica Neue"/>
                <a:ea typeface="Helvetica Neue"/>
                <a:cs typeface="Helvetica Neue"/>
              </a:rPr>
              <a:t>The agent prepares. The human commits.</a:t>
            </a:r>
          </a:p>
        </p:txBody>
      </p:sp>
      <p:cxnSp>
        <p:nvCxnSpPr>
          <p:cNvPr id="64" name=""/>
          <p:cNvCxnSpPr/>
          <p:nvPr/>
        </p:nvCxnSpPr>
        <p:spPr>
          <a:xfrm xmlns:a="http://schemas.openxmlformats.org/drawingml/2006/main">
            <a:off x="533400" y="6457950"/>
            <a:ext cx="11125200" cy="0"/>
          </a:xfrm>
          <a:prstGeom xmlns:a="http://schemas.openxmlformats.org/drawingml/2006/main" prst="straightConnector1">
            <a:avLst/>
          </a:prstGeom>
          <a:ln xmlns:a="http://schemas.openxmlformats.org/drawingml/2006/main" w="9525">
            <a:solidFill>
              <a:srgbClr val="D1D5D8"/>
            </a:solidFill>
            <a:prstDash val="solid"/>
          </a:ln>
        </p:spPr>
      </p:cxnSp>
      <p:sp>
        <p:nvSpPr>
          <p:cNvPr id="4" name="">
            <a:extLst xmlns:a="http://schemas.openxmlformats.org/drawingml/2006/main">
              <a:ext uri="{FF2B5EF4-FFF2-40B4-BE49-F238E27FC236}">
                <a16:creationId xmlns:a16="http://schemas.microsoft.com/office/drawing/2014/main" id="{91987DBD-A800-43C1-80E6-81326F71FD31}"/>
              </a:ext>
            </a:extLst>
          </p:cNvPr>
          <p:cNvSpPr>
            <a:spLocks xmlns:a="http://schemas.openxmlformats.org/drawingml/2006/main" noGrp="1"/>
          </p:cNvSpPr>
          <p:nvPr/>
        </p:nvSpPr>
        <p:spPr>
          <a:xfrm xmlns:a="http://schemas.openxmlformats.org/drawingml/2006/main">
            <a:off x="533400" y="6553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AGENT SNR · HACKATHON DEMO</a:t>
            </a:r>
          </a:p>
        </p:txBody>
      </p:sp>
      <p:sp>
        <p:nvSpPr>
          <p:cNvPr id="5" name="">
            <a:extLst xmlns:a="http://schemas.openxmlformats.org/drawingml/2006/main">
              <a:ext uri="{FF2B5EF4-FFF2-40B4-BE49-F238E27FC236}">
                <a16:creationId xmlns:a16="http://schemas.microsoft.com/office/drawing/2014/main" id="{70EA8A44-F588-4CB8-B7A8-AF79F256A12D}"/>
              </a:ext>
            </a:extLst>
          </p:cNvPr>
          <p:cNvSpPr>
            <a:spLocks xmlns:a="http://schemas.openxmlformats.org/drawingml/2006/main" noGrp="1"/>
          </p:cNvSpPr>
          <p:nvPr/>
        </p:nvSpPr>
        <p:spPr>
          <a:xfrm xmlns:a="http://schemas.openxmlformats.org/drawingml/2006/main">
            <a:off x="11049000" y="65341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1" i="0">
                <a:solidFill>
                  <a:srgbClr val="5E666D"/>
                </a:solidFill>
                <a:latin typeface="Menlo"/>
                <a:ea typeface="Menlo"/>
                <a:cs typeface="Menlo"/>
              </a:defRPr>
            </a:pPr>
            <a:r>
              <a:rPr sz="975" b="1" i="0">
                <a:solidFill>
                  <a:srgbClr val="5E666D"/>
                </a:solidFill>
                <a:latin typeface="Menlo"/>
                <a:ea typeface="Menlo"/>
                <a:cs typeface="Menlo"/>
              </a:rPr>
              <a:t>05</a:t>
            </a:r>
          </a:p>
        </p:txBody>
      </p:sp>
      <p:sp>
        <p:nvSpPr>
          <p:cNvPr id="6" name="">
            <a:extLst xmlns:a="http://schemas.openxmlformats.org/drawingml/2006/main">
              <a:ext uri="{FF2B5EF4-FFF2-40B4-BE49-F238E27FC236}">
                <a16:creationId xmlns:a16="http://schemas.microsoft.com/office/drawing/2014/main" id="{ADDEE385-C36C-472D-B9FF-62C72965F5FC}"/>
              </a:ext>
            </a:extLst>
          </p:cNvPr>
          <p:cNvSpPr>
            <a:spLocks xmlns:a="http://schemas.openxmlformats.org/drawingml/2006/main" noGrp="1"/>
          </p:cNvSpPr>
          <p:nvPr/>
        </p:nvSpPr>
        <p:spPr>
          <a:xfrm xmlns:a="http://schemas.openxmlformats.org/drawingml/2006/main">
            <a:off x="533400" y="1905000"/>
            <a:ext cx="4686300" cy="3448050"/>
          </a:xfrm>
          <a:prstGeom xmlns:a="http://schemas.openxmlformats.org/drawingml/2006/main" prst="roundRect">
            <a:avLst>
              <a:gd name="adj" fmla="val 3315"/>
            </a:avLst>
          </a:prstGeom>
          <a:solidFill xmlns:a="http://schemas.openxmlformats.org/drawingml/2006/main">
            <a:srgbClr val="FFFFFF"/>
          </a:solidFill>
          <a:ln xmlns:a="http://schemas.openxmlformats.org/drawingml/2006/main" w="9525">
            <a:solidFill>
              <a:srgbClr val="B9BEC3"/>
            </a:solidFill>
            <a:prstDash val="solid"/>
          </a:ln>
        </p:spPr>
      </p:sp>
      <p:sp>
        <p:nvSpPr>
          <p:cNvPr id="7" name="">
            <a:extLst xmlns:a="http://schemas.openxmlformats.org/drawingml/2006/main">
              <a:ext uri="{FF2B5EF4-FFF2-40B4-BE49-F238E27FC236}">
                <a16:creationId xmlns:a16="http://schemas.microsoft.com/office/drawing/2014/main" id="{3F3FEC9F-6533-41D4-A459-7190A28C4991}"/>
              </a:ext>
            </a:extLst>
          </p:cNvPr>
          <p:cNvSpPr>
            <a:spLocks xmlns:a="http://schemas.openxmlformats.org/drawingml/2006/main" noGrp="1"/>
          </p:cNvSpPr>
          <p:nvPr/>
        </p:nvSpPr>
        <p:spPr>
          <a:xfrm xmlns:a="http://schemas.openxmlformats.org/drawingml/2006/main">
            <a:off x="800100" y="2190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AGENT</a:t>
            </a:r>
          </a:p>
        </p:txBody>
      </p:sp>
      <p:sp>
        <p:nvSpPr>
          <p:cNvPr id="8" name="">
            <a:extLst xmlns:a="http://schemas.openxmlformats.org/drawingml/2006/main">
              <a:ext uri="{FF2B5EF4-FFF2-40B4-BE49-F238E27FC236}">
                <a16:creationId xmlns:a16="http://schemas.microsoft.com/office/drawing/2014/main" id="{8AACC1E4-B5A0-4F1F-9904-E28FEB32B58F}"/>
              </a:ext>
            </a:extLst>
          </p:cNvPr>
          <p:cNvSpPr>
            <a:spLocks xmlns:a="http://schemas.openxmlformats.org/drawingml/2006/main" noGrp="1"/>
          </p:cNvSpPr>
          <p:nvPr/>
        </p:nvSpPr>
        <p:spPr>
          <a:xfrm xmlns:a="http://schemas.openxmlformats.org/drawingml/2006/main">
            <a:off x="800100" y="2619375"/>
            <a:ext cx="3905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i="0">
                <a:solidFill>
                  <a:srgbClr val="111111"/>
                </a:solidFill>
                <a:latin typeface="Helvetica Neue"/>
                <a:ea typeface="Helvetica Neue"/>
                <a:cs typeface="Helvetica Neue"/>
              </a:defRPr>
            </a:pPr>
            <a:r>
              <a:rPr sz="2250" b="1" i="0">
                <a:solidFill>
                  <a:srgbClr val="111111"/>
                </a:solidFill>
                <a:latin typeface="Helvetica Neue"/>
                <a:ea typeface="Helvetica Neue"/>
                <a:cs typeface="Helvetica Neue"/>
              </a:rPr>
              <a:t>Read guide</a:t>
            </a:r>
          </a:p>
          <a:p xmlns:a="http://schemas.openxmlformats.org/drawingml/2006/main">
            <a:pPr algn="l">
              <a:buNone/>
              <a:defRPr sz="2250" b="1" i="0">
                <a:solidFill>
                  <a:srgbClr val="111111"/>
                </a:solidFill>
                <a:latin typeface="Helvetica Neue"/>
                <a:ea typeface="Helvetica Neue"/>
                <a:cs typeface="Helvetica Neue"/>
              </a:defRPr>
            </a:pPr>
            <a:r>
              <a:rPr sz="2250" b="1" i="0">
                <a:solidFill>
                  <a:srgbClr val="111111"/>
                </a:solidFill>
                <a:latin typeface="Helvetica Neue"/>
                <a:ea typeface="Helvetica Neue"/>
                <a:cs typeface="Helvetica Neue"/>
              </a:rPr>
              <a:t>Find · compare · cite policy</a:t>
            </a:r>
          </a:p>
          <a:p xmlns:a="http://schemas.openxmlformats.org/drawingml/2006/main">
            <a:pPr algn="l">
              <a:buNone/>
              <a:defRPr sz="2250" b="1" i="0">
                <a:solidFill>
                  <a:srgbClr val="111111"/>
                </a:solidFill>
                <a:latin typeface="Helvetica Neue"/>
                <a:ea typeface="Helvetica Neue"/>
                <a:cs typeface="Helvetica Neue"/>
              </a:defRPr>
            </a:pPr>
            <a:r>
              <a:rPr sz="2250" b="1" i="0">
                <a:solidFill>
                  <a:srgbClr val="111111"/>
                </a:solidFill>
                <a:latin typeface="Helvetica Neue"/>
                <a:ea typeface="Helvetica Neue"/>
                <a:cs typeface="Helvetica Neue"/>
              </a:rPr>
              <a:t>Edit reversible cart</a:t>
            </a:r>
          </a:p>
          <a:p xmlns:a="http://schemas.openxmlformats.org/drawingml/2006/main">
            <a:pPr algn="l">
              <a:buNone/>
              <a:defRPr sz="2250" b="1" i="0">
                <a:solidFill>
                  <a:srgbClr val="111111"/>
                </a:solidFill>
                <a:latin typeface="Helvetica Neue"/>
                <a:ea typeface="Helvetica Neue"/>
                <a:cs typeface="Helvetica Neue"/>
              </a:defRPr>
            </a:pPr>
            <a:r>
              <a:rPr sz="2250" b="1" i="0">
                <a:solidFill>
                  <a:srgbClr val="111111"/>
                </a:solidFill>
                <a:latin typeface="Helvetica Neue"/>
                <a:ea typeface="Helvetica Neue"/>
                <a:cs typeface="Helvetica Neue"/>
              </a:rPr>
              <a:t>Report structured friction</a:t>
            </a:r>
          </a:p>
          <a:p xmlns:a="http://schemas.openxmlformats.org/drawingml/2006/main">
            <a:pPr algn="l">
              <a:buNone/>
              <a:defRPr sz="2250" b="1" i="0">
                <a:solidFill>
                  <a:srgbClr val="111111"/>
                </a:solidFill>
                <a:latin typeface="Helvetica Neue"/>
                <a:ea typeface="Helvetica Neue"/>
                <a:cs typeface="Helvetica Neue"/>
              </a:defRPr>
            </a:pPr>
            <a:r>
              <a:rPr sz="2250" b="1" i="0">
                <a:solidFill>
                  <a:srgbClr val="111111"/>
                </a:solidFill>
                <a:latin typeface="Helvetica Neue"/>
                <a:ea typeface="Helvetica Neue"/>
                <a:cs typeface="Helvetica Neue"/>
              </a:rPr>
              <a:t>Prepare checkout handoff</a:t>
            </a:r>
          </a:p>
        </p:txBody>
      </p:sp>
      <p:sp>
        <p:nvSpPr>
          <p:cNvPr id="9" name="">
            <a:extLst xmlns:a="http://schemas.openxmlformats.org/drawingml/2006/main">
              <a:ext uri="{FF2B5EF4-FFF2-40B4-BE49-F238E27FC236}">
                <a16:creationId xmlns:a16="http://schemas.microsoft.com/office/drawing/2014/main" id="{276A4D7F-C59C-41FB-950A-2D763F77B6DD}"/>
              </a:ext>
            </a:extLst>
          </p:cNvPr>
          <p:cNvSpPr>
            <a:spLocks xmlns:a="http://schemas.openxmlformats.org/drawingml/2006/main" noGrp="1"/>
          </p:cNvSpPr>
          <p:nvPr/>
        </p:nvSpPr>
        <p:spPr>
          <a:xfrm xmlns:a="http://schemas.openxmlformats.org/drawingml/2006/main">
            <a:off x="5476875" y="1762125"/>
            <a:ext cx="609600" cy="3733800"/>
          </a:xfrm>
          <a:prstGeom xmlns:a="http://schemas.openxmlformats.org/drawingml/2006/main" prst="roundRect">
            <a:avLst>
              <a:gd name="adj" fmla="val 18750"/>
            </a:avLst>
          </a:prstGeom>
          <a:solidFill xmlns:a="http://schemas.openxmlformats.org/drawingml/2006/main">
            <a:srgbClr val="E9433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8F62E27-6AC8-4AAF-869B-C7634735B9B9}"/>
              </a:ext>
            </a:extLst>
          </p:cNvPr>
          <p:cNvSpPr>
            <a:spLocks xmlns:a="http://schemas.openxmlformats.org/drawingml/2006/main" noGrp="1"/>
          </p:cNvSpPr>
          <p:nvPr/>
        </p:nvSpPr>
        <p:spPr>
          <a:xfrm xmlns:a="http://schemas.openxmlformats.org/drawingml/2006/main">
            <a:off x="5619750" y="2152650"/>
            <a:ext cx="3238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H</a:t>
            </a:r>
          </a:p>
          <a:p xmlns:a="http://schemas.openxmlformats.org/drawingml/2006/main">
            <a:pPr algn="ctr">
              <a:buNone/>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U</a:t>
            </a:r>
          </a:p>
          <a:p xmlns:a="http://schemas.openxmlformats.org/drawingml/2006/main">
            <a:pPr algn="ctr">
              <a:buNone/>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M</a:t>
            </a:r>
          </a:p>
          <a:p xmlns:a="http://schemas.openxmlformats.org/drawingml/2006/main">
            <a:pPr algn="ctr">
              <a:buNone/>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A</a:t>
            </a:r>
          </a:p>
          <a:p xmlns:a="http://schemas.openxmlformats.org/drawingml/2006/main">
            <a:pPr algn="ctr">
              <a:buNone/>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N</a:t>
            </a:r>
          </a:p>
        </p:txBody>
      </p:sp>
      <p:sp>
        <p:nvSpPr>
          <p:cNvPr id="11" name="">
            <a:extLst xmlns:a="http://schemas.openxmlformats.org/drawingml/2006/main">
              <a:ext uri="{FF2B5EF4-FFF2-40B4-BE49-F238E27FC236}">
                <a16:creationId xmlns:a16="http://schemas.microsoft.com/office/drawing/2014/main" id="{65EEF197-99AF-4551-9799-D59FF3BFD951}"/>
              </a:ext>
            </a:extLst>
          </p:cNvPr>
          <p:cNvSpPr>
            <a:spLocks xmlns:a="http://schemas.openxmlformats.org/drawingml/2006/main" noGrp="1"/>
          </p:cNvSpPr>
          <p:nvPr/>
        </p:nvSpPr>
        <p:spPr>
          <a:xfrm xmlns:a="http://schemas.openxmlformats.org/drawingml/2006/main">
            <a:off x="6343650" y="1905000"/>
            <a:ext cx="5314950" cy="3448050"/>
          </a:xfrm>
          <a:prstGeom xmlns:a="http://schemas.openxmlformats.org/drawingml/2006/main" prst="roundRect">
            <a:avLst>
              <a:gd name="adj" fmla="val 3315"/>
            </a:avLst>
          </a:prstGeom>
          <a:solidFill xmlns:a="http://schemas.openxmlformats.org/drawingml/2006/main">
            <a:srgbClr val="111111"/>
          </a:solidFill>
          <a:ln xmlns:a="http://schemas.openxmlformats.org/drawingml/2006/main" w="9525">
            <a:solidFill>
              <a:srgbClr val="111111"/>
            </a:solidFill>
            <a:prstDash val="solid"/>
          </a:ln>
        </p:spPr>
      </p:sp>
      <p:sp>
        <p:nvSpPr>
          <p:cNvPr id="12" name="">
            <a:extLst xmlns:a="http://schemas.openxmlformats.org/drawingml/2006/main">
              <a:ext uri="{FF2B5EF4-FFF2-40B4-BE49-F238E27FC236}">
                <a16:creationId xmlns:a16="http://schemas.microsoft.com/office/drawing/2014/main" id="{8131AF95-03CA-4667-AF6B-D83648520367}"/>
              </a:ext>
            </a:extLst>
          </p:cNvPr>
          <p:cNvSpPr>
            <a:spLocks xmlns:a="http://schemas.openxmlformats.org/drawingml/2006/main" noGrp="1"/>
          </p:cNvSpPr>
          <p:nvPr/>
        </p:nvSpPr>
        <p:spPr>
          <a:xfrm xmlns:a="http://schemas.openxmlformats.org/drawingml/2006/main">
            <a:off x="6629400" y="2190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DCE8FF"/>
                </a:solidFill>
                <a:latin typeface="Menlo"/>
                <a:ea typeface="Menlo"/>
                <a:cs typeface="Menlo"/>
              </a:defRPr>
            </a:pPr>
            <a:r>
              <a:rPr sz="975" b="1" i="0">
                <a:solidFill>
                  <a:srgbClr val="DCE8FF"/>
                </a:solidFill>
                <a:latin typeface="Menlo"/>
                <a:ea typeface="Menlo"/>
                <a:cs typeface="Menlo"/>
              </a:rPr>
              <a:t>HUMAN</a:t>
            </a:r>
          </a:p>
        </p:txBody>
      </p:sp>
      <p:sp>
        <p:nvSpPr>
          <p:cNvPr id="13" name="">
            <a:extLst xmlns:a="http://schemas.openxmlformats.org/drawingml/2006/main">
              <a:ext uri="{FF2B5EF4-FFF2-40B4-BE49-F238E27FC236}">
                <a16:creationId xmlns:a16="http://schemas.microsoft.com/office/drawing/2014/main" id="{422118A4-70EA-4FFE-B4BD-5F4521BCCF9E}"/>
              </a:ext>
            </a:extLst>
          </p:cNvPr>
          <p:cNvSpPr>
            <a:spLocks xmlns:a="http://schemas.openxmlformats.org/drawingml/2006/main" noGrp="1"/>
          </p:cNvSpPr>
          <p:nvPr/>
        </p:nvSpPr>
        <p:spPr>
          <a:xfrm xmlns:a="http://schemas.openxmlformats.org/drawingml/2006/main">
            <a:off x="6629400" y="2619375"/>
            <a:ext cx="285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i="0">
                <a:solidFill>
                  <a:srgbClr val="FFFFFF"/>
                </a:solidFill>
                <a:latin typeface="Helvetica Neue"/>
                <a:ea typeface="Helvetica Neue"/>
                <a:cs typeface="Helvetica Neue"/>
              </a:defRPr>
            </a:pPr>
            <a:r>
              <a:rPr sz="2250" b="1" i="0">
                <a:solidFill>
                  <a:srgbClr val="FFFFFF"/>
                </a:solidFill>
                <a:latin typeface="Helvetica Neue"/>
                <a:ea typeface="Helvetica Neue"/>
                <a:cs typeface="Helvetica Neue"/>
              </a:rPr>
              <a:t>Review details</a:t>
            </a:r>
          </a:p>
          <a:p xmlns:a="http://schemas.openxmlformats.org/drawingml/2006/main">
            <a:pPr algn="l">
              <a:buNone/>
              <a:defRPr sz="2250" b="1" i="0">
                <a:solidFill>
                  <a:srgbClr val="FFFFFF"/>
                </a:solidFill>
                <a:latin typeface="Helvetica Neue"/>
                <a:ea typeface="Helvetica Neue"/>
                <a:cs typeface="Helvetica Neue"/>
              </a:defRPr>
            </a:pPr>
            <a:r>
              <a:rPr sz="2250" b="1" i="0">
                <a:solidFill>
                  <a:srgbClr val="FFFFFF"/>
                </a:solidFill>
                <a:latin typeface="Helvetica Neue"/>
                <a:ea typeface="Helvetica Neue"/>
                <a:cs typeface="Helvetica Neue"/>
              </a:rPr>
              <a:t>Accept terms</a:t>
            </a:r>
          </a:p>
          <a:p xmlns:a="http://schemas.openxmlformats.org/drawingml/2006/main">
            <a:pPr algn="l">
              <a:buNone/>
              <a:defRPr sz="2250" b="1" i="0">
                <a:solidFill>
                  <a:srgbClr val="FFFFFF"/>
                </a:solidFill>
                <a:latin typeface="Helvetica Neue"/>
                <a:ea typeface="Helvetica Neue"/>
                <a:cs typeface="Helvetica Neue"/>
              </a:defRPr>
            </a:pPr>
            <a:r>
              <a:rPr sz="2250" b="1" i="0">
                <a:solidFill>
                  <a:srgbClr val="FFFFFF"/>
                </a:solidFill>
                <a:latin typeface="Helvetica Neue"/>
                <a:ea typeface="Helvetica Neue"/>
                <a:cs typeface="Helvetica Neue"/>
              </a:rPr>
              <a:t>Place order</a:t>
            </a:r>
          </a:p>
        </p:txBody>
      </p:sp>
      <p:sp>
        <p:nvSpPr>
          <p:cNvPr id="14" name="">
            <a:extLst xmlns:a="http://schemas.openxmlformats.org/drawingml/2006/main">
              <a:ext uri="{FF2B5EF4-FFF2-40B4-BE49-F238E27FC236}">
                <a16:creationId xmlns:a16="http://schemas.microsoft.com/office/drawing/2014/main" id="{EF7E3018-0E5D-4DBA-A6A9-212746FFFD2C}"/>
              </a:ext>
            </a:extLst>
          </p:cNvPr>
          <p:cNvSpPr>
            <a:spLocks xmlns:a="http://schemas.openxmlformats.org/drawingml/2006/main" noGrp="1"/>
          </p:cNvSpPr>
          <p:nvPr/>
        </p:nvSpPr>
        <p:spPr>
          <a:xfrm xmlns:a="http://schemas.openxmlformats.org/drawingml/2006/main">
            <a:off x="6629400" y="44767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DCE8FF"/>
                </a:solidFill>
                <a:latin typeface="Menlo"/>
                <a:ea typeface="Menlo"/>
                <a:cs typeface="Menlo"/>
              </a:defRPr>
            </a:pPr>
            <a:r>
              <a:rPr sz="975" b="1" i="0">
                <a:solidFill>
                  <a:srgbClr val="DCE8FF"/>
                </a:solidFill>
                <a:latin typeface="Menlo"/>
                <a:ea typeface="Menlo"/>
                <a:cs typeface="Menlo"/>
              </a:rPr>
              <a:t>VERIFIED OUTCOME</a:t>
            </a:r>
          </a:p>
        </p:txBody>
      </p:sp>
      <p:sp>
        <p:nvSpPr>
          <p:cNvPr id="15" name="">
            <a:extLst xmlns:a="http://schemas.openxmlformats.org/drawingml/2006/main">
              <a:ext uri="{FF2B5EF4-FFF2-40B4-BE49-F238E27FC236}">
                <a16:creationId xmlns:a16="http://schemas.microsoft.com/office/drawing/2014/main" id="{7FDCBD75-8F23-4E94-95D7-F0B42B0EAB95}"/>
              </a:ext>
            </a:extLst>
          </p:cNvPr>
          <p:cNvSpPr>
            <a:spLocks xmlns:a="http://schemas.openxmlformats.org/drawingml/2006/main" noGrp="1"/>
          </p:cNvSpPr>
          <p:nvPr/>
        </p:nvSpPr>
        <p:spPr>
          <a:xfrm xmlns:a="http://schemas.openxmlformats.org/drawingml/2006/main">
            <a:off x="6629400" y="47815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FFFFFF"/>
                </a:solidFill>
                <a:latin typeface="Helvetica Neue"/>
                <a:ea typeface="Helvetica Neue"/>
                <a:cs typeface="Helvetica Neue"/>
              </a:defRPr>
            </a:pPr>
            <a:r>
              <a:rPr sz="1575" b="1" i="0">
                <a:solidFill>
                  <a:srgbClr val="FFFFFF"/>
                </a:solidFill>
                <a:latin typeface="Helvetica Neue"/>
                <a:ea typeface="Helvetica Neue"/>
                <a:cs typeface="Helvetica Neue"/>
              </a:rPr>
              <a:t>Paid · cancelled · refunded</a:t>
            </a:r>
          </a:p>
        </p:txBody>
      </p:sp>
      <p:sp>
        <p:nvSpPr>
          <p:cNvPr id="16" name="">
            <a:extLst xmlns:a="http://schemas.openxmlformats.org/drawingml/2006/main">
              <a:ext uri="{FF2B5EF4-FFF2-40B4-BE49-F238E27FC236}">
                <a16:creationId xmlns:a16="http://schemas.microsoft.com/office/drawing/2014/main" id="{48E8EE21-841B-4D00-A607-5DADBD129F27}"/>
              </a:ext>
            </a:extLst>
          </p:cNvPr>
          <p:cNvSpPr>
            <a:spLocks xmlns:a="http://schemas.openxmlformats.org/drawingml/2006/main" noGrp="1"/>
          </p:cNvSpPr>
          <p:nvPr/>
        </p:nvSpPr>
        <p:spPr>
          <a:xfrm xmlns:a="http://schemas.openxmlformats.org/drawingml/2006/main">
            <a:off x="533400" y="5829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AGENT SNR LEDGER EXCLUDES: RAW PROMPTS · FREE-TEXT FEEDBACK · IDENTITY · ADDRESS · PAYMENT</a:t>
            </a:r>
          </a:p>
        </p:txBody>
      </p:sp>
    </p:spTree>
    <p:extLst>
      <p:ext uri="{BB962C8B-B14F-4D97-AF65-F5344CB8AC3E}">
        <p14:creationId xmlns:p14="http://schemas.microsoft.com/office/powerpoint/2010/main" val="932178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5D00C83-EE4F-421B-8915-34B0B2D2C7E8}"/>
              </a:ext>
            </a:extLst>
          </p:cNvPr>
          <p:cNvSpPr>
            <a:spLocks xmlns:a="http://schemas.openxmlformats.org/drawingml/2006/main" noGrp="1"/>
          </p:cNvSpPr>
          <p:nvPr/>
        </p:nvSpPr>
        <p:spPr>
          <a:xfrm xmlns:a="http://schemas.openxmlformats.org/drawingml/2006/main">
            <a:off x="533400" y="381000"/>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USE CASES</a:t>
            </a:r>
          </a:p>
        </p:txBody>
      </p:sp>
      <p:sp>
        <p:nvSpPr>
          <p:cNvPr id="2" name="">
            <a:extLst xmlns:a="http://schemas.openxmlformats.org/drawingml/2006/main">
              <a:ext uri="{FF2B5EF4-FFF2-40B4-BE49-F238E27FC236}">
                <a16:creationId xmlns:a16="http://schemas.microsoft.com/office/drawing/2014/main" id="{99FE1F28-B38F-42BC-BCB3-14B56E17D493}"/>
              </a:ext>
            </a:extLst>
          </p:cNvPr>
          <p:cNvSpPr>
            <a:spLocks xmlns:a="http://schemas.openxmlformats.org/drawingml/2006/main" noGrp="1"/>
          </p:cNvSpPr>
          <p:nvPr/>
        </p:nvSpPr>
        <p:spPr>
          <a:xfrm xmlns:a="http://schemas.openxmlformats.org/drawingml/2006/main">
            <a:off x="533400" y="723900"/>
            <a:ext cx="11125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i="0">
                <a:solidFill>
                  <a:srgbClr val="111111"/>
                </a:solidFill>
                <a:latin typeface="Helvetica Neue"/>
                <a:ea typeface="Helvetica Neue"/>
                <a:cs typeface="Helvetica Neue"/>
              </a:defRPr>
            </a:pPr>
            <a:r>
              <a:rPr sz="3150" b="1" i="0">
                <a:solidFill>
                  <a:srgbClr val="111111"/>
                </a:solidFill>
                <a:latin typeface="Helvetica Neue"/>
                <a:ea typeface="Helvetica Neue"/>
                <a:cs typeface="Helvetica Neue"/>
              </a:rPr>
              <a:t>One evidence loop answers five operator questions.</a:t>
            </a:r>
          </a:p>
        </p:txBody>
      </p:sp>
      <p:cxnSp>
        <p:nvCxnSpPr>
          <p:cNvPr id="486" name=""/>
          <p:cNvCxnSpPr/>
          <p:nvPr/>
        </p:nvCxnSpPr>
        <p:spPr>
          <a:xfrm xmlns:a="http://schemas.openxmlformats.org/drawingml/2006/main">
            <a:off x="533400" y="6457950"/>
            <a:ext cx="11125200" cy="0"/>
          </a:xfrm>
          <a:prstGeom xmlns:a="http://schemas.openxmlformats.org/drawingml/2006/main" prst="straightConnector1">
            <a:avLst/>
          </a:prstGeom>
          <a:ln xmlns:a="http://schemas.openxmlformats.org/drawingml/2006/main" w="9525">
            <a:solidFill>
              <a:srgbClr val="D1D5D8"/>
            </a:solidFill>
            <a:prstDash val="solid"/>
          </a:ln>
        </p:spPr>
      </p:cxnSp>
      <p:sp>
        <p:nvSpPr>
          <p:cNvPr id="4" name="">
            <a:extLst xmlns:a="http://schemas.openxmlformats.org/drawingml/2006/main">
              <a:ext uri="{FF2B5EF4-FFF2-40B4-BE49-F238E27FC236}">
                <a16:creationId xmlns:a16="http://schemas.microsoft.com/office/drawing/2014/main" id="{9A6A5D05-FC4A-48C1-9EA1-989EFB1B794E}"/>
              </a:ext>
            </a:extLst>
          </p:cNvPr>
          <p:cNvSpPr>
            <a:spLocks xmlns:a="http://schemas.openxmlformats.org/drawingml/2006/main" noGrp="1"/>
          </p:cNvSpPr>
          <p:nvPr/>
        </p:nvSpPr>
        <p:spPr>
          <a:xfrm xmlns:a="http://schemas.openxmlformats.org/drawingml/2006/main">
            <a:off x="533400" y="6553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AGENT SNR · HACKATHON DEMO</a:t>
            </a:r>
          </a:p>
        </p:txBody>
      </p:sp>
      <p:sp>
        <p:nvSpPr>
          <p:cNvPr id="5" name="">
            <a:extLst xmlns:a="http://schemas.openxmlformats.org/drawingml/2006/main">
              <a:ext uri="{FF2B5EF4-FFF2-40B4-BE49-F238E27FC236}">
                <a16:creationId xmlns:a16="http://schemas.microsoft.com/office/drawing/2014/main" id="{ACF9D3D2-0085-4AB7-9CB4-715D1BFC0C4F}"/>
              </a:ext>
            </a:extLst>
          </p:cNvPr>
          <p:cNvSpPr>
            <a:spLocks xmlns:a="http://schemas.openxmlformats.org/drawingml/2006/main" noGrp="1"/>
          </p:cNvSpPr>
          <p:nvPr/>
        </p:nvSpPr>
        <p:spPr>
          <a:xfrm xmlns:a="http://schemas.openxmlformats.org/drawingml/2006/main">
            <a:off x="11049000" y="65341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1" i="0">
                <a:solidFill>
                  <a:srgbClr val="5E666D"/>
                </a:solidFill>
                <a:latin typeface="Menlo"/>
                <a:ea typeface="Menlo"/>
                <a:cs typeface="Menlo"/>
              </a:defRPr>
            </a:pPr>
            <a:r>
              <a:rPr sz="975" b="1" i="0">
                <a:solidFill>
                  <a:srgbClr val="5E666D"/>
                </a:solidFill>
                <a:latin typeface="Menlo"/>
                <a:ea typeface="Menlo"/>
                <a:cs typeface="Menlo"/>
              </a:rPr>
              <a:t>06</a:t>
            </a:r>
          </a:p>
        </p:txBody>
      </p:sp>
      <p:cxnSp>
        <p:nvCxnSpPr>
          <p:cNvPr id="489" name=""/>
          <p:cNvCxnSpPr/>
          <p:nvPr/>
        </p:nvCxnSpPr>
        <p:spPr>
          <a:xfrm xmlns:a="http://schemas.openxmlformats.org/drawingml/2006/main">
            <a:off x="1066800" y="1981200"/>
            <a:ext cx="0" cy="3429000"/>
          </a:xfrm>
          <a:prstGeom xmlns:a="http://schemas.openxmlformats.org/drawingml/2006/main" prst="straightConnector1">
            <a:avLst/>
          </a:prstGeom>
          <a:ln xmlns:a="http://schemas.openxmlformats.org/drawingml/2006/main" w="47625">
            <a:solidFill>
              <a:srgbClr val="1769FF"/>
            </a:solidFill>
            <a:prstDash val="solid"/>
          </a:ln>
        </p:spPr>
      </p:cxnSp>
      <p:sp>
        <p:nvSpPr>
          <p:cNvPr id="7" name="">
            <a:extLst xmlns:a="http://schemas.openxmlformats.org/drawingml/2006/main">
              <a:ext uri="{FF2B5EF4-FFF2-40B4-BE49-F238E27FC236}">
                <a16:creationId xmlns:a16="http://schemas.microsoft.com/office/drawing/2014/main" id="{A2FA3395-C11B-4B28-9E18-9C13D31FD7B1}"/>
              </a:ext>
            </a:extLst>
          </p:cNvPr>
          <p:cNvSpPr>
            <a:spLocks xmlns:a="http://schemas.openxmlformats.org/drawingml/2006/main" noGrp="1"/>
          </p:cNvSpPr>
          <p:nvPr/>
        </p:nvSpPr>
        <p:spPr>
          <a:xfrm xmlns:a="http://schemas.openxmlformats.org/drawingml/2006/main">
            <a:off x="866775" y="1809750"/>
            <a:ext cx="400050" cy="400050"/>
          </a:xfrm>
          <a:prstGeom xmlns:a="http://schemas.openxmlformats.org/drawingml/2006/main" prst="roundRect">
            <a:avLst>
              <a:gd name="adj" fmla="val 28571"/>
            </a:avLst>
          </a:prstGeom>
          <a:solidFill xmlns:a="http://schemas.openxmlformats.org/drawingml/2006/main">
            <a:srgbClr val="1769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B5C2877-4A68-4A5A-BC16-036E5FB1C798}"/>
              </a:ext>
            </a:extLst>
          </p:cNvPr>
          <p:cNvSpPr>
            <a:spLocks xmlns:a="http://schemas.openxmlformats.org/drawingml/2006/main" noGrp="1"/>
          </p:cNvSpPr>
          <p:nvPr/>
        </p:nvSpPr>
        <p:spPr>
          <a:xfrm xmlns:a="http://schemas.openxmlformats.org/drawingml/2006/main">
            <a:off x="866775" y="1933575"/>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825" b="1" i="0">
                <a:solidFill>
                  <a:srgbClr val="FFFFFF"/>
                </a:solidFill>
                <a:latin typeface="Menlo"/>
                <a:ea typeface="Menlo"/>
                <a:cs typeface="Menlo"/>
              </a:defRPr>
            </a:pPr>
            <a:r>
              <a:rPr sz="825" b="1" i="0">
                <a:solidFill>
                  <a:srgbClr val="FFFFFF"/>
                </a:solidFill>
                <a:latin typeface="Menlo"/>
                <a:ea typeface="Menlo"/>
                <a:cs typeface="Menlo"/>
              </a:rPr>
              <a:t>01</a:t>
            </a:r>
          </a:p>
        </p:txBody>
      </p:sp>
      <p:sp>
        <p:nvSpPr>
          <p:cNvPr id="9" name="">
            <a:extLst xmlns:a="http://schemas.openxmlformats.org/drawingml/2006/main">
              <a:ext uri="{FF2B5EF4-FFF2-40B4-BE49-F238E27FC236}">
                <a16:creationId xmlns:a16="http://schemas.microsoft.com/office/drawing/2014/main" id="{DD5791A2-1EB4-4920-B268-B001ECB3AD73}"/>
              </a:ext>
            </a:extLst>
          </p:cNvPr>
          <p:cNvSpPr>
            <a:spLocks xmlns:a="http://schemas.openxmlformats.org/drawingml/2006/main" noGrp="1"/>
          </p:cNvSpPr>
          <p:nvPr/>
        </p:nvSpPr>
        <p:spPr>
          <a:xfrm xmlns:a="http://schemas.openxmlformats.org/drawingml/2006/main">
            <a:off x="1543050" y="17907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What happened?</a:t>
            </a:r>
          </a:p>
        </p:txBody>
      </p:sp>
      <p:sp>
        <p:nvSpPr>
          <p:cNvPr id="10" name="">
            <a:extLst xmlns:a="http://schemas.openxmlformats.org/drawingml/2006/main">
              <a:ext uri="{FF2B5EF4-FFF2-40B4-BE49-F238E27FC236}">
                <a16:creationId xmlns:a16="http://schemas.microsoft.com/office/drawing/2014/main" id="{9A58CD9D-2850-4E99-9EB3-C37DA6E650B2}"/>
              </a:ext>
            </a:extLst>
          </p:cNvPr>
          <p:cNvSpPr>
            <a:spLocks xmlns:a="http://schemas.openxmlformats.org/drawingml/2006/main" noGrp="1"/>
          </p:cNvSpPr>
          <p:nvPr/>
        </p:nvSpPr>
        <p:spPr>
          <a:xfrm xmlns:a="http://schemas.openxmlformats.org/drawingml/2006/main">
            <a:off x="1543050" y="212407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WORKFLOW REPLAY</a:t>
            </a:r>
          </a:p>
        </p:txBody>
      </p:sp>
      <p:sp>
        <p:nvSpPr>
          <p:cNvPr id="11" name="">
            <a:extLst xmlns:a="http://schemas.openxmlformats.org/drawingml/2006/main">
              <a:ext uri="{FF2B5EF4-FFF2-40B4-BE49-F238E27FC236}">
                <a16:creationId xmlns:a16="http://schemas.microsoft.com/office/drawing/2014/main" id="{1C7F587E-09F3-4160-8DB8-5991D232B21A}"/>
              </a:ext>
            </a:extLst>
          </p:cNvPr>
          <p:cNvSpPr>
            <a:spLocks xmlns:a="http://schemas.openxmlformats.org/drawingml/2006/main" noGrp="1"/>
          </p:cNvSpPr>
          <p:nvPr/>
        </p:nvSpPr>
        <p:spPr>
          <a:xfrm xmlns:a="http://schemas.openxmlformats.org/drawingml/2006/main">
            <a:off x="866775" y="2543175"/>
            <a:ext cx="400050" cy="400050"/>
          </a:xfrm>
          <a:prstGeom xmlns:a="http://schemas.openxmlformats.org/drawingml/2006/main" prst="roundRect">
            <a:avLst>
              <a:gd name="adj" fmla="val 28571"/>
            </a:avLst>
          </a:prstGeom>
          <a:solidFill xmlns:a="http://schemas.openxmlformats.org/drawingml/2006/main">
            <a:srgbClr val="1769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ADF2322-6576-49D4-995C-9A639D680227}"/>
              </a:ext>
            </a:extLst>
          </p:cNvPr>
          <p:cNvSpPr>
            <a:spLocks xmlns:a="http://schemas.openxmlformats.org/drawingml/2006/main" noGrp="1"/>
          </p:cNvSpPr>
          <p:nvPr/>
        </p:nvSpPr>
        <p:spPr>
          <a:xfrm xmlns:a="http://schemas.openxmlformats.org/drawingml/2006/main">
            <a:off x="866775" y="266700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825" b="1" i="0">
                <a:solidFill>
                  <a:srgbClr val="FFFFFF"/>
                </a:solidFill>
                <a:latin typeface="Menlo"/>
                <a:ea typeface="Menlo"/>
                <a:cs typeface="Menlo"/>
              </a:defRPr>
            </a:pPr>
            <a:r>
              <a:rPr sz="825" b="1" i="0">
                <a:solidFill>
                  <a:srgbClr val="FFFFFF"/>
                </a:solidFill>
                <a:latin typeface="Menlo"/>
                <a:ea typeface="Menlo"/>
                <a:cs typeface="Menlo"/>
              </a:rPr>
              <a:t>02</a:t>
            </a:r>
          </a:p>
        </p:txBody>
      </p:sp>
      <p:sp>
        <p:nvSpPr>
          <p:cNvPr id="13" name="">
            <a:extLst xmlns:a="http://schemas.openxmlformats.org/drawingml/2006/main">
              <a:ext uri="{FF2B5EF4-FFF2-40B4-BE49-F238E27FC236}">
                <a16:creationId xmlns:a16="http://schemas.microsoft.com/office/drawing/2014/main" id="{2C0A6668-446E-48F3-8687-0F268731485A}"/>
              </a:ext>
            </a:extLst>
          </p:cNvPr>
          <p:cNvSpPr>
            <a:spLocks xmlns:a="http://schemas.openxmlformats.org/drawingml/2006/main" noGrp="1"/>
          </p:cNvSpPr>
          <p:nvPr/>
        </p:nvSpPr>
        <p:spPr>
          <a:xfrm xmlns:a="http://schemas.openxmlformats.org/drawingml/2006/main">
            <a:off x="1543050" y="25241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What broke?</a:t>
            </a:r>
          </a:p>
        </p:txBody>
      </p:sp>
      <p:sp>
        <p:nvSpPr>
          <p:cNvPr id="14" name="">
            <a:extLst xmlns:a="http://schemas.openxmlformats.org/drawingml/2006/main">
              <a:ext uri="{FF2B5EF4-FFF2-40B4-BE49-F238E27FC236}">
                <a16:creationId xmlns:a16="http://schemas.microsoft.com/office/drawing/2014/main" id="{7BD406D8-C5F1-415E-912F-DA9FC36F0AB9}"/>
              </a:ext>
            </a:extLst>
          </p:cNvPr>
          <p:cNvSpPr>
            <a:spLocks xmlns:a="http://schemas.openxmlformats.org/drawingml/2006/main" noGrp="1"/>
          </p:cNvSpPr>
          <p:nvPr/>
        </p:nvSpPr>
        <p:spPr>
          <a:xfrm xmlns:a="http://schemas.openxmlformats.org/drawingml/2006/main">
            <a:off x="1543050" y="28575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FAILURE · DENIAL · LATENCY</a:t>
            </a:r>
          </a:p>
        </p:txBody>
      </p:sp>
      <p:sp>
        <p:nvSpPr>
          <p:cNvPr id="15" name="">
            <a:extLst xmlns:a="http://schemas.openxmlformats.org/drawingml/2006/main">
              <a:ext uri="{FF2B5EF4-FFF2-40B4-BE49-F238E27FC236}">
                <a16:creationId xmlns:a16="http://schemas.microsoft.com/office/drawing/2014/main" id="{B8B4F8D9-E9F5-4FDD-925C-D183CBCC6848}"/>
              </a:ext>
            </a:extLst>
          </p:cNvPr>
          <p:cNvSpPr>
            <a:spLocks xmlns:a="http://schemas.openxmlformats.org/drawingml/2006/main" noGrp="1"/>
          </p:cNvSpPr>
          <p:nvPr/>
        </p:nvSpPr>
        <p:spPr>
          <a:xfrm xmlns:a="http://schemas.openxmlformats.org/drawingml/2006/main">
            <a:off x="866775" y="3276600"/>
            <a:ext cx="400050" cy="400050"/>
          </a:xfrm>
          <a:prstGeom xmlns:a="http://schemas.openxmlformats.org/drawingml/2006/main" prst="roundRect">
            <a:avLst>
              <a:gd name="adj" fmla="val 28571"/>
            </a:avLst>
          </a:prstGeom>
          <a:solidFill xmlns:a="http://schemas.openxmlformats.org/drawingml/2006/main">
            <a:srgbClr val="1769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C6A2EEB-1BDF-4B61-A846-24F198E381C7}"/>
              </a:ext>
            </a:extLst>
          </p:cNvPr>
          <p:cNvSpPr>
            <a:spLocks xmlns:a="http://schemas.openxmlformats.org/drawingml/2006/main" noGrp="1"/>
          </p:cNvSpPr>
          <p:nvPr/>
        </p:nvSpPr>
        <p:spPr>
          <a:xfrm xmlns:a="http://schemas.openxmlformats.org/drawingml/2006/main">
            <a:off x="866775" y="3400425"/>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825" b="1" i="0">
                <a:solidFill>
                  <a:srgbClr val="FFFFFF"/>
                </a:solidFill>
                <a:latin typeface="Menlo"/>
                <a:ea typeface="Menlo"/>
                <a:cs typeface="Menlo"/>
              </a:defRPr>
            </a:pPr>
            <a:r>
              <a:rPr sz="825" b="1" i="0">
                <a:solidFill>
                  <a:srgbClr val="FFFFFF"/>
                </a:solidFill>
                <a:latin typeface="Menlo"/>
                <a:ea typeface="Menlo"/>
                <a:cs typeface="Menlo"/>
              </a:rPr>
              <a:t>03</a:t>
            </a:r>
          </a:p>
        </p:txBody>
      </p:sp>
      <p:sp>
        <p:nvSpPr>
          <p:cNvPr id="17" name="">
            <a:extLst xmlns:a="http://schemas.openxmlformats.org/drawingml/2006/main">
              <a:ext uri="{FF2B5EF4-FFF2-40B4-BE49-F238E27FC236}">
                <a16:creationId xmlns:a16="http://schemas.microsoft.com/office/drawing/2014/main" id="{A5CBDFC3-EBEF-4836-8119-B63E570DA10C}"/>
              </a:ext>
            </a:extLst>
          </p:cNvPr>
          <p:cNvSpPr>
            <a:spLocks xmlns:a="http://schemas.openxmlformats.org/drawingml/2006/main" noGrp="1"/>
          </p:cNvSpPr>
          <p:nvPr/>
        </p:nvSpPr>
        <p:spPr>
          <a:xfrm xmlns:a="http://schemas.openxmlformats.org/drawingml/2006/main">
            <a:off x="1543050" y="32575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Did it matter?</a:t>
            </a:r>
          </a:p>
        </p:txBody>
      </p:sp>
      <p:sp>
        <p:nvSpPr>
          <p:cNvPr id="18" name="">
            <a:extLst xmlns:a="http://schemas.openxmlformats.org/drawingml/2006/main">
              <a:ext uri="{FF2B5EF4-FFF2-40B4-BE49-F238E27FC236}">
                <a16:creationId xmlns:a16="http://schemas.microsoft.com/office/drawing/2014/main" id="{2E6E3F81-2EDB-4472-8CEE-C61FBF9D99AF}"/>
              </a:ext>
            </a:extLst>
          </p:cNvPr>
          <p:cNvSpPr>
            <a:spLocks xmlns:a="http://schemas.openxmlformats.org/drawingml/2006/main" noGrp="1"/>
          </p:cNvSpPr>
          <p:nvPr/>
        </p:nvSpPr>
        <p:spPr>
          <a:xfrm xmlns:a="http://schemas.openxmlformats.org/drawingml/2006/main">
            <a:off x="1543050" y="359092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PAID · REFUNDED · NET</a:t>
            </a:r>
          </a:p>
        </p:txBody>
      </p:sp>
      <p:sp>
        <p:nvSpPr>
          <p:cNvPr id="19" name="">
            <a:extLst xmlns:a="http://schemas.openxmlformats.org/drawingml/2006/main">
              <a:ext uri="{FF2B5EF4-FFF2-40B4-BE49-F238E27FC236}">
                <a16:creationId xmlns:a16="http://schemas.microsoft.com/office/drawing/2014/main" id="{6B987522-8C2D-4C4D-86C7-0BE5D7826950}"/>
              </a:ext>
            </a:extLst>
          </p:cNvPr>
          <p:cNvSpPr>
            <a:spLocks xmlns:a="http://schemas.openxmlformats.org/drawingml/2006/main" noGrp="1"/>
          </p:cNvSpPr>
          <p:nvPr/>
        </p:nvSpPr>
        <p:spPr>
          <a:xfrm xmlns:a="http://schemas.openxmlformats.org/drawingml/2006/main">
            <a:off x="866775" y="4010025"/>
            <a:ext cx="400050" cy="400050"/>
          </a:xfrm>
          <a:prstGeom xmlns:a="http://schemas.openxmlformats.org/drawingml/2006/main" prst="roundRect">
            <a:avLst>
              <a:gd name="adj" fmla="val 28571"/>
            </a:avLst>
          </a:prstGeom>
          <a:solidFill xmlns:a="http://schemas.openxmlformats.org/drawingml/2006/main">
            <a:srgbClr val="1769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9B203BB-87CE-43F8-86D2-FA819E171153}"/>
              </a:ext>
            </a:extLst>
          </p:cNvPr>
          <p:cNvSpPr>
            <a:spLocks xmlns:a="http://schemas.openxmlformats.org/drawingml/2006/main" noGrp="1"/>
          </p:cNvSpPr>
          <p:nvPr/>
        </p:nvSpPr>
        <p:spPr>
          <a:xfrm xmlns:a="http://schemas.openxmlformats.org/drawingml/2006/main">
            <a:off x="866775" y="413385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825" b="1" i="0">
                <a:solidFill>
                  <a:srgbClr val="FFFFFF"/>
                </a:solidFill>
                <a:latin typeface="Menlo"/>
                <a:ea typeface="Menlo"/>
                <a:cs typeface="Menlo"/>
              </a:defRPr>
            </a:pPr>
            <a:r>
              <a:rPr sz="825" b="1" i="0">
                <a:solidFill>
                  <a:srgbClr val="FFFFFF"/>
                </a:solidFill>
                <a:latin typeface="Menlo"/>
                <a:ea typeface="Menlo"/>
                <a:cs typeface="Menlo"/>
              </a:rPr>
              <a:t>04</a:t>
            </a:r>
          </a:p>
        </p:txBody>
      </p:sp>
      <p:sp>
        <p:nvSpPr>
          <p:cNvPr id="21" name="">
            <a:extLst xmlns:a="http://schemas.openxmlformats.org/drawingml/2006/main">
              <a:ext uri="{FF2B5EF4-FFF2-40B4-BE49-F238E27FC236}">
                <a16:creationId xmlns:a16="http://schemas.microsoft.com/office/drawing/2014/main" id="{44E0907A-66E6-4641-8BA1-7632004EFE69}"/>
              </a:ext>
            </a:extLst>
          </p:cNvPr>
          <p:cNvSpPr>
            <a:spLocks xmlns:a="http://schemas.openxmlformats.org/drawingml/2006/main" noGrp="1"/>
          </p:cNvSpPr>
          <p:nvPr/>
        </p:nvSpPr>
        <p:spPr>
          <a:xfrm xmlns:a="http://schemas.openxmlformats.org/drawingml/2006/main">
            <a:off x="1543050" y="39909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What is missing?</a:t>
            </a:r>
          </a:p>
        </p:txBody>
      </p:sp>
      <p:sp>
        <p:nvSpPr>
          <p:cNvPr id="22" name="">
            <a:extLst xmlns:a="http://schemas.openxmlformats.org/drawingml/2006/main">
              <a:ext uri="{FF2B5EF4-FFF2-40B4-BE49-F238E27FC236}">
                <a16:creationId xmlns:a16="http://schemas.microsoft.com/office/drawing/2014/main" id="{A284B02F-A558-4641-BF0D-D07FE801933F}"/>
              </a:ext>
            </a:extLst>
          </p:cNvPr>
          <p:cNvSpPr>
            <a:spLocks xmlns:a="http://schemas.openxmlformats.org/drawingml/2006/main" noGrp="1"/>
          </p:cNvSpPr>
          <p:nvPr/>
        </p:nvSpPr>
        <p:spPr>
          <a:xfrm xmlns:a="http://schemas.openxmlformats.org/drawingml/2006/main">
            <a:off x="1543050" y="43243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OBSERVED DEMAND · AGENT FEEDBACK</a:t>
            </a:r>
          </a:p>
        </p:txBody>
      </p:sp>
      <p:sp>
        <p:nvSpPr>
          <p:cNvPr id="23" name="">
            <a:extLst xmlns:a="http://schemas.openxmlformats.org/drawingml/2006/main">
              <a:ext uri="{FF2B5EF4-FFF2-40B4-BE49-F238E27FC236}">
                <a16:creationId xmlns:a16="http://schemas.microsoft.com/office/drawing/2014/main" id="{0984F2CF-D070-4F8D-B9DD-DB294E3A7E17}"/>
              </a:ext>
            </a:extLst>
          </p:cNvPr>
          <p:cNvSpPr>
            <a:spLocks xmlns:a="http://schemas.openxmlformats.org/drawingml/2006/main" noGrp="1"/>
          </p:cNvSpPr>
          <p:nvPr/>
        </p:nvSpPr>
        <p:spPr>
          <a:xfrm xmlns:a="http://schemas.openxmlformats.org/drawingml/2006/main">
            <a:off x="866775" y="4743450"/>
            <a:ext cx="400050" cy="400050"/>
          </a:xfrm>
          <a:prstGeom xmlns:a="http://schemas.openxmlformats.org/drawingml/2006/main" prst="roundRect">
            <a:avLst>
              <a:gd name="adj" fmla="val 28571"/>
            </a:avLst>
          </a:prstGeom>
          <a:solidFill xmlns:a="http://schemas.openxmlformats.org/drawingml/2006/main">
            <a:srgbClr val="1769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91FCE5F-E792-4194-BC46-D305CB272B34}"/>
              </a:ext>
            </a:extLst>
          </p:cNvPr>
          <p:cNvSpPr>
            <a:spLocks xmlns:a="http://schemas.openxmlformats.org/drawingml/2006/main" noGrp="1"/>
          </p:cNvSpPr>
          <p:nvPr/>
        </p:nvSpPr>
        <p:spPr>
          <a:xfrm xmlns:a="http://schemas.openxmlformats.org/drawingml/2006/main">
            <a:off x="866775" y="4867275"/>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825" b="1" i="0">
                <a:solidFill>
                  <a:srgbClr val="FFFFFF"/>
                </a:solidFill>
                <a:latin typeface="Menlo"/>
                <a:ea typeface="Menlo"/>
                <a:cs typeface="Menlo"/>
              </a:defRPr>
            </a:pPr>
            <a:r>
              <a:rPr sz="825" b="1" i="0">
                <a:solidFill>
                  <a:srgbClr val="FFFFFF"/>
                </a:solidFill>
                <a:latin typeface="Menlo"/>
                <a:ea typeface="Menlo"/>
                <a:cs typeface="Menlo"/>
              </a:rPr>
              <a:t>05</a:t>
            </a:r>
          </a:p>
        </p:txBody>
      </p:sp>
      <p:sp>
        <p:nvSpPr>
          <p:cNvPr id="25" name="">
            <a:extLst xmlns:a="http://schemas.openxmlformats.org/drawingml/2006/main">
              <a:ext uri="{FF2B5EF4-FFF2-40B4-BE49-F238E27FC236}">
                <a16:creationId xmlns:a16="http://schemas.microsoft.com/office/drawing/2014/main" id="{63B0682D-1427-41B3-82DB-147D087C56D3}"/>
              </a:ext>
            </a:extLst>
          </p:cNvPr>
          <p:cNvSpPr>
            <a:spLocks xmlns:a="http://schemas.openxmlformats.org/drawingml/2006/main" noGrp="1"/>
          </p:cNvSpPr>
          <p:nvPr/>
        </p:nvSpPr>
        <p:spPr>
          <a:xfrm xmlns:a="http://schemas.openxmlformats.org/drawingml/2006/main">
            <a:off x="1543050" y="47244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What changes next?</a:t>
            </a:r>
          </a:p>
        </p:txBody>
      </p:sp>
      <p:sp>
        <p:nvSpPr>
          <p:cNvPr id="26" name="">
            <a:extLst xmlns:a="http://schemas.openxmlformats.org/drawingml/2006/main">
              <a:ext uri="{FF2B5EF4-FFF2-40B4-BE49-F238E27FC236}">
                <a16:creationId xmlns:a16="http://schemas.microsoft.com/office/drawing/2014/main" id="{53DB5D56-7281-4F56-968D-0C5FC89A3327}"/>
              </a:ext>
            </a:extLst>
          </p:cNvPr>
          <p:cNvSpPr>
            <a:spLocks xmlns:a="http://schemas.openxmlformats.org/drawingml/2006/main" noGrp="1"/>
          </p:cNvSpPr>
          <p:nvPr/>
        </p:nvSpPr>
        <p:spPr>
          <a:xfrm xmlns:a="http://schemas.openxmlformats.org/drawingml/2006/main">
            <a:off x="1543050" y="505777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SESSION OR SITE POLICY</a:t>
            </a:r>
          </a:p>
        </p:txBody>
      </p:sp>
      <p:sp>
        <p:nvSpPr>
          <p:cNvPr id="27" name="">
            <a:extLst xmlns:a="http://schemas.openxmlformats.org/drawingml/2006/main">
              <a:ext uri="{FF2B5EF4-FFF2-40B4-BE49-F238E27FC236}">
                <a16:creationId xmlns:a16="http://schemas.microsoft.com/office/drawing/2014/main" id="{4BCD8BBC-EEDE-4134-89BC-B3773AF8D1E8}"/>
              </a:ext>
            </a:extLst>
          </p:cNvPr>
          <p:cNvSpPr>
            <a:spLocks xmlns:a="http://schemas.openxmlformats.org/drawingml/2006/main" noGrp="1"/>
          </p:cNvSpPr>
          <p:nvPr/>
        </p:nvSpPr>
        <p:spPr>
          <a:xfrm xmlns:a="http://schemas.openxmlformats.org/drawingml/2006/main">
            <a:off x="6667500" y="1952625"/>
            <a:ext cx="4591050" cy="3162300"/>
          </a:xfrm>
          <a:prstGeom xmlns:a="http://schemas.openxmlformats.org/drawingml/2006/main" prst="roundRect">
            <a:avLst>
              <a:gd name="adj" fmla="val 3614"/>
            </a:avLst>
          </a:prstGeom>
          <a:solidFill xmlns:a="http://schemas.openxmlformats.org/drawingml/2006/main">
            <a:srgbClr val="111111"/>
          </a:solidFill>
          <a:ln xmlns:a="http://schemas.openxmlformats.org/drawingml/2006/main" w="9525">
            <a:solidFill>
              <a:srgbClr val="111111"/>
            </a:solidFill>
            <a:prstDash val="solid"/>
          </a:ln>
        </p:spPr>
      </p:sp>
      <p:sp>
        <p:nvSpPr>
          <p:cNvPr id="28" name="">
            <a:extLst xmlns:a="http://schemas.openxmlformats.org/drawingml/2006/main">
              <a:ext uri="{FF2B5EF4-FFF2-40B4-BE49-F238E27FC236}">
                <a16:creationId xmlns:a16="http://schemas.microsoft.com/office/drawing/2014/main" id="{7352F084-42B1-4C54-8E52-C6861992BDBA}"/>
              </a:ext>
            </a:extLst>
          </p:cNvPr>
          <p:cNvSpPr>
            <a:spLocks xmlns:a="http://schemas.openxmlformats.org/drawingml/2006/main" noGrp="1"/>
          </p:cNvSpPr>
          <p:nvPr/>
        </p:nvSpPr>
        <p:spPr>
          <a:xfrm xmlns:a="http://schemas.openxmlformats.org/drawingml/2006/main">
            <a:off x="6953250" y="22383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DCE8FF"/>
                </a:solidFill>
                <a:latin typeface="Menlo"/>
                <a:ea typeface="Menlo"/>
                <a:cs typeface="Menlo"/>
              </a:defRPr>
            </a:pPr>
            <a:r>
              <a:rPr sz="975" b="1" i="0">
                <a:solidFill>
                  <a:srgbClr val="DCE8FF"/>
                </a:solidFill>
                <a:latin typeface="Menlo"/>
                <a:ea typeface="Menlo"/>
                <a:cs typeface="Menlo"/>
              </a:rPr>
              <a:t>PROVEN NOW</a:t>
            </a:r>
          </a:p>
        </p:txBody>
      </p:sp>
      <p:sp>
        <p:nvSpPr>
          <p:cNvPr id="29" name="">
            <a:extLst xmlns:a="http://schemas.openxmlformats.org/drawingml/2006/main">
              <a:ext uri="{FF2B5EF4-FFF2-40B4-BE49-F238E27FC236}">
                <a16:creationId xmlns:a16="http://schemas.microsoft.com/office/drawing/2014/main" id="{04A728AE-B6DC-4406-9019-6B025444FED8}"/>
              </a:ext>
            </a:extLst>
          </p:cNvPr>
          <p:cNvSpPr>
            <a:spLocks xmlns:a="http://schemas.openxmlformats.org/drawingml/2006/main" noGrp="1"/>
          </p:cNvSpPr>
          <p:nvPr/>
        </p:nvSpPr>
        <p:spPr>
          <a:xfrm xmlns:a="http://schemas.openxmlformats.org/drawingml/2006/main">
            <a:off x="6953250" y="2600325"/>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00" b="1" i="0">
                <a:solidFill>
                  <a:srgbClr val="FFFFFF"/>
                </a:solidFill>
                <a:latin typeface="Helvetica Neue"/>
                <a:ea typeface="Helvetica Neue"/>
                <a:cs typeface="Helvetica Neue"/>
              </a:defRPr>
            </a:pPr>
            <a:r>
              <a:rPr sz="2700" b="1" i="0">
                <a:solidFill>
                  <a:srgbClr val="FFFFFF"/>
                </a:solidFill>
                <a:latin typeface="Helvetica Neue"/>
                <a:ea typeface="Helvetica Neue"/>
                <a:cs typeface="Helvetica Neue"/>
              </a:rPr>
              <a:t>Commerce</a:t>
            </a:r>
          </a:p>
        </p:txBody>
      </p:sp>
      <p:cxnSp>
        <p:nvCxnSpPr>
          <p:cNvPr id="513" name=""/>
          <p:cNvCxnSpPr/>
          <p:nvPr/>
        </p:nvCxnSpPr>
        <p:spPr>
          <a:xfrm xmlns:a="http://schemas.openxmlformats.org/drawingml/2006/main">
            <a:off x="6953250" y="3248025"/>
            <a:ext cx="3714750" cy="0"/>
          </a:xfrm>
          <a:prstGeom xmlns:a="http://schemas.openxmlformats.org/drawingml/2006/main" prst="straightConnector1">
            <a:avLst/>
          </a:prstGeom>
          <a:ln xmlns:a="http://schemas.openxmlformats.org/drawingml/2006/main" w="9525">
            <a:solidFill>
              <a:srgbClr val="4A5260"/>
            </a:solidFill>
            <a:prstDash val="solid"/>
          </a:ln>
        </p:spPr>
      </p:cxnSp>
      <p:sp>
        <p:nvSpPr>
          <p:cNvPr id="31" name="">
            <a:extLst xmlns:a="http://schemas.openxmlformats.org/drawingml/2006/main">
              <a:ext uri="{FF2B5EF4-FFF2-40B4-BE49-F238E27FC236}">
                <a16:creationId xmlns:a16="http://schemas.microsoft.com/office/drawing/2014/main" id="{724B710B-93AD-4F55-860C-8F692366B170}"/>
              </a:ext>
            </a:extLst>
          </p:cNvPr>
          <p:cNvSpPr>
            <a:spLocks xmlns:a="http://schemas.openxmlformats.org/drawingml/2006/main" noGrp="1"/>
          </p:cNvSpPr>
          <p:nvPr/>
        </p:nvSpPr>
        <p:spPr>
          <a:xfrm xmlns:a="http://schemas.openxmlformats.org/drawingml/2006/main">
            <a:off x="6953250" y="353377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AEB5BE"/>
                </a:solidFill>
                <a:latin typeface="Menlo"/>
                <a:ea typeface="Menlo"/>
                <a:cs typeface="Menlo"/>
              </a:defRPr>
            </a:pPr>
            <a:r>
              <a:rPr sz="975" b="1" i="0">
                <a:solidFill>
                  <a:srgbClr val="AEB5BE"/>
                </a:solidFill>
                <a:latin typeface="Menlo"/>
                <a:ea typeface="Menlo"/>
                <a:cs typeface="Menlo"/>
              </a:rPr>
              <a:t>THE SAME PATTERN EXTENDS TO</a:t>
            </a:r>
          </a:p>
        </p:txBody>
      </p:sp>
      <p:sp>
        <p:nvSpPr>
          <p:cNvPr id="32" name="">
            <a:extLst xmlns:a="http://schemas.openxmlformats.org/drawingml/2006/main">
              <a:ext uri="{FF2B5EF4-FFF2-40B4-BE49-F238E27FC236}">
                <a16:creationId xmlns:a16="http://schemas.microsoft.com/office/drawing/2014/main" id="{EA0685BA-B383-4726-A0BD-88A9CEA8E137}"/>
              </a:ext>
            </a:extLst>
          </p:cNvPr>
          <p:cNvSpPr>
            <a:spLocks xmlns:a="http://schemas.openxmlformats.org/drawingml/2006/main" noGrp="1"/>
          </p:cNvSpPr>
          <p:nvPr/>
        </p:nvSpPr>
        <p:spPr>
          <a:xfrm xmlns:a="http://schemas.openxmlformats.org/drawingml/2006/main">
            <a:off x="6953250" y="3886200"/>
            <a:ext cx="3714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750"/>
          </a:bodyPr>
          <a:lstStyle xmlns:a="http://schemas.openxmlformats.org/drawingml/2006/main"/>
          <a:p xmlns:a="http://schemas.openxmlformats.org/drawingml/2006/main">
            <a:pPr algn="l">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Bookings</a:t>
            </a:r>
          </a:p>
          <a:p xmlns:a="http://schemas.openxmlformats.org/drawingml/2006/main">
            <a:pPr algn="l">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Support</a:t>
            </a:r>
          </a:p>
          <a:p xmlns:a="http://schemas.openxmlformats.org/drawingml/2006/main">
            <a:pPr algn="l">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Learning</a:t>
            </a:r>
          </a:p>
          <a:p xmlns:a="http://schemas.openxmlformats.org/drawingml/2006/main">
            <a:pPr algn="l">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Memberships</a:t>
            </a:r>
          </a:p>
        </p:txBody>
      </p:sp>
      <p:sp>
        <p:nvSpPr>
          <p:cNvPr id="33" name="">
            <a:extLst xmlns:a="http://schemas.openxmlformats.org/drawingml/2006/main">
              <a:ext uri="{FF2B5EF4-FFF2-40B4-BE49-F238E27FC236}">
                <a16:creationId xmlns:a16="http://schemas.microsoft.com/office/drawing/2014/main" id="{97471E82-3677-49C6-8FC7-0A2AE03A63E0}"/>
              </a:ext>
            </a:extLst>
          </p:cNvPr>
          <p:cNvSpPr>
            <a:spLocks xmlns:a="http://schemas.openxmlformats.org/drawingml/2006/main" noGrp="1"/>
          </p:cNvSpPr>
          <p:nvPr/>
        </p:nvSpPr>
        <p:spPr>
          <a:xfrm xmlns:a="http://schemas.openxmlformats.org/drawingml/2006/main">
            <a:off x="6667500" y="5391150"/>
            <a:ext cx="459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EXTENSIONS OF THE PATTERN—NOT V0.1 CLAIMS.</a:t>
            </a:r>
          </a:p>
        </p:txBody>
      </p:sp>
    </p:spTree>
    <p:extLst>
      <p:ext uri="{BB962C8B-B14F-4D97-AF65-F5344CB8AC3E}">
        <p14:creationId xmlns:p14="http://schemas.microsoft.com/office/powerpoint/2010/main" val="834199393"/>
      </p:ext>
    </p:extLst>
  </p:cSld>
</p:sld>
</file>

<file path=ppt/slides/slide7.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2F206D1-68DC-4170-A572-6962F88878FB}"/>
              </a:ext>
            </a:extLst>
          </p:cNvPr>
          <p:cNvSpPr>
            <a:spLocks xmlns:a="http://schemas.openxmlformats.org/drawingml/2006/main" noGrp="1"/>
          </p:cNvSpPr>
          <p:nvPr/>
        </p:nvSpPr>
        <p:spPr>
          <a:xfrm xmlns:a="http://schemas.openxmlformats.org/drawingml/2006/main">
            <a:off x="533400" y="381000"/>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THE LIVE DEMO</a:t>
            </a:r>
          </a:p>
        </p:txBody>
      </p:sp>
      <p:sp>
        <p:nvSpPr>
          <p:cNvPr id="2" name="">
            <a:extLst xmlns:a="http://schemas.openxmlformats.org/drawingml/2006/main">
              <a:ext uri="{FF2B5EF4-FFF2-40B4-BE49-F238E27FC236}">
                <a16:creationId xmlns:a16="http://schemas.microsoft.com/office/drawing/2014/main" id="{C6D08B40-9DED-4FCC-9DF8-6C0A927779A6}"/>
              </a:ext>
            </a:extLst>
          </p:cNvPr>
          <p:cNvSpPr>
            <a:spLocks xmlns:a="http://schemas.openxmlformats.org/drawingml/2006/main" noGrp="1"/>
          </p:cNvSpPr>
          <p:nvPr/>
        </p:nvSpPr>
        <p:spPr>
          <a:xfrm xmlns:a="http://schemas.openxmlformats.org/drawingml/2006/main">
            <a:off x="533400" y="723900"/>
            <a:ext cx="11125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154"/>
          </a:bodyPr>
          <a:lstStyle xmlns:a="http://schemas.openxmlformats.org/drawingml/2006/main"/>
          <a:p xmlns:a="http://schemas.openxmlformats.org/drawingml/2006/main">
            <a:pPr algn="l">
              <a:buNone/>
              <a:defRPr sz="2925" b="1" i="0">
                <a:solidFill>
                  <a:srgbClr val="111111"/>
                </a:solidFill>
                <a:latin typeface="Helvetica Neue"/>
                <a:ea typeface="Helvetica Neue"/>
                <a:cs typeface="Helvetica Neue"/>
              </a:defRPr>
            </a:pPr>
            <a:r>
              <a:rPr sz="2925" b="1" i="0">
                <a:solidFill>
                  <a:srgbClr val="111111"/>
                </a:solidFill>
                <a:latin typeface="Helvetica Neue"/>
                <a:ea typeface="Helvetica Neue"/>
                <a:cs typeface="Helvetica Neue"/>
              </a:rPr>
              <a:t>One clean session tests discovery, missed demand, feedback, proof, and control.</a:t>
            </a:r>
          </a:p>
        </p:txBody>
      </p:sp>
      <p:cxnSp>
        <p:nvCxnSpPr>
          <p:cNvPr id="87" name=""/>
          <p:cNvCxnSpPr/>
          <p:nvPr/>
        </p:nvCxnSpPr>
        <p:spPr>
          <a:xfrm xmlns:a="http://schemas.openxmlformats.org/drawingml/2006/main">
            <a:off x="533400" y="6457950"/>
            <a:ext cx="11125200" cy="0"/>
          </a:xfrm>
          <a:prstGeom xmlns:a="http://schemas.openxmlformats.org/drawingml/2006/main" prst="straightConnector1">
            <a:avLst/>
          </a:prstGeom>
          <a:ln xmlns:a="http://schemas.openxmlformats.org/drawingml/2006/main" w="9525">
            <a:solidFill>
              <a:srgbClr val="D1D5D8"/>
            </a:solidFill>
            <a:prstDash val="solid"/>
          </a:ln>
        </p:spPr>
      </p:cxnSp>
      <p:sp>
        <p:nvSpPr>
          <p:cNvPr id="4" name="">
            <a:extLst xmlns:a="http://schemas.openxmlformats.org/drawingml/2006/main">
              <a:ext uri="{FF2B5EF4-FFF2-40B4-BE49-F238E27FC236}">
                <a16:creationId xmlns:a16="http://schemas.microsoft.com/office/drawing/2014/main" id="{35FFFC05-70F6-4021-ABC2-41F3F496EDAF}"/>
              </a:ext>
            </a:extLst>
          </p:cNvPr>
          <p:cNvSpPr>
            <a:spLocks xmlns:a="http://schemas.openxmlformats.org/drawingml/2006/main" noGrp="1"/>
          </p:cNvSpPr>
          <p:nvPr/>
        </p:nvSpPr>
        <p:spPr>
          <a:xfrm xmlns:a="http://schemas.openxmlformats.org/drawingml/2006/main">
            <a:off x="533400" y="6553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AGENT SNR · HACKATHON DEMO</a:t>
            </a:r>
          </a:p>
        </p:txBody>
      </p:sp>
      <p:sp>
        <p:nvSpPr>
          <p:cNvPr id="5" name="">
            <a:extLst xmlns:a="http://schemas.openxmlformats.org/drawingml/2006/main">
              <a:ext uri="{FF2B5EF4-FFF2-40B4-BE49-F238E27FC236}">
                <a16:creationId xmlns:a16="http://schemas.microsoft.com/office/drawing/2014/main" id="{BEA235CA-1E92-4CE1-8624-A4E0FBBBDA87}"/>
              </a:ext>
            </a:extLst>
          </p:cNvPr>
          <p:cNvSpPr>
            <a:spLocks xmlns:a="http://schemas.openxmlformats.org/drawingml/2006/main" noGrp="1"/>
          </p:cNvSpPr>
          <p:nvPr/>
        </p:nvSpPr>
        <p:spPr>
          <a:xfrm xmlns:a="http://schemas.openxmlformats.org/drawingml/2006/main">
            <a:off x="11049000" y="65341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1" i="0">
                <a:solidFill>
                  <a:srgbClr val="5E666D"/>
                </a:solidFill>
                <a:latin typeface="Menlo"/>
                <a:ea typeface="Menlo"/>
                <a:cs typeface="Menlo"/>
              </a:defRPr>
            </a:pPr>
            <a:r>
              <a:rPr sz="975" b="1" i="0">
                <a:solidFill>
                  <a:srgbClr val="5E666D"/>
                </a:solidFill>
                <a:latin typeface="Menlo"/>
                <a:ea typeface="Menlo"/>
                <a:cs typeface="Menlo"/>
              </a:rPr>
              <a:t>07</a:t>
            </a:r>
          </a:p>
        </p:txBody>
      </p:sp>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d6f0b2cf31194814"/>
          <a:srcRect xmlns:a="http://schemas.openxmlformats.org/drawingml/2006/main" l="11607" t="0" r="11607" b="0"/>
          <a:stretch xmlns:a="http://schemas.openxmlformats.org/drawingml/2006/main">
            <a:fillRect l="0" t="0" r="0" b="0"/>
          </a:stretch>
        </p:blipFill>
        <p:spPr>
          <a:xfrm xmlns:a="http://schemas.openxmlformats.org/drawingml/2006/main" flipH="0" flipV="0">
            <a:off x="6743700" y="1600200"/>
            <a:ext cx="4914900" cy="4000500"/>
          </a:xfrm>
          <a:prstGeom xmlns:a="http://schemas.openxmlformats.org/drawingml/2006/main" prst="roundRect">
            <a:avLst/>
          </a:prstGeom>
        </p:spPr>
      </p:pic>
      <p:sp>
        <p:nvSpPr>
          <p:cNvPr id="7" name="">
            <a:extLst xmlns:a="http://schemas.openxmlformats.org/drawingml/2006/main">
              <a:ext uri="{FF2B5EF4-FFF2-40B4-BE49-F238E27FC236}">
                <a16:creationId xmlns:a16="http://schemas.microsoft.com/office/drawing/2014/main" id="{582F6D94-58FE-42C3-8B99-1CBADD1D9A21}"/>
              </a:ext>
            </a:extLst>
          </p:cNvPr>
          <p:cNvSpPr>
            <a:spLocks xmlns:a="http://schemas.openxmlformats.org/drawingml/2006/main" noGrp="1"/>
          </p:cNvSpPr>
          <p:nvPr/>
        </p:nvSpPr>
        <p:spPr>
          <a:xfrm xmlns:a="http://schemas.openxmlformats.org/drawingml/2006/main">
            <a:off x="533400" y="1752600"/>
            <a:ext cx="495300" cy="495300"/>
          </a:xfrm>
          <a:prstGeom xmlns:a="http://schemas.openxmlformats.org/drawingml/2006/main" prst="roundRect">
            <a:avLst>
              <a:gd name="adj" fmla="val 23077"/>
            </a:avLst>
          </a:prstGeom>
          <a:solidFill xmlns:a="http://schemas.openxmlformats.org/drawingml/2006/main">
            <a:srgbClr val="11111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BA41FE9-CA85-4939-BCB0-689FD4492324}"/>
              </a:ext>
            </a:extLst>
          </p:cNvPr>
          <p:cNvSpPr>
            <a:spLocks xmlns:a="http://schemas.openxmlformats.org/drawingml/2006/main" noGrp="1"/>
          </p:cNvSpPr>
          <p:nvPr/>
        </p:nvSpPr>
        <p:spPr>
          <a:xfrm xmlns:a="http://schemas.openxmlformats.org/drawingml/2006/main">
            <a:off x="533400" y="19240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00" b="1" i="0">
                <a:solidFill>
                  <a:srgbClr val="FFFFFF"/>
                </a:solidFill>
                <a:latin typeface="Menlo"/>
                <a:ea typeface="Menlo"/>
                <a:cs typeface="Menlo"/>
              </a:defRPr>
            </a:pPr>
            <a:r>
              <a:rPr sz="900" b="1" i="0">
                <a:solidFill>
                  <a:srgbClr val="FFFFFF"/>
                </a:solidFill>
                <a:latin typeface="Menlo"/>
                <a:ea typeface="Menlo"/>
                <a:cs typeface="Menlo"/>
              </a:rPr>
              <a:t>01</a:t>
            </a:r>
          </a:p>
        </p:txBody>
      </p:sp>
      <p:sp>
        <p:nvSpPr>
          <p:cNvPr id="9" name="">
            <a:extLst xmlns:a="http://schemas.openxmlformats.org/drawingml/2006/main">
              <a:ext uri="{FF2B5EF4-FFF2-40B4-BE49-F238E27FC236}">
                <a16:creationId xmlns:a16="http://schemas.microsoft.com/office/drawing/2014/main" id="{14BC8C0B-17F2-4E0D-9067-F5DAF967A530}"/>
              </a:ext>
            </a:extLst>
          </p:cNvPr>
          <p:cNvSpPr>
            <a:spLocks xmlns:a="http://schemas.openxmlformats.org/drawingml/2006/main" noGrp="1"/>
          </p:cNvSpPr>
          <p:nvPr/>
        </p:nvSpPr>
        <p:spPr>
          <a:xfrm xmlns:a="http://schemas.openxmlformats.org/drawingml/2006/main">
            <a:off x="1257300" y="17716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START HERE</a:t>
            </a:r>
          </a:p>
        </p:txBody>
      </p:sp>
      <p:sp>
        <p:nvSpPr>
          <p:cNvPr id="10" name="">
            <a:extLst xmlns:a="http://schemas.openxmlformats.org/drawingml/2006/main">
              <a:ext uri="{FF2B5EF4-FFF2-40B4-BE49-F238E27FC236}">
                <a16:creationId xmlns:a16="http://schemas.microsoft.com/office/drawing/2014/main" id="{1ACDCE1F-640F-4DD7-AF03-D4C6A7C3124F}"/>
              </a:ext>
            </a:extLst>
          </p:cNvPr>
          <p:cNvSpPr>
            <a:spLocks xmlns:a="http://schemas.openxmlformats.org/drawingml/2006/main" noGrp="1"/>
          </p:cNvSpPr>
          <p:nvPr/>
        </p:nvSpPr>
        <p:spPr>
          <a:xfrm xmlns:a="http://schemas.openxmlformats.org/drawingml/2006/main">
            <a:off x="1257300" y="20383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i="0">
                <a:solidFill>
                  <a:srgbClr val="111111"/>
                </a:solidFill>
                <a:latin typeface="Helvetica Neue"/>
                <a:ea typeface="Helvetica Neue"/>
                <a:cs typeface="Helvetica Neue"/>
              </a:defRPr>
            </a:pPr>
            <a:r>
              <a:rPr sz="1425" b="1" i="0">
                <a:solidFill>
                  <a:srgbClr val="111111"/>
                </a:solidFill>
                <a:latin typeface="Helvetica Neue"/>
                <a:ea typeface="Helvetica Neue"/>
                <a:cs typeface="Helvetica Neue"/>
              </a:rPr>
              <a:t>Read the Agent Guide</a:t>
            </a:r>
          </a:p>
        </p:txBody>
      </p:sp>
      <p:sp>
        <p:nvSpPr>
          <p:cNvPr id="11" name="">
            <a:extLst xmlns:a="http://schemas.openxmlformats.org/drawingml/2006/main">
              <a:ext uri="{FF2B5EF4-FFF2-40B4-BE49-F238E27FC236}">
                <a16:creationId xmlns:a16="http://schemas.microsoft.com/office/drawing/2014/main" id="{BAE315D3-BBEF-4905-A807-343672E71F65}"/>
              </a:ext>
            </a:extLst>
          </p:cNvPr>
          <p:cNvSpPr>
            <a:spLocks xmlns:a="http://schemas.openxmlformats.org/drawingml/2006/main" noGrp="1"/>
          </p:cNvSpPr>
          <p:nvPr/>
        </p:nvSpPr>
        <p:spPr>
          <a:xfrm xmlns:a="http://schemas.openxmlformats.org/drawingml/2006/main">
            <a:off x="533400" y="2724150"/>
            <a:ext cx="495300" cy="495300"/>
          </a:xfrm>
          <a:prstGeom xmlns:a="http://schemas.openxmlformats.org/drawingml/2006/main" prst="roundRect">
            <a:avLst>
              <a:gd name="adj" fmla="val 23077"/>
            </a:avLst>
          </a:prstGeom>
          <a:solidFill xmlns:a="http://schemas.openxmlformats.org/drawingml/2006/main">
            <a:srgbClr val="11111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5E35485-E299-492B-9CE8-F9AB1C9E9352}"/>
              </a:ext>
            </a:extLst>
          </p:cNvPr>
          <p:cNvSpPr>
            <a:spLocks xmlns:a="http://schemas.openxmlformats.org/drawingml/2006/main" noGrp="1"/>
          </p:cNvSpPr>
          <p:nvPr/>
        </p:nvSpPr>
        <p:spPr>
          <a:xfrm xmlns:a="http://schemas.openxmlformats.org/drawingml/2006/main">
            <a:off x="533400" y="28956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00" b="1" i="0">
                <a:solidFill>
                  <a:srgbClr val="FFFFFF"/>
                </a:solidFill>
                <a:latin typeface="Menlo"/>
                <a:ea typeface="Menlo"/>
                <a:cs typeface="Menlo"/>
              </a:defRPr>
            </a:pPr>
            <a:r>
              <a:rPr sz="900" b="1" i="0">
                <a:solidFill>
                  <a:srgbClr val="FFFFFF"/>
                </a:solidFill>
                <a:latin typeface="Menlo"/>
                <a:ea typeface="Menlo"/>
                <a:cs typeface="Menlo"/>
              </a:rPr>
              <a:t>02</a:t>
            </a:r>
          </a:p>
        </p:txBody>
      </p:sp>
      <p:sp>
        <p:nvSpPr>
          <p:cNvPr id="13" name="">
            <a:extLst xmlns:a="http://schemas.openxmlformats.org/drawingml/2006/main">
              <a:ext uri="{FF2B5EF4-FFF2-40B4-BE49-F238E27FC236}">
                <a16:creationId xmlns:a16="http://schemas.microsoft.com/office/drawing/2014/main" id="{54864E8A-F208-4E16-9E10-8FC5F5A9BCB5}"/>
              </a:ext>
            </a:extLst>
          </p:cNvPr>
          <p:cNvSpPr>
            <a:spLocks xmlns:a="http://schemas.openxmlformats.org/drawingml/2006/main" noGrp="1"/>
          </p:cNvSpPr>
          <p:nvPr/>
        </p:nvSpPr>
        <p:spPr>
          <a:xfrm xmlns:a="http://schemas.openxmlformats.org/drawingml/2006/main">
            <a:off x="1257300" y="27432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OBSERVE</a:t>
            </a:r>
          </a:p>
        </p:txBody>
      </p:sp>
      <p:sp>
        <p:nvSpPr>
          <p:cNvPr id="14" name="">
            <a:extLst xmlns:a="http://schemas.openxmlformats.org/drawingml/2006/main">
              <a:ext uri="{FF2B5EF4-FFF2-40B4-BE49-F238E27FC236}">
                <a16:creationId xmlns:a16="http://schemas.microsoft.com/office/drawing/2014/main" id="{0CE627F9-BE03-41D8-B943-073D68D5EE19}"/>
              </a:ext>
            </a:extLst>
          </p:cNvPr>
          <p:cNvSpPr>
            <a:spLocks xmlns:a="http://schemas.openxmlformats.org/drawingml/2006/main" noGrp="1"/>
          </p:cNvSpPr>
          <p:nvPr/>
        </p:nvSpPr>
        <p:spPr>
          <a:xfrm xmlns:a="http://schemas.openxmlformats.org/drawingml/2006/main">
            <a:off x="1257300" y="30099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i="0">
                <a:solidFill>
                  <a:srgbClr val="111111"/>
                </a:solidFill>
                <a:latin typeface="Helvetica Neue"/>
                <a:ea typeface="Helvetica Neue"/>
                <a:cs typeface="Helvetica Neue"/>
              </a:defRPr>
            </a:pPr>
            <a:r>
              <a:rPr sz="1425" b="1" i="0">
                <a:solidFill>
                  <a:srgbClr val="111111"/>
                </a:solidFill>
                <a:latin typeface="Helvetica Neue"/>
                <a:ea typeface="Helvetica Neue"/>
                <a:cs typeface="Helvetica Neue"/>
              </a:rPr>
              <a:t>IPX5 search → zero; relax</a:t>
            </a:r>
          </a:p>
        </p:txBody>
      </p:sp>
      <p:sp>
        <p:nvSpPr>
          <p:cNvPr id="15" name="">
            <a:extLst xmlns:a="http://schemas.openxmlformats.org/drawingml/2006/main">
              <a:ext uri="{FF2B5EF4-FFF2-40B4-BE49-F238E27FC236}">
                <a16:creationId xmlns:a16="http://schemas.microsoft.com/office/drawing/2014/main" id="{028A6694-AE5D-4207-9156-884194ADCA60}"/>
              </a:ext>
            </a:extLst>
          </p:cNvPr>
          <p:cNvSpPr>
            <a:spLocks xmlns:a="http://schemas.openxmlformats.org/drawingml/2006/main" noGrp="1"/>
          </p:cNvSpPr>
          <p:nvPr/>
        </p:nvSpPr>
        <p:spPr>
          <a:xfrm xmlns:a="http://schemas.openxmlformats.org/drawingml/2006/main">
            <a:off x="533400" y="3695700"/>
            <a:ext cx="495300" cy="495300"/>
          </a:xfrm>
          <a:prstGeom xmlns:a="http://schemas.openxmlformats.org/drawingml/2006/main" prst="roundRect">
            <a:avLst>
              <a:gd name="adj" fmla="val 23077"/>
            </a:avLst>
          </a:prstGeom>
          <a:solidFill xmlns:a="http://schemas.openxmlformats.org/drawingml/2006/main">
            <a:srgbClr val="11111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29481B5-2D99-4937-BB72-D32153B0A452}"/>
              </a:ext>
            </a:extLst>
          </p:cNvPr>
          <p:cNvSpPr>
            <a:spLocks xmlns:a="http://schemas.openxmlformats.org/drawingml/2006/main" noGrp="1"/>
          </p:cNvSpPr>
          <p:nvPr/>
        </p:nvSpPr>
        <p:spPr>
          <a:xfrm xmlns:a="http://schemas.openxmlformats.org/drawingml/2006/main">
            <a:off x="533400" y="38671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00" b="1" i="0">
                <a:solidFill>
                  <a:srgbClr val="FFFFFF"/>
                </a:solidFill>
                <a:latin typeface="Menlo"/>
                <a:ea typeface="Menlo"/>
                <a:cs typeface="Menlo"/>
              </a:defRPr>
            </a:pPr>
            <a:r>
              <a:rPr sz="900" b="1" i="0">
                <a:solidFill>
                  <a:srgbClr val="FFFFFF"/>
                </a:solidFill>
                <a:latin typeface="Menlo"/>
                <a:ea typeface="Menlo"/>
                <a:cs typeface="Menlo"/>
              </a:rPr>
              <a:t>03</a:t>
            </a:r>
          </a:p>
        </p:txBody>
      </p:sp>
      <p:sp>
        <p:nvSpPr>
          <p:cNvPr id="17" name="">
            <a:extLst xmlns:a="http://schemas.openxmlformats.org/drawingml/2006/main">
              <a:ext uri="{FF2B5EF4-FFF2-40B4-BE49-F238E27FC236}">
                <a16:creationId xmlns:a16="http://schemas.microsoft.com/office/drawing/2014/main" id="{BA269815-6AAF-4ADA-A6B8-89FEB84438C2}"/>
              </a:ext>
            </a:extLst>
          </p:cNvPr>
          <p:cNvSpPr>
            <a:spLocks xmlns:a="http://schemas.openxmlformats.org/drawingml/2006/main" noGrp="1"/>
          </p:cNvSpPr>
          <p:nvPr/>
        </p:nvSpPr>
        <p:spPr>
          <a:xfrm xmlns:a="http://schemas.openxmlformats.org/drawingml/2006/main">
            <a:off x="1257300" y="37147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REPORT + HAND OFF</a:t>
            </a:r>
          </a:p>
        </p:txBody>
      </p:sp>
      <p:sp>
        <p:nvSpPr>
          <p:cNvPr id="18" name="">
            <a:extLst xmlns:a="http://schemas.openxmlformats.org/drawingml/2006/main">
              <a:ext uri="{FF2B5EF4-FFF2-40B4-BE49-F238E27FC236}">
                <a16:creationId xmlns:a16="http://schemas.microsoft.com/office/drawing/2014/main" id="{349D8171-D562-4F45-87B2-2400A45367EC}"/>
              </a:ext>
            </a:extLst>
          </p:cNvPr>
          <p:cNvSpPr>
            <a:spLocks xmlns:a="http://schemas.openxmlformats.org/drawingml/2006/main" noGrp="1"/>
          </p:cNvSpPr>
          <p:nvPr/>
        </p:nvSpPr>
        <p:spPr>
          <a:xfrm xmlns:a="http://schemas.openxmlformats.org/drawingml/2006/main">
            <a:off x="1257300" y="39814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i="0">
                <a:solidFill>
                  <a:srgbClr val="111111"/>
                </a:solidFill>
                <a:latin typeface="Helvetica Neue"/>
                <a:ea typeface="Helvetica Neue"/>
                <a:cs typeface="Helvetica Neue"/>
              </a:defRPr>
            </a:pPr>
            <a:r>
              <a:rPr sz="1425" b="1" i="0">
                <a:solidFill>
                  <a:srgbClr val="111111"/>
                </a:solidFill>
                <a:latin typeface="Helvetica Neue"/>
                <a:ea typeface="Helvetica Neue"/>
                <a:cs typeface="Helvetica Neue"/>
              </a:rPr>
              <a:t>Feedback first; human places order</a:t>
            </a:r>
          </a:p>
        </p:txBody>
      </p:sp>
      <p:sp>
        <p:nvSpPr>
          <p:cNvPr id="19" name="">
            <a:extLst xmlns:a="http://schemas.openxmlformats.org/drawingml/2006/main">
              <a:ext uri="{FF2B5EF4-FFF2-40B4-BE49-F238E27FC236}">
                <a16:creationId xmlns:a16="http://schemas.microsoft.com/office/drawing/2014/main" id="{ADA56AC9-E536-407B-B0EA-9D5460E0119E}"/>
              </a:ext>
            </a:extLst>
          </p:cNvPr>
          <p:cNvSpPr>
            <a:spLocks xmlns:a="http://schemas.openxmlformats.org/drawingml/2006/main" noGrp="1"/>
          </p:cNvSpPr>
          <p:nvPr/>
        </p:nvSpPr>
        <p:spPr>
          <a:xfrm xmlns:a="http://schemas.openxmlformats.org/drawingml/2006/main">
            <a:off x="533400" y="4667250"/>
            <a:ext cx="495300" cy="495300"/>
          </a:xfrm>
          <a:prstGeom xmlns:a="http://schemas.openxmlformats.org/drawingml/2006/main" prst="roundRect">
            <a:avLst>
              <a:gd name="adj" fmla="val 23077"/>
            </a:avLst>
          </a:prstGeom>
          <a:solidFill xmlns:a="http://schemas.openxmlformats.org/drawingml/2006/main">
            <a:srgbClr val="1769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504FE80-AC41-4D5D-9C7E-85BB1EF6992A}"/>
              </a:ext>
            </a:extLst>
          </p:cNvPr>
          <p:cNvSpPr>
            <a:spLocks xmlns:a="http://schemas.openxmlformats.org/drawingml/2006/main" noGrp="1"/>
          </p:cNvSpPr>
          <p:nvPr/>
        </p:nvSpPr>
        <p:spPr>
          <a:xfrm xmlns:a="http://schemas.openxmlformats.org/drawingml/2006/main">
            <a:off x="533400" y="48387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00" b="1" i="0">
                <a:solidFill>
                  <a:srgbClr val="FFFFFF"/>
                </a:solidFill>
                <a:latin typeface="Menlo"/>
                <a:ea typeface="Menlo"/>
                <a:cs typeface="Menlo"/>
              </a:defRPr>
            </a:pPr>
            <a:r>
              <a:rPr sz="900" b="1" i="0">
                <a:solidFill>
                  <a:srgbClr val="FFFFFF"/>
                </a:solidFill>
                <a:latin typeface="Menlo"/>
                <a:ea typeface="Menlo"/>
                <a:cs typeface="Menlo"/>
              </a:rPr>
              <a:t>04</a:t>
            </a:r>
          </a:p>
        </p:txBody>
      </p:sp>
      <p:sp>
        <p:nvSpPr>
          <p:cNvPr id="21" name="">
            <a:extLst xmlns:a="http://schemas.openxmlformats.org/drawingml/2006/main">
              <a:ext uri="{FF2B5EF4-FFF2-40B4-BE49-F238E27FC236}">
                <a16:creationId xmlns:a16="http://schemas.microsoft.com/office/drawing/2014/main" id="{B65A7790-01EA-410F-8777-07730EEAA4FC}"/>
              </a:ext>
            </a:extLst>
          </p:cNvPr>
          <p:cNvSpPr>
            <a:spLocks xmlns:a="http://schemas.openxmlformats.org/drawingml/2006/main" noGrp="1"/>
          </p:cNvSpPr>
          <p:nvPr/>
        </p:nvSpPr>
        <p:spPr>
          <a:xfrm xmlns:a="http://schemas.openxmlformats.org/drawingml/2006/main">
            <a:off x="1257300" y="46863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VERIFY + CONTROL</a:t>
            </a:r>
          </a:p>
        </p:txBody>
      </p:sp>
      <p:sp>
        <p:nvSpPr>
          <p:cNvPr id="22" name="">
            <a:extLst xmlns:a="http://schemas.openxmlformats.org/drawingml/2006/main">
              <a:ext uri="{FF2B5EF4-FFF2-40B4-BE49-F238E27FC236}">
                <a16:creationId xmlns:a16="http://schemas.microsoft.com/office/drawing/2014/main" id="{7F69896F-1742-4BBE-92F8-9E58A5F7A81B}"/>
              </a:ext>
            </a:extLst>
          </p:cNvPr>
          <p:cNvSpPr>
            <a:spLocks xmlns:a="http://schemas.openxmlformats.org/drawingml/2006/main" noGrp="1"/>
          </p:cNvSpPr>
          <p:nvPr/>
        </p:nvSpPr>
        <p:spPr>
          <a:xfrm xmlns:a="http://schemas.openxmlformats.org/drawingml/2006/main">
            <a:off x="1257300" y="49530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i="0">
                <a:solidFill>
                  <a:srgbClr val="111111"/>
                </a:solidFill>
                <a:latin typeface="Helvetica Neue"/>
                <a:ea typeface="Helvetica Neue"/>
                <a:cs typeface="Helvetica Neue"/>
              </a:defRPr>
            </a:pPr>
            <a:r>
              <a:rPr sz="1425" b="1" i="0">
                <a:solidFill>
                  <a:srgbClr val="111111"/>
                </a:solidFill>
                <a:latin typeface="Helvetica Neue"/>
                <a:ea typeface="Helvetica Neue"/>
                <a:cs typeface="Helvetica Neue"/>
              </a:rPr>
              <a:t>Signals · replay · restrict</a:t>
            </a:r>
          </a:p>
        </p:txBody>
      </p:sp>
      <p:sp>
        <p:nvSpPr>
          <p:cNvPr id="23" name="">
            <a:extLst xmlns:a="http://schemas.openxmlformats.org/drawingml/2006/main">
              <a:ext uri="{FF2B5EF4-FFF2-40B4-BE49-F238E27FC236}">
                <a16:creationId xmlns:a16="http://schemas.microsoft.com/office/drawing/2014/main" id="{94AD208E-66D1-4767-8C27-677AA9EAC43E}"/>
              </a:ext>
            </a:extLst>
          </p:cNvPr>
          <p:cNvSpPr>
            <a:spLocks xmlns:a="http://schemas.openxmlformats.org/drawingml/2006/main" noGrp="1"/>
          </p:cNvSpPr>
          <p:nvPr/>
        </p:nvSpPr>
        <p:spPr>
          <a:xfrm xmlns:a="http://schemas.openxmlformats.org/drawingml/2006/main">
            <a:off x="533400" y="5753100"/>
            <a:ext cx="11125200" cy="419100"/>
          </a:xfrm>
          <a:prstGeom xmlns:a="http://schemas.openxmlformats.org/drawingml/2006/main" prst="roundRect">
            <a:avLst>
              <a:gd name="adj" fmla="val 27273"/>
            </a:avLst>
          </a:prstGeom>
          <a:solidFill xmlns:a="http://schemas.openxmlformats.org/drawingml/2006/main">
            <a:srgbClr val="DCE8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7E906F8-0279-4711-B931-93596A592179}"/>
              </a:ext>
            </a:extLst>
          </p:cNvPr>
          <p:cNvSpPr>
            <a:spLocks xmlns:a="http://schemas.openxmlformats.org/drawingml/2006/main" noGrp="1"/>
          </p:cNvSpPr>
          <p:nvPr/>
        </p:nvSpPr>
        <p:spPr>
          <a:xfrm xmlns:a="http://schemas.openxmlformats.org/drawingml/2006/main">
            <a:off x="723900" y="58959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GUIDE → ZERO RESULT → IPX4 RECOVERY → FEEDBACK → HUMAN ORDER → PROOF</a:t>
            </a:r>
          </a:p>
        </p:txBody>
      </p:sp>
    </p:spTree>
    <p:extLst>
      <p:ext uri="{BB962C8B-B14F-4D97-AF65-F5344CB8AC3E}">
        <p14:creationId xmlns:p14="http://schemas.microsoft.com/office/powerpoint/2010/main" val="13211862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5F6CEE9-90C6-4B85-B87B-5C29CF50517B}"/>
              </a:ext>
            </a:extLst>
          </p:cNvPr>
          <p:cNvSpPr>
            <a:spLocks xmlns:a="http://schemas.openxmlformats.org/drawingml/2006/main" noGrp="1"/>
          </p:cNvSpPr>
          <p:nvPr/>
        </p:nvSpPr>
        <p:spPr>
          <a:xfrm xmlns:a="http://schemas.openxmlformats.org/drawingml/2006/main">
            <a:off x="533400" y="381000"/>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DEMO EVIDENCE</a:t>
            </a:r>
          </a:p>
        </p:txBody>
      </p:sp>
      <p:sp>
        <p:nvSpPr>
          <p:cNvPr id="2" name="">
            <a:extLst xmlns:a="http://schemas.openxmlformats.org/drawingml/2006/main">
              <a:ext uri="{FF2B5EF4-FFF2-40B4-BE49-F238E27FC236}">
                <a16:creationId xmlns:a16="http://schemas.microsoft.com/office/drawing/2014/main" id="{6A00F12C-A32B-4939-907C-100587128454}"/>
              </a:ext>
            </a:extLst>
          </p:cNvPr>
          <p:cNvSpPr>
            <a:spLocks xmlns:a="http://schemas.openxmlformats.org/drawingml/2006/main" noGrp="1"/>
          </p:cNvSpPr>
          <p:nvPr/>
        </p:nvSpPr>
        <p:spPr>
          <a:xfrm xmlns:a="http://schemas.openxmlformats.org/drawingml/2006/main">
            <a:off x="533400" y="723900"/>
            <a:ext cx="11125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677"/>
          </a:bodyPr>
          <a:lstStyle xmlns:a="http://schemas.openxmlformats.org/drawingml/2006/main"/>
          <a:p xmlns:a="http://schemas.openxmlformats.org/drawingml/2006/main">
            <a:pPr algn="l">
              <a:buNone/>
              <a:defRPr sz="3150" b="1" i="0">
                <a:solidFill>
                  <a:srgbClr val="111111"/>
                </a:solidFill>
                <a:latin typeface="Helvetica Neue"/>
                <a:ea typeface="Helvetica Neue"/>
                <a:cs typeface="Helvetica Neue"/>
              </a:defRPr>
            </a:pPr>
            <a:r>
              <a:rPr sz="3150" b="1" i="0">
                <a:solidFill>
                  <a:srgbClr val="111111"/>
                </a:solidFill>
                <a:latin typeface="Helvetica Neue"/>
                <a:ea typeface="Helvetica Neue"/>
                <a:cs typeface="Helvetica Neue"/>
              </a:rPr>
              <a:t>The guide makes co-browsing and human authority explicit.</a:t>
            </a:r>
          </a:p>
        </p:txBody>
      </p:sp>
      <p:cxnSp>
        <p:nvCxnSpPr>
          <p:cNvPr id="164" name=""/>
          <p:cNvCxnSpPr/>
          <p:nvPr/>
        </p:nvCxnSpPr>
        <p:spPr>
          <a:xfrm xmlns:a="http://schemas.openxmlformats.org/drawingml/2006/main">
            <a:off x="533400" y="6457950"/>
            <a:ext cx="11125200" cy="0"/>
          </a:xfrm>
          <a:prstGeom xmlns:a="http://schemas.openxmlformats.org/drawingml/2006/main" prst="straightConnector1">
            <a:avLst/>
          </a:prstGeom>
          <a:ln xmlns:a="http://schemas.openxmlformats.org/drawingml/2006/main" w="9525">
            <a:solidFill>
              <a:srgbClr val="D1D5D8"/>
            </a:solidFill>
            <a:prstDash val="solid"/>
          </a:ln>
        </p:spPr>
      </p:cxnSp>
      <p:sp>
        <p:nvSpPr>
          <p:cNvPr id="4" name="">
            <a:extLst xmlns:a="http://schemas.openxmlformats.org/drawingml/2006/main">
              <a:ext uri="{FF2B5EF4-FFF2-40B4-BE49-F238E27FC236}">
                <a16:creationId xmlns:a16="http://schemas.microsoft.com/office/drawing/2014/main" id="{26CE402F-0BDA-4BBD-B2CA-827DC05999D0}"/>
              </a:ext>
            </a:extLst>
          </p:cNvPr>
          <p:cNvSpPr>
            <a:spLocks xmlns:a="http://schemas.openxmlformats.org/drawingml/2006/main" noGrp="1"/>
          </p:cNvSpPr>
          <p:nvPr/>
        </p:nvSpPr>
        <p:spPr>
          <a:xfrm xmlns:a="http://schemas.openxmlformats.org/drawingml/2006/main">
            <a:off x="533400" y="6553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AGENT SNR · HACKATHON DEMO</a:t>
            </a:r>
          </a:p>
        </p:txBody>
      </p:sp>
      <p:sp>
        <p:nvSpPr>
          <p:cNvPr id="5" name="">
            <a:extLst xmlns:a="http://schemas.openxmlformats.org/drawingml/2006/main">
              <a:ext uri="{FF2B5EF4-FFF2-40B4-BE49-F238E27FC236}">
                <a16:creationId xmlns:a16="http://schemas.microsoft.com/office/drawing/2014/main" id="{86154ED1-6CE3-4876-8B72-FED4A9EBD283}"/>
              </a:ext>
            </a:extLst>
          </p:cNvPr>
          <p:cNvSpPr>
            <a:spLocks xmlns:a="http://schemas.openxmlformats.org/drawingml/2006/main" noGrp="1"/>
          </p:cNvSpPr>
          <p:nvPr/>
        </p:nvSpPr>
        <p:spPr>
          <a:xfrm xmlns:a="http://schemas.openxmlformats.org/drawingml/2006/main">
            <a:off x="11049000" y="65341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1" i="0">
                <a:solidFill>
                  <a:srgbClr val="5E666D"/>
                </a:solidFill>
                <a:latin typeface="Menlo"/>
                <a:ea typeface="Menlo"/>
                <a:cs typeface="Menlo"/>
              </a:defRPr>
            </a:pPr>
            <a:r>
              <a:rPr sz="975" b="1" i="0">
                <a:solidFill>
                  <a:srgbClr val="5E666D"/>
                </a:solidFill>
                <a:latin typeface="Menlo"/>
                <a:ea typeface="Menlo"/>
                <a:cs typeface="Menlo"/>
              </a:rPr>
              <a:t>08</a:t>
            </a:r>
          </a:p>
        </p:txBody>
      </p:sp>
      <p:sp>
        <p:nvSpPr>
          <p:cNvPr id="6" name="">
            <a:extLst xmlns:a="http://schemas.openxmlformats.org/drawingml/2006/main">
              <a:ext uri="{FF2B5EF4-FFF2-40B4-BE49-F238E27FC236}">
                <a16:creationId xmlns:a16="http://schemas.microsoft.com/office/drawing/2014/main" id="{E640FAAB-11C4-4872-89D4-686BCAD659B1}"/>
              </a:ext>
            </a:extLst>
          </p:cNvPr>
          <p:cNvSpPr>
            <a:spLocks xmlns:a="http://schemas.openxmlformats.org/drawingml/2006/main" noGrp="1"/>
          </p:cNvSpPr>
          <p:nvPr/>
        </p:nvSpPr>
        <p:spPr>
          <a:xfrm xmlns:a="http://schemas.openxmlformats.org/drawingml/2006/main">
            <a:off x="533400" y="1638300"/>
            <a:ext cx="2571750" cy="4210050"/>
          </a:xfrm>
          <a:prstGeom xmlns:a="http://schemas.openxmlformats.org/drawingml/2006/main" prst="roundRect">
            <a:avLst>
              <a:gd name="adj" fmla="val 4444"/>
            </a:avLst>
          </a:prstGeom>
          <a:solidFill xmlns:a="http://schemas.openxmlformats.org/drawingml/2006/main">
            <a:srgbClr val="111111"/>
          </a:solidFill>
          <a:ln xmlns:a="http://schemas.openxmlformats.org/drawingml/2006/main" w="9525">
            <a:solidFill>
              <a:srgbClr val="111111"/>
            </a:solidFill>
            <a:prstDash val="solid"/>
          </a:ln>
        </p:spPr>
      </p:sp>
      <p:sp>
        <p:nvSpPr>
          <p:cNvPr id="7" name="">
            <a:extLst xmlns:a="http://schemas.openxmlformats.org/drawingml/2006/main">
              <a:ext uri="{FF2B5EF4-FFF2-40B4-BE49-F238E27FC236}">
                <a16:creationId xmlns:a16="http://schemas.microsoft.com/office/drawing/2014/main" id="{B1031822-B2EC-4F7B-BB49-D630F6B1662E}"/>
              </a:ext>
            </a:extLst>
          </p:cNvPr>
          <p:cNvSpPr>
            <a:spLocks xmlns:a="http://schemas.openxmlformats.org/drawingml/2006/main" noGrp="1"/>
          </p:cNvSpPr>
          <p:nvPr/>
        </p:nvSpPr>
        <p:spPr>
          <a:xfrm xmlns:a="http://schemas.openxmlformats.org/drawingml/2006/main">
            <a:off x="781050" y="19240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DCE8FF"/>
                </a:solidFill>
                <a:latin typeface="Menlo"/>
                <a:ea typeface="Menlo"/>
                <a:cs typeface="Menlo"/>
              </a:defRPr>
            </a:pPr>
            <a:r>
              <a:rPr sz="975" b="1" i="0">
                <a:solidFill>
                  <a:srgbClr val="DCE8FF"/>
                </a:solidFill>
                <a:latin typeface="Menlo"/>
                <a:ea typeface="Menlo"/>
                <a:cs typeface="Menlo"/>
              </a:rPr>
              <a:t>LIVE SESSION</a:t>
            </a:r>
          </a:p>
        </p:txBody>
      </p:sp>
      <p:sp>
        <p:nvSpPr>
          <p:cNvPr id="8" name="">
            <a:extLst xmlns:a="http://schemas.openxmlformats.org/drawingml/2006/main">
              <a:ext uri="{FF2B5EF4-FFF2-40B4-BE49-F238E27FC236}">
                <a16:creationId xmlns:a16="http://schemas.microsoft.com/office/drawing/2014/main" id="{01CC28C3-782D-4016-B44A-9EFF60A0D183}"/>
              </a:ext>
            </a:extLst>
          </p:cNvPr>
          <p:cNvSpPr>
            <a:spLocks xmlns:a="http://schemas.openxmlformats.org/drawingml/2006/main" noGrp="1"/>
          </p:cNvSpPr>
          <p:nvPr/>
        </p:nvSpPr>
        <p:spPr>
          <a:xfrm xmlns:a="http://schemas.openxmlformats.org/drawingml/2006/main">
            <a:off x="781050" y="2343150"/>
            <a:ext cx="200025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313"/>
          </a:bodyPr>
          <a:lstStyle xmlns:a="http://schemas.openxmlformats.org/drawingml/2006/main"/>
          <a:p xmlns:a="http://schemas.openxmlformats.org/drawingml/2006/main">
            <a:pPr algn="l">
              <a:buNone/>
              <a:defRPr sz="2025" b="1" i="0">
                <a:solidFill>
                  <a:srgbClr val="FFFFFF"/>
                </a:solidFill>
                <a:latin typeface="Helvetica Neue"/>
                <a:ea typeface="Helvetica Neue"/>
                <a:cs typeface="Helvetica Neue"/>
              </a:defRPr>
            </a:pPr>
            <a:r>
              <a:rPr sz="2025" b="1" i="0">
                <a:solidFill>
                  <a:srgbClr val="FFFFFF"/>
                </a:solidFill>
                <a:latin typeface="Helvetica Neue"/>
                <a:ea typeface="Helvetica Neue"/>
                <a:cs typeface="Helvetica Neue"/>
              </a:rPr>
              <a:t>Guide 1.1</a:t>
            </a:r>
          </a:p>
          <a:p xmlns:a="http://schemas.openxmlformats.org/drawingml/2006/main">
            <a:pPr algn="l">
              <a:buNone/>
              <a:defRPr sz="2025" b="1" i="0">
                <a:solidFill>
                  <a:srgbClr val="FFFFFF"/>
                </a:solidFill>
                <a:latin typeface="Helvetica Neue"/>
                <a:ea typeface="Helvetica Neue"/>
                <a:cs typeface="Helvetica Neue"/>
              </a:defRPr>
            </a:pPr>
            <a:r>
              <a:rPr sz="2025" b="1" i="0">
                <a:solidFill>
                  <a:srgbClr val="FFFFFF"/>
                </a:solidFill>
                <a:latin typeface="Helvetica Neue"/>
                <a:ea typeface="Helvetica Neue"/>
                <a:cs typeface="Helvetica Neue"/>
              </a:rPr>
              <a:t>Co-browsing only</a:t>
            </a:r>
          </a:p>
          <a:p xmlns:a="http://schemas.openxmlformats.org/drawingml/2006/main">
            <a:pPr algn="l">
              <a:buNone/>
              <a:defRPr sz="2025" b="1" i="0">
                <a:solidFill>
                  <a:srgbClr val="FFFFFF"/>
                </a:solidFill>
                <a:latin typeface="Helvetica Neue"/>
                <a:ea typeface="Helvetica Neue"/>
                <a:cs typeface="Helvetica Neue"/>
              </a:defRPr>
            </a:pPr>
            <a:r>
              <a:rPr sz="2025" b="1" i="0">
                <a:solidFill>
                  <a:srgbClr val="FFFFFF"/>
                </a:solidFill>
                <a:latin typeface="Helvetica Neue"/>
                <a:ea typeface="Helvetica Neue"/>
                <a:cs typeface="Helvetica Neue"/>
              </a:rPr>
              <a:t>0 sensitive tools</a:t>
            </a:r>
          </a:p>
          <a:p xmlns:a="http://schemas.openxmlformats.org/drawingml/2006/main">
            <a:pPr algn="l">
              <a:buNone/>
              <a:defRPr sz="2025" b="1" i="0">
                <a:solidFill>
                  <a:srgbClr val="FFFFFF"/>
                </a:solidFill>
                <a:latin typeface="Helvetica Neue"/>
                <a:ea typeface="Helvetica Neue"/>
                <a:cs typeface="Helvetica Neue"/>
              </a:defRPr>
            </a:pPr>
            <a:r>
              <a:rPr sz="2025" b="1" i="0">
                <a:solidFill>
                  <a:srgbClr val="FFFFFF"/>
                </a:solidFill>
                <a:latin typeface="Helvetica Neue"/>
                <a:ea typeface="Helvetica Neue"/>
                <a:cs typeface="Helvetica Neue"/>
              </a:rPr>
              <a:t>Zero-result signal</a:t>
            </a:r>
          </a:p>
          <a:p xmlns:a="http://schemas.openxmlformats.org/drawingml/2006/main">
            <a:pPr algn="l">
              <a:buNone/>
              <a:defRPr sz="2025" b="1" i="0">
                <a:solidFill>
                  <a:srgbClr val="FFFFFF"/>
                </a:solidFill>
                <a:latin typeface="Helvetica Neue"/>
                <a:ea typeface="Helvetica Neue"/>
                <a:cs typeface="Helvetica Neue"/>
              </a:defRPr>
            </a:pPr>
            <a:r>
              <a:rPr sz="2025" b="1" i="0">
                <a:solidFill>
                  <a:srgbClr val="FFFFFF"/>
                </a:solidFill>
                <a:latin typeface="Helvetica Neue"/>
                <a:ea typeface="Helvetica Neue"/>
                <a:cs typeface="Helvetica Neue"/>
              </a:rPr>
              <a:t>Linked feedback</a:t>
            </a:r>
          </a:p>
          <a:p xmlns:a="http://schemas.openxmlformats.org/drawingml/2006/main">
            <a:pPr algn="l">
              <a:buNone/>
              <a:defRPr sz="2025" b="1" i="0">
                <a:solidFill>
                  <a:srgbClr val="FFFFFF"/>
                </a:solidFill>
                <a:latin typeface="Helvetica Neue"/>
                <a:ea typeface="Helvetica Neue"/>
                <a:cs typeface="Helvetica Neue"/>
              </a:defRPr>
            </a:pPr>
            <a:r>
              <a:rPr sz="2025" b="1" i="0">
                <a:solidFill>
                  <a:srgbClr val="FFFFFF"/>
                </a:solidFill>
                <a:latin typeface="Helvetica Neue"/>
                <a:ea typeface="Helvetica Neue"/>
                <a:cs typeface="Helvetica Neue"/>
              </a:rPr>
              <a:t>Human checkout</a:t>
            </a:r>
          </a:p>
        </p:txBody>
      </p:sp>
      <p:cxnSp>
        <p:nvCxnSpPr>
          <p:cNvPr id="170" name=""/>
          <p:cNvCxnSpPr/>
          <p:nvPr/>
        </p:nvCxnSpPr>
        <p:spPr>
          <a:xfrm xmlns:a="http://schemas.openxmlformats.org/drawingml/2006/main">
            <a:off x="781050" y="4572000"/>
            <a:ext cx="1847850" cy="0"/>
          </a:xfrm>
          <a:prstGeom xmlns:a="http://schemas.openxmlformats.org/drawingml/2006/main" prst="straightConnector1">
            <a:avLst/>
          </a:prstGeom>
          <a:ln xmlns:a="http://schemas.openxmlformats.org/drawingml/2006/main" w="9525">
            <a:solidFill>
              <a:srgbClr val="4A5260"/>
            </a:solidFill>
            <a:prstDash val="solid"/>
          </a:ln>
        </p:spPr>
      </p:cxnSp>
      <p:sp>
        <p:nvSpPr>
          <p:cNvPr id="10" name="">
            <a:extLst xmlns:a="http://schemas.openxmlformats.org/drawingml/2006/main">
              <a:ext uri="{FF2B5EF4-FFF2-40B4-BE49-F238E27FC236}">
                <a16:creationId xmlns:a16="http://schemas.microsoft.com/office/drawing/2014/main" id="{FBFA6FA3-984A-4296-986D-5C66FF0CB9D3}"/>
              </a:ext>
            </a:extLst>
          </p:cNvPr>
          <p:cNvSpPr>
            <a:spLocks xmlns:a="http://schemas.openxmlformats.org/drawingml/2006/main" noGrp="1"/>
          </p:cNvSpPr>
          <p:nvPr/>
        </p:nvSpPr>
        <p:spPr>
          <a:xfrm xmlns:a="http://schemas.openxmlformats.org/drawingml/2006/main">
            <a:off x="781050" y="4819650"/>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923"/>
          </a:bodyPr>
          <a:lstStyle xmlns:a="http://schemas.openxmlformats.org/drawingml/2006/main"/>
          <a:p xmlns:a="http://schemas.openxmlformats.org/drawingml/2006/main">
            <a:pPr algn="l">
              <a:buNone/>
              <a:defRPr sz="975" b="1" i="0">
                <a:solidFill>
                  <a:srgbClr val="AEB5BE"/>
                </a:solidFill>
                <a:latin typeface="Menlo"/>
                <a:ea typeface="Menlo"/>
                <a:cs typeface="Menlo"/>
              </a:defRPr>
            </a:pPr>
            <a:r>
              <a:rPr sz="975" b="1" i="0">
                <a:solidFill>
                  <a:srgbClr val="AEB5BE"/>
                </a:solidFill>
                <a:latin typeface="Menlo"/>
                <a:ea typeface="Menlo"/>
                <a:cs typeface="Menlo"/>
              </a:rPr>
              <a:t>OBSERVED + REPORTED BEFORE THE HUMAN CHECKPOINT</a:t>
            </a:r>
          </a:p>
        </p:txBody>
      </p:sp>
      <p:pic>
        <p:nvPicPr>
          <p:cNvPr id="172" name=""/>
          <p:cNvPicPr>
            <a:picLocks xmlns:a="http://schemas.openxmlformats.org/drawingml/2006/main" noChangeAspect="1"/>
          </p:cNvPicPr>
          <p:nvPr/>
        </p:nvPicPr>
        <p:blipFill>
          <a:blip xmlns:r="http://schemas.openxmlformats.org/officeDocument/2006/relationships" xmlns:a="http://schemas.openxmlformats.org/drawingml/2006/main" r:embed="R29283b677ba54eb1"/>
          <a:srcRect xmlns:a="http://schemas.openxmlformats.org/drawingml/2006/main" l="0" t="9356" r="0" b="9356"/>
          <a:stretch xmlns:a="http://schemas.openxmlformats.org/drawingml/2006/main">
            <a:fillRect l="0" t="0" r="0" b="0"/>
          </a:stretch>
        </p:blipFill>
        <p:spPr>
          <a:xfrm xmlns:a="http://schemas.openxmlformats.org/drawingml/2006/main" flipH="0" flipV="0">
            <a:off x="3371850" y="1638300"/>
            <a:ext cx="8286750" cy="4210050"/>
          </a:xfrm>
          <a:prstGeom xmlns:a="http://schemas.openxmlformats.org/drawingml/2006/main" prst="roundRect">
            <a:avLst/>
          </a:prstGeom>
        </p:spPr>
      </p:pic>
    </p:spTree>
    <p:extLst>
      <p:ext uri="{BB962C8B-B14F-4D97-AF65-F5344CB8AC3E}">
        <p14:creationId xmlns:p14="http://schemas.microsoft.com/office/powerpoint/2010/main" val="151074027"/>
      </p:ext>
    </p:extLst>
  </p:cSld>
</p:sld>
</file>

<file path=ppt/slides/slide9.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9166E49-1E1C-4EBD-A7B9-D47BAF364FCC}"/>
              </a:ext>
            </a:extLst>
          </p:cNvPr>
          <p:cNvSpPr>
            <a:spLocks xmlns:a="http://schemas.openxmlformats.org/drawingml/2006/main" noGrp="1"/>
          </p:cNvSpPr>
          <p:nvPr/>
        </p:nvSpPr>
        <p:spPr>
          <a:xfrm xmlns:a="http://schemas.openxmlformats.org/drawingml/2006/main">
            <a:off x="533400" y="381000"/>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OUTCOME TRUTH</a:t>
            </a:r>
          </a:p>
        </p:txBody>
      </p:sp>
      <p:sp>
        <p:nvSpPr>
          <p:cNvPr id="2" name="">
            <a:extLst xmlns:a="http://schemas.openxmlformats.org/drawingml/2006/main">
              <a:ext uri="{FF2B5EF4-FFF2-40B4-BE49-F238E27FC236}">
                <a16:creationId xmlns:a16="http://schemas.microsoft.com/office/drawing/2014/main" id="{82523128-9C43-47D0-9273-ECA14675B6A0}"/>
              </a:ext>
            </a:extLst>
          </p:cNvPr>
          <p:cNvSpPr>
            <a:spLocks xmlns:a="http://schemas.openxmlformats.org/drawingml/2006/main" noGrp="1"/>
          </p:cNvSpPr>
          <p:nvPr/>
        </p:nvSpPr>
        <p:spPr>
          <a:xfrm xmlns:a="http://schemas.openxmlformats.org/drawingml/2006/main">
            <a:off x="533400" y="723900"/>
            <a:ext cx="11125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i="0">
                <a:solidFill>
                  <a:srgbClr val="111111"/>
                </a:solidFill>
                <a:latin typeface="Helvetica Neue"/>
                <a:ea typeface="Helvetica Neue"/>
                <a:cs typeface="Helvetica Neue"/>
              </a:defRPr>
            </a:pPr>
            <a:r>
              <a:rPr sz="2925" b="1" i="0">
                <a:solidFill>
                  <a:srgbClr val="111111"/>
                </a:solidFill>
                <a:latin typeface="Helvetica Neue"/>
                <a:ea typeface="Helvetica Neue"/>
                <a:cs typeface="Helvetica Neue"/>
              </a:rPr>
              <a:t>Agent testimony stays separate from verified evidence.</a:t>
            </a:r>
          </a:p>
        </p:txBody>
      </p:sp>
      <p:cxnSp>
        <p:nvCxnSpPr>
          <p:cNvPr id="95" name=""/>
          <p:cNvCxnSpPr/>
          <p:nvPr/>
        </p:nvCxnSpPr>
        <p:spPr>
          <a:xfrm xmlns:a="http://schemas.openxmlformats.org/drawingml/2006/main">
            <a:off x="533400" y="6457950"/>
            <a:ext cx="11125200" cy="0"/>
          </a:xfrm>
          <a:prstGeom xmlns:a="http://schemas.openxmlformats.org/drawingml/2006/main" prst="straightConnector1">
            <a:avLst/>
          </a:prstGeom>
          <a:ln xmlns:a="http://schemas.openxmlformats.org/drawingml/2006/main" w="9525">
            <a:solidFill>
              <a:srgbClr val="D1D5D8"/>
            </a:solidFill>
            <a:prstDash val="solid"/>
          </a:ln>
        </p:spPr>
      </p:cxnSp>
      <p:sp>
        <p:nvSpPr>
          <p:cNvPr id="4" name="">
            <a:extLst xmlns:a="http://schemas.openxmlformats.org/drawingml/2006/main">
              <a:ext uri="{FF2B5EF4-FFF2-40B4-BE49-F238E27FC236}">
                <a16:creationId xmlns:a16="http://schemas.microsoft.com/office/drawing/2014/main" id="{AF3E24CE-48CB-47EB-BF41-CAEBD82A06FA}"/>
              </a:ext>
            </a:extLst>
          </p:cNvPr>
          <p:cNvSpPr>
            <a:spLocks xmlns:a="http://schemas.openxmlformats.org/drawingml/2006/main" noGrp="1"/>
          </p:cNvSpPr>
          <p:nvPr/>
        </p:nvSpPr>
        <p:spPr>
          <a:xfrm xmlns:a="http://schemas.openxmlformats.org/drawingml/2006/main">
            <a:off x="533400" y="6553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AGENT SNR · HACKATHON DEMO</a:t>
            </a:r>
          </a:p>
        </p:txBody>
      </p:sp>
      <p:sp>
        <p:nvSpPr>
          <p:cNvPr id="5" name="">
            <a:extLst xmlns:a="http://schemas.openxmlformats.org/drawingml/2006/main">
              <a:ext uri="{FF2B5EF4-FFF2-40B4-BE49-F238E27FC236}">
                <a16:creationId xmlns:a16="http://schemas.microsoft.com/office/drawing/2014/main" id="{89523AC4-03DD-4085-A188-99E5703E4AA3}"/>
              </a:ext>
            </a:extLst>
          </p:cNvPr>
          <p:cNvSpPr>
            <a:spLocks xmlns:a="http://schemas.openxmlformats.org/drawingml/2006/main" noGrp="1"/>
          </p:cNvSpPr>
          <p:nvPr/>
        </p:nvSpPr>
        <p:spPr>
          <a:xfrm xmlns:a="http://schemas.openxmlformats.org/drawingml/2006/main">
            <a:off x="11049000" y="65341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1" i="0">
                <a:solidFill>
                  <a:srgbClr val="5E666D"/>
                </a:solidFill>
                <a:latin typeface="Menlo"/>
                <a:ea typeface="Menlo"/>
                <a:cs typeface="Menlo"/>
              </a:defRPr>
            </a:pPr>
            <a:r>
              <a:rPr sz="975" b="1" i="0">
                <a:solidFill>
                  <a:srgbClr val="5E666D"/>
                </a:solidFill>
                <a:latin typeface="Menlo"/>
                <a:ea typeface="Menlo"/>
                <a:cs typeface="Menlo"/>
              </a:rPr>
              <a:t>09</a:t>
            </a:r>
          </a:p>
        </p:txBody>
      </p:sp>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8b60c569f7d84b61"/>
          <a:srcRect xmlns:a="http://schemas.openxmlformats.org/drawingml/2006/main" l="316" t="0" r="316" b="0"/>
          <a:stretch xmlns:a="http://schemas.openxmlformats.org/drawingml/2006/main">
            <a:fillRect l="0" t="0" r="0" b="0"/>
          </a:stretch>
        </p:blipFill>
        <p:spPr>
          <a:xfrm xmlns:a="http://schemas.openxmlformats.org/drawingml/2006/main" flipH="0" flipV="0">
            <a:off x="533400" y="1676400"/>
            <a:ext cx="5391150" cy="3390900"/>
          </a:xfrm>
          <a:prstGeom xmlns:a="http://schemas.openxmlformats.org/drawingml/2006/main" prst="roundRect">
            <a:avLst/>
          </a:prstGeom>
        </p:spPr>
      </p:pic>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40c9a4773bf24c86"/>
          <a:srcRect xmlns:a="http://schemas.openxmlformats.org/drawingml/2006/main" l="0" t="383" r="0" b="383"/>
          <a:stretch xmlns:a="http://schemas.openxmlformats.org/drawingml/2006/main">
            <a:fillRect l="0" t="0" r="0" b="0"/>
          </a:stretch>
        </p:blipFill>
        <p:spPr>
          <a:xfrm xmlns:a="http://schemas.openxmlformats.org/drawingml/2006/main" flipH="0" flipV="0">
            <a:off x="6191250" y="1676400"/>
            <a:ext cx="5467350" cy="3390900"/>
          </a:xfrm>
          <a:prstGeom xmlns:a="http://schemas.openxmlformats.org/drawingml/2006/main" prst="roundRect">
            <a:avLst/>
          </a:prstGeom>
        </p:spPr>
      </p:pic>
      <p:sp>
        <p:nvSpPr>
          <p:cNvPr id="8" name="">
            <a:extLst xmlns:a="http://schemas.openxmlformats.org/drawingml/2006/main">
              <a:ext uri="{FF2B5EF4-FFF2-40B4-BE49-F238E27FC236}">
                <a16:creationId xmlns:a16="http://schemas.microsoft.com/office/drawing/2014/main" id="{726B7169-2951-44AA-9E86-D410704C57D9}"/>
              </a:ext>
            </a:extLst>
          </p:cNvPr>
          <p:cNvSpPr>
            <a:spLocks xmlns:a="http://schemas.openxmlformats.org/drawingml/2006/main" noGrp="1"/>
          </p:cNvSpPr>
          <p:nvPr/>
        </p:nvSpPr>
        <p:spPr>
          <a:xfrm xmlns:a="http://schemas.openxmlformats.org/drawingml/2006/main">
            <a:off x="533400" y="53149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SITE OBSERVED</a:t>
            </a:r>
          </a:p>
        </p:txBody>
      </p:sp>
      <p:sp>
        <p:nvSpPr>
          <p:cNvPr id="9" name="">
            <a:extLst xmlns:a="http://schemas.openxmlformats.org/drawingml/2006/main">
              <a:ext uri="{FF2B5EF4-FFF2-40B4-BE49-F238E27FC236}">
                <a16:creationId xmlns:a16="http://schemas.microsoft.com/office/drawing/2014/main" id="{6AF3AD62-7555-4A43-A56C-1E74B6E8C422}"/>
              </a:ext>
            </a:extLst>
          </p:cNvPr>
          <p:cNvSpPr>
            <a:spLocks xmlns:a="http://schemas.openxmlformats.org/drawingml/2006/main" noGrp="1"/>
          </p:cNvSpPr>
          <p:nvPr/>
        </p:nvSpPr>
        <p:spPr>
          <a:xfrm xmlns:a="http://schemas.openxmlformats.org/drawingml/2006/main">
            <a:off x="533400" y="5553075"/>
            <a:ext cx="2533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Zero result + low coverage</a:t>
            </a:r>
          </a:p>
        </p:txBody>
      </p:sp>
      <p:sp>
        <p:nvSpPr>
          <p:cNvPr id="10" name="">
            <a:extLst xmlns:a="http://schemas.openxmlformats.org/drawingml/2006/main">
              <a:ext uri="{FF2B5EF4-FFF2-40B4-BE49-F238E27FC236}">
                <a16:creationId xmlns:a16="http://schemas.microsoft.com/office/drawing/2014/main" id="{BD3841CA-8A4F-4684-98F1-DF8ECAA8F351}"/>
              </a:ext>
            </a:extLst>
          </p:cNvPr>
          <p:cNvSpPr>
            <a:spLocks xmlns:a="http://schemas.openxmlformats.org/drawingml/2006/main" noGrp="1"/>
          </p:cNvSpPr>
          <p:nvPr/>
        </p:nvSpPr>
        <p:spPr>
          <a:xfrm xmlns:a="http://schemas.openxmlformats.org/drawingml/2006/main">
            <a:off x="3314700" y="53149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AGENT REPORTED</a:t>
            </a:r>
          </a:p>
        </p:txBody>
      </p:sp>
      <p:sp>
        <p:nvSpPr>
          <p:cNvPr id="11" name="">
            <a:extLst xmlns:a="http://schemas.openxmlformats.org/drawingml/2006/main">
              <a:ext uri="{FF2B5EF4-FFF2-40B4-BE49-F238E27FC236}">
                <a16:creationId xmlns:a16="http://schemas.microsoft.com/office/drawing/2014/main" id="{F6F8F6BA-D21E-4AB8-8F29-93258E501FFB}"/>
              </a:ext>
            </a:extLst>
          </p:cNvPr>
          <p:cNvSpPr>
            <a:spLocks xmlns:a="http://schemas.openxmlformats.org/drawingml/2006/main" noGrp="1"/>
          </p:cNvSpPr>
          <p:nvPr/>
        </p:nvSpPr>
        <p:spPr>
          <a:xfrm xmlns:a="http://schemas.openxmlformats.org/drawingml/2006/main">
            <a:off x="3314700" y="5553075"/>
            <a:ext cx="2533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Constraint + ratings + action</a:t>
            </a:r>
          </a:p>
        </p:txBody>
      </p:sp>
      <p:sp>
        <p:nvSpPr>
          <p:cNvPr id="12" name="">
            <a:extLst xmlns:a="http://schemas.openxmlformats.org/drawingml/2006/main">
              <a:ext uri="{FF2B5EF4-FFF2-40B4-BE49-F238E27FC236}">
                <a16:creationId xmlns:a16="http://schemas.microsoft.com/office/drawing/2014/main" id="{62D4B4DB-C25B-4212-A19B-4822CF0FA60D}"/>
              </a:ext>
            </a:extLst>
          </p:cNvPr>
          <p:cNvSpPr>
            <a:spLocks xmlns:a="http://schemas.openxmlformats.org/drawingml/2006/main" noGrp="1"/>
          </p:cNvSpPr>
          <p:nvPr/>
        </p:nvSpPr>
        <p:spPr>
          <a:xfrm xmlns:a="http://schemas.openxmlformats.org/drawingml/2006/main">
            <a:off x="6096000" y="53149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SITE VERIFIED</a:t>
            </a:r>
          </a:p>
        </p:txBody>
      </p:sp>
      <p:sp>
        <p:nvSpPr>
          <p:cNvPr id="13" name="">
            <a:extLst xmlns:a="http://schemas.openxmlformats.org/drawingml/2006/main">
              <a:ext uri="{FF2B5EF4-FFF2-40B4-BE49-F238E27FC236}">
                <a16:creationId xmlns:a16="http://schemas.microsoft.com/office/drawing/2014/main" id="{5024BCEA-200C-4FFA-93BA-BED5B31754C9}"/>
              </a:ext>
            </a:extLst>
          </p:cNvPr>
          <p:cNvSpPr>
            <a:spLocks xmlns:a="http://schemas.openxmlformats.org/drawingml/2006/main" noGrp="1"/>
          </p:cNvSpPr>
          <p:nvPr/>
        </p:nvSpPr>
        <p:spPr>
          <a:xfrm xmlns:a="http://schemas.openxmlformats.org/drawingml/2006/main">
            <a:off x="6096000" y="5553075"/>
            <a:ext cx="2533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2 eligible · IPX4 · paid order</a:t>
            </a:r>
          </a:p>
        </p:txBody>
      </p:sp>
      <p:sp>
        <p:nvSpPr>
          <p:cNvPr id="14" name="">
            <a:extLst xmlns:a="http://schemas.openxmlformats.org/drawingml/2006/main">
              <a:ext uri="{FF2B5EF4-FFF2-40B4-BE49-F238E27FC236}">
                <a16:creationId xmlns:a16="http://schemas.microsoft.com/office/drawing/2014/main" id="{02CB51D5-9376-4A16-BF3B-1FF2A0D51F73}"/>
              </a:ext>
            </a:extLst>
          </p:cNvPr>
          <p:cNvSpPr>
            <a:spLocks xmlns:a="http://schemas.openxmlformats.org/drawingml/2006/main" noGrp="1"/>
          </p:cNvSpPr>
          <p:nvPr/>
        </p:nvSpPr>
        <p:spPr>
          <a:xfrm xmlns:a="http://schemas.openxmlformats.org/drawingml/2006/main">
            <a:off x="8877300" y="53149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E94335"/>
                </a:solidFill>
                <a:latin typeface="Menlo"/>
                <a:ea typeface="Menlo"/>
                <a:cs typeface="Menlo"/>
              </a:defRPr>
            </a:pPr>
            <a:r>
              <a:rPr sz="975" b="1" i="0">
                <a:solidFill>
                  <a:srgbClr val="E94335"/>
                </a:solidFill>
                <a:latin typeface="Menlo"/>
                <a:ea typeface="Menlo"/>
                <a:cs typeface="Menlo"/>
              </a:rPr>
              <a:t>NEVER CLAIMED</a:t>
            </a:r>
          </a:p>
        </p:txBody>
      </p:sp>
      <p:sp>
        <p:nvSpPr>
          <p:cNvPr id="15" name="">
            <a:extLst xmlns:a="http://schemas.openxmlformats.org/drawingml/2006/main">
              <a:ext uri="{FF2B5EF4-FFF2-40B4-BE49-F238E27FC236}">
                <a16:creationId xmlns:a16="http://schemas.microsoft.com/office/drawing/2014/main" id="{3BF5BD6A-2134-40E0-B847-9D79152846C9}"/>
              </a:ext>
            </a:extLst>
          </p:cNvPr>
          <p:cNvSpPr>
            <a:spLocks xmlns:a="http://schemas.openxmlformats.org/drawingml/2006/main" noGrp="1"/>
          </p:cNvSpPr>
          <p:nvPr/>
        </p:nvSpPr>
        <p:spPr>
          <a:xfrm xmlns:a="http://schemas.openxmlformats.org/drawingml/2006/main">
            <a:off x="8877300" y="5553075"/>
            <a:ext cx="2533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Lost revenue or verified opinion</a:t>
            </a:r>
          </a:p>
        </p:txBody>
      </p:sp>
      <p:sp>
        <p:nvSpPr>
          <p:cNvPr id="16" name="">
            <a:extLst xmlns:a="http://schemas.openxmlformats.org/drawingml/2006/main">
              <a:ext uri="{FF2B5EF4-FFF2-40B4-BE49-F238E27FC236}">
                <a16:creationId xmlns:a16="http://schemas.microsoft.com/office/drawing/2014/main" id="{A0B0C24E-3856-4B1F-9B38-689963616D87}"/>
              </a:ext>
            </a:extLst>
          </p:cNvPr>
          <p:cNvSpPr>
            <a:spLocks xmlns:a="http://schemas.openxmlformats.org/drawingml/2006/main" noGrp="1"/>
          </p:cNvSpPr>
          <p:nvPr/>
        </p:nvSpPr>
        <p:spPr>
          <a:xfrm xmlns:a="http://schemas.openxmlformats.org/drawingml/2006/main">
            <a:off x="533400" y="6038850"/>
            <a:ext cx="11125200" cy="247650"/>
          </a:xfrm>
          <a:prstGeom xmlns:a="http://schemas.openxmlformats.org/drawingml/2006/main" prst="roundRect">
            <a:avLst>
              <a:gd name="adj" fmla="val 46154"/>
            </a:avLst>
          </a:prstGeom>
          <a:solidFill xmlns:a="http://schemas.openxmlformats.org/drawingml/2006/main">
            <a:srgbClr val="1769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4D270FF-94FC-4CDD-8498-594A26C59C21}"/>
              </a:ext>
            </a:extLst>
          </p:cNvPr>
          <p:cNvSpPr>
            <a:spLocks xmlns:a="http://schemas.openxmlformats.org/drawingml/2006/main" noGrp="1"/>
          </p:cNvSpPr>
          <p:nvPr/>
        </p:nvSpPr>
        <p:spPr>
          <a:xfrm xmlns:a="http://schemas.openxmlformats.org/drawingml/2006/main">
            <a:off x="723900" y="60960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FFFFFF"/>
                </a:solidFill>
                <a:latin typeface="Menlo"/>
                <a:ea typeface="Menlo"/>
                <a:cs typeface="Menlo"/>
              </a:defRPr>
            </a:pPr>
            <a:r>
              <a:rPr sz="975" b="1" i="0">
                <a:solidFill>
                  <a:srgbClr val="FFFFFF"/>
                </a:solidFill>
                <a:latin typeface="Menlo"/>
                <a:ea typeface="Menlo"/>
                <a:cs typeface="Menlo"/>
              </a:rPr>
              <a:t>FEEDBACK NEVER CHANGES ATTRIBUTION · REFUNDS STILL REDUCE NET</a:t>
            </a:r>
          </a:p>
        </p:txBody>
      </p:sp>
    </p:spTree>
    <p:extLst>
      <p:ext uri="{BB962C8B-B14F-4D97-AF65-F5344CB8AC3E}">
        <p14:creationId xmlns:p14="http://schemas.microsoft.com/office/powerpoint/2010/main" val="210935153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5D00C83-EE4F-421B-8915-34B0B2D2C7E8}"/>
              </a:ext>
            </a:extLst>
          </p:cNvPr>
          <p:cNvSpPr>
            <a:spLocks xmlns:a="http://schemas.openxmlformats.org/drawingml/2006/main" noGrp="1"/>
          </p:cNvSpPr>
          <p:nvPr/>
        </p:nvSpPr>
        <p:spPr>
          <a:xfrm xmlns:a="http://schemas.openxmlformats.org/drawingml/2006/main">
            <a:off x="533400" y="381000"/>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WEBMCP QUALITY LOOP</a:t>
            </a:r>
          </a:p>
        </p:txBody>
      </p:sp>
      <p:sp>
        <p:nvSpPr>
          <p:cNvPr id="2" name="">
            <a:extLst xmlns:a="http://schemas.openxmlformats.org/drawingml/2006/main">
              <a:ext uri="{FF2B5EF4-FFF2-40B4-BE49-F238E27FC236}">
                <a16:creationId xmlns:a16="http://schemas.microsoft.com/office/drawing/2014/main" id="{99FE1F28-B38F-42BC-BCB3-14B56E17D493}"/>
              </a:ext>
            </a:extLst>
          </p:cNvPr>
          <p:cNvSpPr>
            <a:spLocks xmlns:a="http://schemas.openxmlformats.org/drawingml/2006/main" noGrp="1"/>
          </p:cNvSpPr>
          <p:nvPr/>
        </p:nvSpPr>
        <p:spPr>
          <a:xfrm xmlns:a="http://schemas.openxmlformats.org/drawingml/2006/main">
            <a:off x="533400" y="723900"/>
            <a:ext cx="11125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i="0">
                <a:solidFill>
                  <a:srgbClr val="111111"/>
                </a:solidFill>
                <a:latin typeface="Helvetica Neue"/>
                <a:ea typeface="Helvetica Neue"/>
                <a:cs typeface="Helvetica Neue"/>
              </a:defRPr>
            </a:pPr>
            <a:r>
              <a:rPr sz="3150" b="1" i="0">
                <a:solidFill>
                  <a:srgbClr val="111111"/>
                </a:solidFill>
                <a:latin typeface="Helvetica Neue"/>
                <a:ea typeface="Helvetica Neue"/>
                <a:cs typeface="Helvetica Neue"/>
              </a:rPr>
              <a:t>The journey is evaluated before it is published.</a:t>
            </a:r>
          </a:p>
        </p:txBody>
      </p:sp>
      <p:cxnSp>
        <p:nvCxnSpPr>
          <p:cNvPr id="486" name=""/>
          <p:cNvCxnSpPr/>
          <p:nvPr/>
        </p:nvCxnSpPr>
        <p:spPr>
          <a:xfrm xmlns:a="http://schemas.openxmlformats.org/drawingml/2006/main">
            <a:off x="533400" y="6457950"/>
            <a:ext cx="11125200" cy="0"/>
          </a:xfrm>
          <a:prstGeom xmlns:a="http://schemas.openxmlformats.org/drawingml/2006/main" prst="straightConnector1">
            <a:avLst/>
          </a:prstGeom>
          <a:ln xmlns:a="http://schemas.openxmlformats.org/drawingml/2006/main" w="9525">
            <a:solidFill>
              <a:srgbClr val="D1D5D8"/>
            </a:solidFill>
            <a:prstDash val="solid"/>
          </a:ln>
        </p:spPr>
      </p:cxnSp>
      <p:sp>
        <p:nvSpPr>
          <p:cNvPr id="4" name="">
            <a:extLst xmlns:a="http://schemas.openxmlformats.org/drawingml/2006/main">
              <a:ext uri="{FF2B5EF4-FFF2-40B4-BE49-F238E27FC236}">
                <a16:creationId xmlns:a16="http://schemas.microsoft.com/office/drawing/2014/main" id="{9A6A5D05-FC4A-48C1-9EA1-989EFB1B794E}"/>
              </a:ext>
            </a:extLst>
          </p:cNvPr>
          <p:cNvSpPr>
            <a:spLocks xmlns:a="http://schemas.openxmlformats.org/drawingml/2006/main" noGrp="1"/>
          </p:cNvSpPr>
          <p:nvPr/>
        </p:nvSpPr>
        <p:spPr>
          <a:xfrm xmlns:a="http://schemas.openxmlformats.org/drawingml/2006/main">
            <a:off x="533400" y="6553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AGENT SNR · HACKATHON DEMO</a:t>
            </a:r>
          </a:p>
        </p:txBody>
      </p:sp>
      <p:sp>
        <p:nvSpPr>
          <p:cNvPr id="5" name="">
            <a:extLst xmlns:a="http://schemas.openxmlformats.org/drawingml/2006/main">
              <a:ext uri="{FF2B5EF4-FFF2-40B4-BE49-F238E27FC236}">
                <a16:creationId xmlns:a16="http://schemas.microsoft.com/office/drawing/2014/main" id="{ACF9D3D2-0085-4AB7-9CB4-715D1BFC0C4F}"/>
              </a:ext>
            </a:extLst>
          </p:cNvPr>
          <p:cNvSpPr>
            <a:spLocks xmlns:a="http://schemas.openxmlformats.org/drawingml/2006/main" noGrp="1"/>
          </p:cNvSpPr>
          <p:nvPr/>
        </p:nvSpPr>
        <p:spPr>
          <a:xfrm xmlns:a="http://schemas.openxmlformats.org/drawingml/2006/main">
            <a:off x="11049000" y="65341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1" i="0">
                <a:solidFill>
                  <a:srgbClr val="5E666D"/>
                </a:solidFill>
                <a:latin typeface="Menlo"/>
                <a:ea typeface="Menlo"/>
                <a:cs typeface="Menlo"/>
              </a:defRPr>
            </a:pPr>
            <a:r>
              <a:rPr sz="975" b="1" i="0">
                <a:solidFill>
                  <a:srgbClr val="5E666D"/>
                </a:solidFill>
                <a:latin typeface="Menlo"/>
                <a:ea typeface="Menlo"/>
                <a:cs typeface="Menlo"/>
              </a:rPr>
              <a:t>10</a:t>
            </a:r>
          </a:p>
        </p:txBody>
      </p:sp>
      <p:cxnSp>
        <p:nvCxnSpPr>
          <p:cNvPr id="489" name=""/>
          <p:cNvCxnSpPr/>
          <p:nvPr/>
        </p:nvCxnSpPr>
        <p:spPr>
          <a:xfrm xmlns:a="http://schemas.openxmlformats.org/drawingml/2006/main">
            <a:off x="1066800" y="1981200"/>
            <a:ext cx="0" cy="3429000"/>
          </a:xfrm>
          <a:prstGeom xmlns:a="http://schemas.openxmlformats.org/drawingml/2006/main" prst="straightConnector1">
            <a:avLst/>
          </a:prstGeom>
          <a:ln xmlns:a="http://schemas.openxmlformats.org/drawingml/2006/main" w="47625">
            <a:solidFill>
              <a:srgbClr val="1769FF"/>
            </a:solidFill>
            <a:prstDash val="solid"/>
          </a:ln>
        </p:spPr>
      </p:cxnSp>
      <p:sp>
        <p:nvSpPr>
          <p:cNvPr id="7" name="">
            <a:extLst xmlns:a="http://schemas.openxmlformats.org/drawingml/2006/main">
              <a:ext uri="{FF2B5EF4-FFF2-40B4-BE49-F238E27FC236}">
                <a16:creationId xmlns:a16="http://schemas.microsoft.com/office/drawing/2014/main" id="{A2FA3395-C11B-4B28-9E18-9C13D31FD7B1}"/>
              </a:ext>
            </a:extLst>
          </p:cNvPr>
          <p:cNvSpPr>
            <a:spLocks xmlns:a="http://schemas.openxmlformats.org/drawingml/2006/main" noGrp="1"/>
          </p:cNvSpPr>
          <p:nvPr/>
        </p:nvSpPr>
        <p:spPr>
          <a:xfrm xmlns:a="http://schemas.openxmlformats.org/drawingml/2006/main">
            <a:off x="866775" y="1809750"/>
            <a:ext cx="400050" cy="400050"/>
          </a:xfrm>
          <a:prstGeom xmlns:a="http://schemas.openxmlformats.org/drawingml/2006/main" prst="roundRect">
            <a:avLst>
              <a:gd name="adj" fmla="val 28571"/>
            </a:avLst>
          </a:prstGeom>
          <a:solidFill xmlns:a="http://schemas.openxmlformats.org/drawingml/2006/main">
            <a:srgbClr val="1769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B5C2877-4A68-4A5A-BC16-036E5FB1C798}"/>
              </a:ext>
            </a:extLst>
          </p:cNvPr>
          <p:cNvSpPr>
            <a:spLocks xmlns:a="http://schemas.openxmlformats.org/drawingml/2006/main" noGrp="1"/>
          </p:cNvSpPr>
          <p:nvPr/>
        </p:nvSpPr>
        <p:spPr>
          <a:xfrm xmlns:a="http://schemas.openxmlformats.org/drawingml/2006/main">
            <a:off x="866775" y="1933575"/>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825" b="1" i="0">
                <a:solidFill>
                  <a:srgbClr val="FFFFFF"/>
                </a:solidFill>
                <a:latin typeface="Menlo"/>
                <a:ea typeface="Menlo"/>
                <a:cs typeface="Menlo"/>
              </a:defRPr>
            </a:pPr>
            <a:r>
              <a:rPr sz="825" b="1" i="0">
                <a:solidFill>
                  <a:srgbClr val="FFFFFF"/>
                </a:solidFill>
                <a:latin typeface="Menlo"/>
                <a:ea typeface="Menlo"/>
                <a:cs typeface="Menlo"/>
              </a:rPr>
              <a:t>01</a:t>
            </a:r>
          </a:p>
        </p:txBody>
      </p:sp>
      <p:sp>
        <p:nvSpPr>
          <p:cNvPr id="9" name="">
            <a:extLst xmlns:a="http://schemas.openxmlformats.org/drawingml/2006/main">
              <a:ext uri="{FF2B5EF4-FFF2-40B4-BE49-F238E27FC236}">
                <a16:creationId xmlns:a16="http://schemas.microsoft.com/office/drawing/2014/main" id="{DD5791A2-1EB4-4920-B268-B001ECB3AD73}"/>
              </a:ext>
            </a:extLst>
          </p:cNvPr>
          <p:cNvSpPr>
            <a:spLocks xmlns:a="http://schemas.openxmlformats.org/drawingml/2006/main" noGrp="1"/>
          </p:cNvSpPr>
          <p:nvPr/>
        </p:nvSpPr>
        <p:spPr>
          <a:xfrm xmlns:a="http://schemas.openxmlformats.org/drawingml/2006/main">
            <a:off x="1543050" y="17907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Contract parity</a:t>
            </a:r>
          </a:p>
        </p:txBody>
      </p:sp>
      <p:sp>
        <p:nvSpPr>
          <p:cNvPr id="10" name="">
            <a:extLst xmlns:a="http://schemas.openxmlformats.org/drawingml/2006/main">
              <a:ext uri="{FF2B5EF4-FFF2-40B4-BE49-F238E27FC236}">
                <a16:creationId xmlns:a16="http://schemas.microsoft.com/office/drawing/2014/main" id="{9A58CD9D-2850-4E99-9EB3-C37DA6E650B2}"/>
              </a:ext>
            </a:extLst>
          </p:cNvPr>
          <p:cNvSpPr>
            <a:spLocks xmlns:a="http://schemas.openxmlformats.org/drawingml/2006/main" noGrp="1"/>
          </p:cNvSpPr>
          <p:nvPr/>
        </p:nvSpPr>
        <p:spPr>
          <a:xfrm xmlns:a="http://schemas.openxmlformats.org/drawingml/2006/main">
            <a:off x="1543050" y="212407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20 PUBLIC TOOLS · STRICT SCHEMAS</a:t>
            </a:r>
          </a:p>
        </p:txBody>
      </p:sp>
      <p:sp>
        <p:nvSpPr>
          <p:cNvPr id="11" name="">
            <a:extLst xmlns:a="http://schemas.openxmlformats.org/drawingml/2006/main">
              <a:ext uri="{FF2B5EF4-FFF2-40B4-BE49-F238E27FC236}">
                <a16:creationId xmlns:a16="http://schemas.microsoft.com/office/drawing/2014/main" id="{1C7F587E-09F3-4160-8DB8-5991D232B21A}"/>
              </a:ext>
            </a:extLst>
          </p:cNvPr>
          <p:cNvSpPr>
            <a:spLocks xmlns:a="http://schemas.openxmlformats.org/drawingml/2006/main" noGrp="1"/>
          </p:cNvSpPr>
          <p:nvPr/>
        </p:nvSpPr>
        <p:spPr>
          <a:xfrm xmlns:a="http://schemas.openxmlformats.org/drawingml/2006/main">
            <a:off x="866775" y="2543175"/>
            <a:ext cx="400050" cy="400050"/>
          </a:xfrm>
          <a:prstGeom xmlns:a="http://schemas.openxmlformats.org/drawingml/2006/main" prst="roundRect">
            <a:avLst>
              <a:gd name="adj" fmla="val 28571"/>
            </a:avLst>
          </a:prstGeom>
          <a:solidFill xmlns:a="http://schemas.openxmlformats.org/drawingml/2006/main">
            <a:srgbClr val="1769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ADF2322-6576-49D4-995C-9A639D680227}"/>
              </a:ext>
            </a:extLst>
          </p:cNvPr>
          <p:cNvSpPr>
            <a:spLocks xmlns:a="http://schemas.openxmlformats.org/drawingml/2006/main" noGrp="1"/>
          </p:cNvSpPr>
          <p:nvPr/>
        </p:nvSpPr>
        <p:spPr>
          <a:xfrm xmlns:a="http://schemas.openxmlformats.org/drawingml/2006/main">
            <a:off x="866775" y="266700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825" b="1" i="0">
                <a:solidFill>
                  <a:srgbClr val="FFFFFF"/>
                </a:solidFill>
                <a:latin typeface="Menlo"/>
                <a:ea typeface="Menlo"/>
                <a:cs typeface="Menlo"/>
              </a:defRPr>
            </a:pPr>
            <a:r>
              <a:rPr sz="825" b="1" i="0">
                <a:solidFill>
                  <a:srgbClr val="FFFFFF"/>
                </a:solidFill>
                <a:latin typeface="Menlo"/>
                <a:ea typeface="Menlo"/>
                <a:cs typeface="Menlo"/>
              </a:rPr>
              <a:t>02</a:t>
            </a:r>
          </a:p>
        </p:txBody>
      </p:sp>
      <p:sp>
        <p:nvSpPr>
          <p:cNvPr id="13" name="">
            <a:extLst xmlns:a="http://schemas.openxmlformats.org/drawingml/2006/main">
              <a:ext uri="{FF2B5EF4-FFF2-40B4-BE49-F238E27FC236}">
                <a16:creationId xmlns:a16="http://schemas.microsoft.com/office/drawing/2014/main" id="{2C0A6668-446E-48F3-8687-0F268731485A}"/>
              </a:ext>
            </a:extLst>
          </p:cNvPr>
          <p:cNvSpPr>
            <a:spLocks xmlns:a="http://schemas.openxmlformats.org/drawingml/2006/main" noGrp="1"/>
          </p:cNvSpPr>
          <p:nvPr/>
        </p:nvSpPr>
        <p:spPr>
          <a:xfrm xmlns:a="http://schemas.openxmlformats.org/drawingml/2006/main">
            <a:off x="1543050" y="25241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Native smoke</a:t>
            </a:r>
          </a:p>
        </p:txBody>
      </p:sp>
      <p:sp>
        <p:nvSpPr>
          <p:cNvPr id="14" name="">
            <a:extLst xmlns:a="http://schemas.openxmlformats.org/drawingml/2006/main">
              <a:ext uri="{FF2B5EF4-FFF2-40B4-BE49-F238E27FC236}">
                <a16:creationId xmlns:a16="http://schemas.microsoft.com/office/drawing/2014/main" id="{7BD406D8-C5F1-415E-912F-DA9FC36F0AB9}"/>
              </a:ext>
            </a:extLst>
          </p:cNvPr>
          <p:cNvSpPr>
            <a:spLocks xmlns:a="http://schemas.openxmlformats.org/drawingml/2006/main" noGrp="1"/>
          </p:cNvSpPr>
          <p:nvPr/>
        </p:nvSpPr>
        <p:spPr>
          <a:xfrm xmlns:a="http://schemas.openxmlformats.org/drawingml/2006/main">
            <a:off x="1543050" y="28575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11/11 KEYLESS CHROME CALLS</a:t>
            </a:r>
          </a:p>
        </p:txBody>
      </p:sp>
      <p:sp>
        <p:nvSpPr>
          <p:cNvPr id="15" name="">
            <a:extLst xmlns:a="http://schemas.openxmlformats.org/drawingml/2006/main">
              <a:ext uri="{FF2B5EF4-FFF2-40B4-BE49-F238E27FC236}">
                <a16:creationId xmlns:a16="http://schemas.microsoft.com/office/drawing/2014/main" id="{B8B4F8D9-E9F5-4FDD-925C-D183CBCC6848}"/>
              </a:ext>
            </a:extLst>
          </p:cNvPr>
          <p:cNvSpPr>
            <a:spLocks xmlns:a="http://schemas.openxmlformats.org/drawingml/2006/main" noGrp="1"/>
          </p:cNvSpPr>
          <p:nvPr/>
        </p:nvSpPr>
        <p:spPr>
          <a:xfrm xmlns:a="http://schemas.openxmlformats.org/drawingml/2006/main">
            <a:off x="866775" y="3276600"/>
            <a:ext cx="400050" cy="400050"/>
          </a:xfrm>
          <a:prstGeom xmlns:a="http://schemas.openxmlformats.org/drawingml/2006/main" prst="roundRect">
            <a:avLst>
              <a:gd name="adj" fmla="val 28571"/>
            </a:avLst>
          </a:prstGeom>
          <a:solidFill xmlns:a="http://schemas.openxmlformats.org/drawingml/2006/main">
            <a:srgbClr val="1769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C6A2EEB-1BDF-4B61-A846-24F198E381C7}"/>
              </a:ext>
            </a:extLst>
          </p:cNvPr>
          <p:cNvSpPr>
            <a:spLocks xmlns:a="http://schemas.openxmlformats.org/drawingml/2006/main" noGrp="1"/>
          </p:cNvSpPr>
          <p:nvPr/>
        </p:nvSpPr>
        <p:spPr>
          <a:xfrm xmlns:a="http://schemas.openxmlformats.org/drawingml/2006/main">
            <a:off x="866775" y="3400425"/>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825" b="1" i="0">
                <a:solidFill>
                  <a:srgbClr val="FFFFFF"/>
                </a:solidFill>
                <a:latin typeface="Menlo"/>
                <a:ea typeface="Menlo"/>
                <a:cs typeface="Menlo"/>
              </a:defRPr>
            </a:pPr>
            <a:r>
              <a:rPr sz="825" b="1" i="0">
                <a:solidFill>
                  <a:srgbClr val="FFFFFF"/>
                </a:solidFill>
                <a:latin typeface="Menlo"/>
                <a:ea typeface="Menlo"/>
                <a:cs typeface="Menlo"/>
              </a:rPr>
              <a:t>03</a:t>
            </a:r>
          </a:p>
        </p:txBody>
      </p:sp>
      <p:sp>
        <p:nvSpPr>
          <p:cNvPr id="17" name="">
            <a:extLst xmlns:a="http://schemas.openxmlformats.org/drawingml/2006/main">
              <a:ext uri="{FF2B5EF4-FFF2-40B4-BE49-F238E27FC236}">
                <a16:creationId xmlns:a16="http://schemas.microsoft.com/office/drawing/2014/main" id="{A5CBDFC3-EBEF-4836-8119-B63E570DA10C}"/>
              </a:ext>
            </a:extLst>
          </p:cNvPr>
          <p:cNvSpPr>
            <a:spLocks xmlns:a="http://schemas.openxmlformats.org/drawingml/2006/main" noGrp="1"/>
          </p:cNvSpPr>
          <p:nvPr/>
        </p:nvSpPr>
        <p:spPr>
          <a:xfrm xmlns:a="http://schemas.openxmlformats.org/drawingml/2006/main">
            <a:off x="1543050" y="32575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Model behavior</a:t>
            </a:r>
          </a:p>
        </p:txBody>
      </p:sp>
      <p:sp>
        <p:nvSpPr>
          <p:cNvPr id="18" name="">
            <a:extLst xmlns:a="http://schemas.openxmlformats.org/drawingml/2006/main">
              <a:ext uri="{FF2B5EF4-FFF2-40B4-BE49-F238E27FC236}">
                <a16:creationId xmlns:a16="http://schemas.microsoft.com/office/drawing/2014/main" id="{2E6E3F81-2EDB-4472-8CEE-C61FBF9D99AF}"/>
              </a:ext>
            </a:extLst>
          </p:cNvPr>
          <p:cNvSpPr>
            <a:spLocks xmlns:a="http://schemas.openxmlformats.org/drawingml/2006/main" noGrp="1"/>
          </p:cNvSpPr>
          <p:nvPr/>
        </p:nvSpPr>
        <p:spPr>
          <a:xfrm xmlns:a="http://schemas.openxmlformats.org/drawingml/2006/main">
            <a:off x="1543050" y="359092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SELECTION · RECOVERY · NO-CALL</a:t>
            </a:r>
          </a:p>
        </p:txBody>
      </p:sp>
      <p:sp>
        <p:nvSpPr>
          <p:cNvPr id="19" name="">
            <a:extLst xmlns:a="http://schemas.openxmlformats.org/drawingml/2006/main">
              <a:ext uri="{FF2B5EF4-FFF2-40B4-BE49-F238E27FC236}">
                <a16:creationId xmlns:a16="http://schemas.microsoft.com/office/drawing/2014/main" id="{6B987522-8C2D-4C4D-86C7-0BE5D7826950}"/>
              </a:ext>
            </a:extLst>
          </p:cNvPr>
          <p:cNvSpPr>
            <a:spLocks xmlns:a="http://schemas.openxmlformats.org/drawingml/2006/main" noGrp="1"/>
          </p:cNvSpPr>
          <p:nvPr/>
        </p:nvSpPr>
        <p:spPr>
          <a:xfrm xmlns:a="http://schemas.openxmlformats.org/drawingml/2006/main">
            <a:off x="866775" y="4010025"/>
            <a:ext cx="400050" cy="400050"/>
          </a:xfrm>
          <a:prstGeom xmlns:a="http://schemas.openxmlformats.org/drawingml/2006/main" prst="roundRect">
            <a:avLst>
              <a:gd name="adj" fmla="val 28571"/>
            </a:avLst>
          </a:prstGeom>
          <a:solidFill xmlns:a="http://schemas.openxmlformats.org/drawingml/2006/main">
            <a:srgbClr val="1769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9B203BB-87CE-43F8-86D2-FA819E171153}"/>
              </a:ext>
            </a:extLst>
          </p:cNvPr>
          <p:cNvSpPr>
            <a:spLocks xmlns:a="http://schemas.openxmlformats.org/drawingml/2006/main" noGrp="1"/>
          </p:cNvSpPr>
          <p:nvPr/>
        </p:nvSpPr>
        <p:spPr>
          <a:xfrm xmlns:a="http://schemas.openxmlformats.org/drawingml/2006/main">
            <a:off x="866775" y="413385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825" b="1" i="0">
                <a:solidFill>
                  <a:srgbClr val="FFFFFF"/>
                </a:solidFill>
                <a:latin typeface="Menlo"/>
                <a:ea typeface="Menlo"/>
                <a:cs typeface="Menlo"/>
              </a:defRPr>
            </a:pPr>
            <a:r>
              <a:rPr sz="825" b="1" i="0">
                <a:solidFill>
                  <a:srgbClr val="FFFFFF"/>
                </a:solidFill>
                <a:latin typeface="Menlo"/>
                <a:ea typeface="Menlo"/>
                <a:cs typeface="Menlo"/>
              </a:rPr>
              <a:t>04</a:t>
            </a:r>
          </a:p>
        </p:txBody>
      </p:sp>
      <p:sp>
        <p:nvSpPr>
          <p:cNvPr id="21" name="">
            <a:extLst xmlns:a="http://schemas.openxmlformats.org/drawingml/2006/main">
              <a:ext uri="{FF2B5EF4-FFF2-40B4-BE49-F238E27FC236}">
                <a16:creationId xmlns:a16="http://schemas.microsoft.com/office/drawing/2014/main" id="{44E0907A-66E6-4641-8BA1-7632004EFE69}"/>
              </a:ext>
            </a:extLst>
          </p:cNvPr>
          <p:cNvSpPr>
            <a:spLocks xmlns:a="http://schemas.openxmlformats.org/drawingml/2006/main" noGrp="1"/>
          </p:cNvSpPr>
          <p:nvPr/>
        </p:nvSpPr>
        <p:spPr>
          <a:xfrm xmlns:a="http://schemas.openxmlformats.org/drawingml/2006/main">
            <a:off x="1543050" y="39909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Workbench</a:t>
            </a:r>
          </a:p>
        </p:txBody>
      </p:sp>
      <p:sp>
        <p:nvSpPr>
          <p:cNvPr id="22" name="">
            <a:extLst xmlns:a="http://schemas.openxmlformats.org/drawingml/2006/main">
              <a:ext uri="{FF2B5EF4-FFF2-40B4-BE49-F238E27FC236}">
                <a16:creationId xmlns:a16="http://schemas.microsoft.com/office/drawing/2014/main" id="{A284B02F-A558-4641-BF0D-D07FE801933F}"/>
              </a:ext>
            </a:extLst>
          </p:cNvPr>
          <p:cNvSpPr>
            <a:spLocks xmlns:a="http://schemas.openxmlformats.org/drawingml/2006/main" noGrp="1"/>
          </p:cNvSpPr>
          <p:nvPr/>
        </p:nvSpPr>
        <p:spPr>
          <a:xfrm xmlns:a="http://schemas.openxmlformats.org/drawingml/2006/main">
            <a:off x="1543050" y="43243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AUDIT · REPLAY · USER MODE</a:t>
            </a:r>
          </a:p>
        </p:txBody>
      </p:sp>
      <p:sp>
        <p:nvSpPr>
          <p:cNvPr id="23" name="">
            <a:extLst xmlns:a="http://schemas.openxmlformats.org/drawingml/2006/main">
              <a:ext uri="{FF2B5EF4-FFF2-40B4-BE49-F238E27FC236}">
                <a16:creationId xmlns:a16="http://schemas.microsoft.com/office/drawing/2014/main" id="{0984F2CF-D070-4F8D-B9DD-DB294E3A7E17}"/>
              </a:ext>
            </a:extLst>
          </p:cNvPr>
          <p:cNvSpPr>
            <a:spLocks xmlns:a="http://schemas.openxmlformats.org/drawingml/2006/main" noGrp="1"/>
          </p:cNvSpPr>
          <p:nvPr/>
        </p:nvSpPr>
        <p:spPr>
          <a:xfrm xmlns:a="http://schemas.openxmlformats.org/drawingml/2006/main">
            <a:off x="866775" y="4743450"/>
            <a:ext cx="400050" cy="400050"/>
          </a:xfrm>
          <a:prstGeom xmlns:a="http://schemas.openxmlformats.org/drawingml/2006/main" prst="roundRect">
            <a:avLst>
              <a:gd name="adj" fmla="val 28571"/>
            </a:avLst>
          </a:prstGeom>
          <a:solidFill xmlns:a="http://schemas.openxmlformats.org/drawingml/2006/main">
            <a:srgbClr val="1769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91FCE5F-E792-4194-BC46-D305CB272B34}"/>
              </a:ext>
            </a:extLst>
          </p:cNvPr>
          <p:cNvSpPr>
            <a:spLocks xmlns:a="http://schemas.openxmlformats.org/drawingml/2006/main" noGrp="1"/>
          </p:cNvSpPr>
          <p:nvPr/>
        </p:nvSpPr>
        <p:spPr>
          <a:xfrm xmlns:a="http://schemas.openxmlformats.org/drawingml/2006/main">
            <a:off x="866775" y="4867275"/>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825" b="1" i="0">
                <a:solidFill>
                  <a:srgbClr val="FFFFFF"/>
                </a:solidFill>
                <a:latin typeface="Menlo"/>
                <a:ea typeface="Menlo"/>
                <a:cs typeface="Menlo"/>
              </a:defRPr>
            </a:pPr>
            <a:r>
              <a:rPr sz="825" b="1" i="0">
                <a:solidFill>
                  <a:srgbClr val="FFFFFF"/>
                </a:solidFill>
                <a:latin typeface="Menlo"/>
                <a:ea typeface="Menlo"/>
                <a:cs typeface="Menlo"/>
              </a:rPr>
              <a:t>05</a:t>
            </a:r>
          </a:p>
        </p:txBody>
      </p:sp>
      <p:sp>
        <p:nvSpPr>
          <p:cNvPr id="25" name="">
            <a:extLst xmlns:a="http://schemas.openxmlformats.org/drawingml/2006/main">
              <a:ext uri="{FF2B5EF4-FFF2-40B4-BE49-F238E27FC236}">
                <a16:creationId xmlns:a16="http://schemas.microsoft.com/office/drawing/2014/main" id="{63B0682D-1427-41B3-82DB-147D087C56D3}"/>
              </a:ext>
            </a:extLst>
          </p:cNvPr>
          <p:cNvSpPr>
            <a:spLocks xmlns:a="http://schemas.openxmlformats.org/drawingml/2006/main" noGrp="1"/>
          </p:cNvSpPr>
          <p:nvPr/>
        </p:nvSpPr>
        <p:spPr>
          <a:xfrm xmlns:a="http://schemas.openxmlformats.org/drawingml/2006/main">
            <a:off x="1543050" y="47244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Public listing</a:t>
            </a:r>
          </a:p>
        </p:txBody>
      </p:sp>
      <p:sp>
        <p:nvSpPr>
          <p:cNvPr id="26" name="">
            <a:extLst xmlns:a="http://schemas.openxmlformats.org/drawingml/2006/main">
              <a:ext uri="{FF2B5EF4-FFF2-40B4-BE49-F238E27FC236}">
                <a16:creationId xmlns:a16="http://schemas.microsoft.com/office/drawing/2014/main" id="{53DB5D56-7281-4F56-968D-0C5FC89A3327}"/>
              </a:ext>
            </a:extLst>
          </p:cNvPr>
          <p:cNvSpPr>
            <a:spLocks xmlns:a="http://schemas.openxmlformats.org/drawingml/2006/main" noGrp="1"/>
          </p:cNvSpPr>
          <p:nvPr/>
        </p:nvSpPr>
        <p:spPr>
          <a:xfrm xmlns:a="http://schemas.openxmlformats.org/drawingml/2006/main">
            <a:off x="1543050" y="505777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SCANNER · DIRECTORY API</a:t>
            </a:r>
          </a:p>
        </p:txBody>
      </p:sp>
      <p:sp>
        <p:nvSpPr>
          <p:cNvPr id="27" name="">
            <a:extLst xmlns:a="http://schemas.openxmlformats.org/drawingml/2006/main">
              <a:ext uri="{FF2B5EF4-FFF2-40B4-BE49-F238E27FC236}">
                <a16:creationId xmlns:a16="http://schemas.microsoft.com/office/drawing/2014/main" id="{4BCD8BBC-EEDE-4134-89BC-B3773AF8D1E8}"/>
              </a:ext>
            </a:extLst>
          </p:cNvPr>
          <p:cNvSpPr>
            <a:spLocks xmlns:a="http://schemas.openxmlformats.org/drawingml/2006/main" noGrp="1"/>
          </p:cNvSpPr>
          <p:nvPr/>
        </p:nvSpPr>
        <p:spPr>
          <a:xfrm xmlns:a="http://schemas.openxmlformats.org/drawingml/2006/main">
            <a:off x="6667500" y="1952625"/>
            <a:ext cx="4591050" cy="3162300"/>
          </a:xfrm>
          <a:prstGeom xmlns:a="http://schemas.openxmlformats.org/drawingml/2006/main" prst="roundRect">
            <a:avLst>
              <a:gd name="adj" fmla="val 3614"/>
            </a:avLst>
          </a:prstGeom>
          <a:solidFill xmlns:a="http://schemas.openxmlformats.org/drawingml/2006/main">
            <a:srgbClr val="111111"/>
          </a:solidFill>
          <a:ln xmlns:a="http://schemas.openxmlformats.org/drawingml/2006/main" w="9525">
            <a:solidFill>
              <a:srgbClr val="111111"/>
            </a:solidFill>
            <a:prstDash val="solid"/>
          </a:ln>
        </p:spPr>
      </p:sp>
      <p:sp>
        <p:nvSpPr>
          <p:cNvPr id="28" name="">
            <a:extLst xmlns:a="http://schemas.openxmlformats.org/drawingml/2006/main">
              <a:ext uri="{FF2B5EF4-FFF2-40B4-BE49-F238E27FC236}">
                <a16:creationId xmlns:a16="http://schemas.microsoft.com/office/drawing/2014/main" id="{7352F084-42B1-4C54-8E52-C6861992BDBA}"/>
              </a:ext>
            </a:extLst>
          </p:cNvPr>
          <p:cNvSpPr>
            <a:spLocks xmlns:a="http://schemas.openxmlformats.org/drawingml/2006/main" noGrp="1"/>
          </p:cNvSpPr>
          <p:nvPr/>
        </p:nvSpPr>
        <p:spPr>
          <a:xfrm xmlns:a="http://schemas.openxmlformats.org/drawingml/2006/main">
            <a:off x="6953250" y="22383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DCE8FF"/>
                </a:solidFill>
                <a:latin typeface="Menlo"/>
                <a:ea typeface="Menlo"/>
                <a:cs typeface="Menlo"/>
              </a:defRPr>
            </a:pPr>
            <a:r>
              <a:rPr sz="975" b="1" i="0">
                <a:solidFill>
                  <a:srgbClr val="DCE8FF"/>
                </a:solidFill>
                <a:latin typeface="Menlo"/>
                <a:ea typeface="Menlo"/>
                <a:cs typeface="Menlo"/>
              </a:rPr>
              <a:t>PROVEN LOCALLY</a:t>
            </a:r>
          </a:p>
        </p:txBody>
      </p:sp>
      <p:sp>
        <p:nvSpPr>
          <p:cNvPr id="29" name="">
            <a:extLst xmlns:a="http://schemas.openxmlformats.org/drawingml/2006/main">
              <a:ext uri="{FF2B5EF4-FFF2-40B4-BE49-F238E27FC236}">
                <a16:creationId xmlns:a16="http://schemas.microsoft.com/office/drawing/2014/main" id="{04A728AE-B6DC-4406-9019-6B025444FED8}"/>
              </a:ext>
            </a:extLst>
          </p:cNvPr>
          <p:cNvSpPr>
            <a:spLocks xmlns:a="http://schemas.openxmlformats.org/drawingml/2006/main" noGrp="1"/>
          </p:cNvSpPr>
          <p:nvPr/>
        </p:nvSpPr>
        <p:spPr>
          <a:xfrm xmlns:a="http://schemas.openxmlformats.org/drawingml/2006/main">
            <a:off x="6953250" y="2600325"/>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00" b="1" i="0">
                <a:solidFill>
                  <a:srgbClr val="FFFFFF"/>
                </a:solidFill>
                <a:latin typeface="Helvetica Neue"/>
                <a:ea typeface="Helvetica Neue"/>
                <a:cs typeface="Helvetica Neue"/>
              </a:defRPr>
            </a:pPr>
            <a:r>
              <a:rPr sz="2700" b="1" i="0">
                <a:solidFill>
                  <a:srgbClr val="FFFFFF"/>
                </a:solidFill>
                <a:latin typeface="Helvetica Neue"/>
                <a:ea typeface="Helvetica Neue"/>
                <a:cs typeface="Helvetica Neue"/>
              </a:rPr>
              <a:t>Native + model evals</a:t>
            </a:r>
          </a:p>
        </p:txBody>
      </p:sp>
      <p:cxnSp>
        <p:nvCxnSpPr>
          <p:cNvPr id="513" name=""/>
          <p:cNvCxnSpPr/>
          <p:nvPr/>
        </p:nvCxnSpPr>
        <p:spPr>
          <a:xfrm xmlns:a="http://schemas.openxmlformats.org/drawingml/2006/main">
            <a:off x="6953250" y="3248025"/>
            <a:ext cx="3714750" cy="0"/>
          </a:xfrm>
          <a:prstGeom xmlns:a="http://schemas.openxmlformats.org/drawingml/2006/main" prst="straightConnector1">
            <a:avLst/>
          </a:prstGeom>
          <a:ln xmlns:a="http://schemas.openxmlformats.org/drawingml/2006/main" w="9525">
            <a:solidFill>
              <a:srgbClr val="4A5260"/>
            </a:solidFill>
            <a:prstDash val="solid"/>
          </a:ln>
        </p:spPr>
      </p:cxnSp>
      <p:sp>
        <p:nvSpPr>
          <p:cNvPr id="31" name="">
            <a:extLst xmlns:a="http://schemas.openxmlformats.org/drawingml/2006/main">
              <a:ext uri="{FF2B5EF4-FFF2-40B4-BE49-F238E27FC236}">
                <a16:creationId xmlns:a16="http://schemas.microsoft.com/office/drawing/2014/main" id="{724B710B-93AD-4F55-860C-8F692366B170}"/>
              </a:ext>
            </a:extLst>
          </p:cNvPr>
          <p:cNvSpPr>
            <a:spLocks xmlns:a="http://schemas.openxmlformats.org/drawingml/2006/main" noGrp="1"/>
          </p:cNvSpPr>
          <p:nvPr/>
        </p:nvSpPr>
        <p:spPr>
          <a:xfrm xmlns:a="http://schemas.openxmlformats.org/drawingml/2006/main">
            <a:off x="6953250" y="353377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AEB5BE"/>
                </a:solidFill>
                <a:latin typeface="Menlo"/>
                <a:ea typeface="Menlo"/>
                <a:cs typeface="Menlo"/>
              </a:defRPr>
            </a:pPr>
            <a:r>
              <a:rPr sz="975" b="1" i="0">
                <a:solidFill>
                  <a:srgbClr val="AEB5BE"/>
                </a:solidFill>
                <a:latin typeface="Menlo"/>
                <a:ea typeface="Menlo"/>
                <a:cs typeface="Menlo"/>
              </a:rPr>
              <a:t>RELEASE OWNER CHECKS</a:t>
            </a:r>
          </a:p>
        </p:txBody>
      </p:sp>
      <p:sp>
        <p:nvSpPr>
          <p:cNvPr id="32" name="">
            <a:extLst xmlns:a="http://schemas.openxmlformats.org/drawingml/2006/main">
              <a:ext uri="{FF2B5EF4-FFF2-40B4-BE49-F238E27FC236}">
                <a16:creationId xmlns:a16="http://schemas.microsoft.com/office/drawing/2014/main" id="{EA0685BA-B383-4726-A0BD-88A9CEA8E137}"/>
              </a:ext>
            </a:extLst>
          </p:cNvPr>
          <p:cNvSpPr>
            <a:spLocks xmlns:a="http://schemas.openxmlformats.org/drawingml/2006/main" noGrp="1"/>
          </p:cNvSpPr>
          <p:nvPr/>
        </p:nvSpPr>
        <p:spPr>
          <a:xfrm xmlns:a="http://schemas.openxmlformats.org/drawingml/2006/main">
            <a:off x="6953250" y="3886200"/>
            <a:ext cx="3714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750"/>
          </a:bodyPr>
          <a:lstStyle xmlns:a="http://schemas.openxmlformats.org/drawingml/2006/main"/>
          <a:p xmlns:a="http://schemas.openxmlformats.org/drawingml/2006/main">
            <a:pPr algn="l">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Required · real client</a:t>
            </a:r>
          </a:p>
          <a:p xmlns:a="http://schemas.openxmlformats.org/drawingml/2006/main">
            <a:pPr algn="l">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Optional · Workbench</a:t>
            </a:r>
          </a:p>
          <a:p xmlns:a="http://schemas.openxmlformats.org/drawingml/2006/main">
            <a:pPr algn="l">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Optional · scanner</a:t>
            </a:r>
          </a:p>
          <a:p xmlns:a="http://schemas.openxmlformats.org/drawingml/2006/main">
            <a:pPr algn="l">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Optional · directory</a:t>
            </a:r>
          </a:p>
        </p:txBody>
      </p:sp>
      <p:sp>
        <p:nvSpPr>
          <p:cNvPr id="33" name="">
            <a:extLst xmlns:a="http://schemas.openxmlformats.org/drawingml/2006/main">
              <a:ext uri="{FF2B5EF4-FFF2-40B4-BE49-F238E27FC236}">
                <a16:creationId xmlns:a16="http://schemas.microsoft.com/office/drawing/2014/main" id="{97471E82-3677-49C6-8FC7-0A2AE03A63E0}"/>
              </a:ext>
            </a:extLst>
          </p:cNvPr>
          <p:cNvSpPr>
            <a:spLocks xmlns:a="http://schemas.openxmlformats.org/drawingml/2006/main" noGrp="1"/>
          </p:cNvSpPr>
          <p:nvPr/>
        </p:nvSpPr>
        <p:spPr>
          <a:xfrm xmlns:a="http://schemas.openxmlformats.org/drawingml/2006/main">
            <a:off x="6667500" y="5391150"/>
            <a:ext cx="459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EXTERNAL EVIDENCE RUNS ONLY AGAINST THE FROZEN RELEASE.</a:t>
            </a:r>
          </a:p>
        </p:txBody>
      </p:sp>
    </p:spTree>
    <p:extLst>
      <p:ext uri="{BB962C8B-B14F-4D97-AF65-F5344CB8AC3E}">
        <p14:creationId xmlns:p14="http://schemas.microsoft.com/office/powerpoint/2010/main" val="83419939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B2191F0-2E06-41A8-A101-0072BB1AB539}"/>
              </a:ext>
            </a:extLst>
          </p:cNvPr>
          <p:cNvSpPr>
            <a:spLocks xmlns:a="http://schemas.openxmlformats.org/drawingml/2006/main" noGrp="1"/>
          </p:cNvSpPr>
          <p:nvPr/>
        </p:nvSpPr>
        <p:spPr>
          <a:xfrm xmlns:a="http://schemas.openxmlformats.org/drawingml/2006/main">
            <a:off x="533400" y="381000"/>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1769FF"/>
                </a:solidFill>
                <a:latin typeface="Menlo"/>
                <a:ea typeface="Menlo"/>
                <a:cs typeface="Menlo"/>
              </a:defRPr>
            </a:pPr>
            <a:r>
              <a:rPr sz="975" b="1" i="0">
                <a:solidFill>
                  <a:srgbClr val="1769FF"/>
                </a:solidFill>
                <a:latin typeface="Menlo"/>
                <a:ea typeface="Menlo"/>
                <a:cs typeface="Menlo"/>
              </a:rPr>
              <a:t>PROOF</a:t>
            </a:r>
          </a:p>
        </p:txBody>
      </p:sp>
      <p:sp>
        <p:nvSpPr>
          <p:cNvPr id="2" name="">
            <a:extLst xmlns:a="http://schemas.openxmlformats.org/drawingml/2006/main">
              <a:ext uri="{FF2B5EF4-FFF2-40B4-BE49-F238E27FC236}">
                <a16:creationId xmlns:a16="http://schemas.microsoft.com/office/drawing/2014/main" id="{554A02D3-69CF-45D7-8D83-4914905B8499}"/>
              </a:ext>
            </a:extLst>
          </p:cNvPr>
          <p:cNvSpPr>
            <a:spLocks xmlns:a="http://schemas.openxmlformats.org/drawingml/2006/main" noGrp="1"/>
          </p:cNvSpPr>
          <p:nvPr/>
        </p:nvSpPr>
        <p:spPr>
          <a:xfrm xmlns:a="http://schemas.openxmlformats.org/drawingml/2006/main">
            <a:off x="533400" y="723900"/>
            <a:ext cx="11125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i="0">
                <a:solidFill>
                  <a:srgbClr val="111111"/>
                </a:solidFill>
                <a:latin typeface="Helvetica Neue"/>
                <a:ea typeface="Helvetica Neue"/>
                <a:cs typeface="Helvetica Neue"/>
              </a:defRPr>
            </a:pPr>
            <a:r>
              <a:rPr sz="3150" b="1" i="0">
                <a:solidFill>
                  <a:srgbClr val="111111"/>
                </a:solidFill>
                <a:latin typeface="Helvetica Neue"/>
                <a:ea typeface="Helvetica Neue"/>
                <a:cs typeface="Helvetica Neue"/>
              </a:rPr>
              <a:t>The critical boundaries are tested, not staged.</a:t>
            </a:r>
          </a:p>
        </p:txBody>
      </p:sp>
      <p:cxnSp>
        <p:nvCxnSpPr>
          <p:cNvPr id="356" name=""/>
          <p:cNvCxnSpPr/>
          <p:nvPr/>
        </p:nvCxnSpPr>
        <p:spPr>
          <a:xfrm xmlns:a="http://schemas.openxmlformats.org/drawingml/2006/main">
            <a:off x="533400" y="6457950"/>
            <a:ext cx="11125200" cy="0"/>
          </a:xfrm>
          <a:prstGeom xmlns:a="http://schemas.openxmlformats.org/drawingml/2006/main" prst="straightConnector1">
            <a:avLst/>
          </a:prstGeom>
          <a:ln xmlns:a="http://schemas.openxmlformats.org/drawingml/2006/main" w="9525">
            <a:solidFill>
              <a:srgbClr val="D1D5D8"/>
            </a:solidFill>
            <a:prstDash val="solid"/>
          </a:ln>
        </p:spPr>
      </p:cxnSp>
      <p:sp>
        <p:nvSpPr>
          <p:cNvPr id="4" name="">
            <a:extLst xmlns:a="http://schemas.openxmlformats.org/drawingml/2006/main">
              <a:ext uri="{FF2B5EF4-FFF2-40B4-BE49-F238E27FC236}">
                <a16:creationId xmlns:a16="http://schemas.microsoft.com/office/drawing/2014/main" id="{E20B2E0A-BB09-46B7-82E4-234C9EA69585}"/>
              </a:ext>
            </a:extLst>
          </p:cNvPr>
          <p:cNvSpPr>
            <a:spLocks xmlns:a="http://schemas.openxmlformats.org/drawingml/2006/main" noGrp="1"/>
          </p:cNvSpPr>
          <p:nvPr/>
        </p:nvSpPr>
        <p:spPr>
          <a:xfrm xmlns:a="http://schemas.openxmlformats.org/drawingml/2006/main">
            <a:off x="533400" y="6553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66D"/>
                </a:solidFill>
                <a:latin typeface="Menlo"/>
                <a:ea typeface="Menlo"/>
                <a:cs typeface="Menlo"/>
              </a:defRPr>
            </a:pPr>
            <a:r>
              <a:rPr sz="975" b="1" i="0">
                <a:solidFill>
                  <a:srgbClr val="5E666D"/>
                </a:solidFill>
                <a:latin typeface="Menlo"/>
                <a:ea typeface="Menlo"/>
                <a:cs typeface="Menlo"/>
              </a:rPr>
              <a:t>AGENT SNR · HACKATHON DEMO</a:t>
            </a:r>
          </a:p>
        </p:txBody>
      </p:sp>
      <p:sp>
        <p:nvSpPr>
          <p:cNvPr id="5" name="">
            <a:extLst xmlns:a="http://schemas.openxmlformats.org/drawingml/2006/main">
              <a:ext uri="{FF2B5EF4-FFF2-40B4-BE49-F238E27FC236}">
                <a16:creationId xmlns:a16="http://schemas.microsoft.com/office/drawing/2014/main" id="{392DEE81-DBCB-409E-885A-490F268243F6}"/>
              </a:ext>
            </a:extLst>
          </p:cNvPr>
          <p:cNvSpPr>
            <a:spLocks xmlns:a="http://schemas.openxmlformats.org/drawingml/2006/main" noGrp="1"/>
          </p:cNvSpPr>
          <p:nvPr/>
        </p:nvSpPr>
        <p:spPr>
          <a:xfrm xmlns:a="http://schemas.openxmlformats.org/drawingml/2006/main">
            <a:off x="11049000" y="65341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1" i="0">
                <a:solidFill>
                  <a:srgbClr val="5E666D"/>
                </a:solidFill>
                <a:latin typeface="Menlo"/>
                <a:ea typeface="Menlo"/>
                <a:cs typeface="Menlo"/>
              </a:defRPr>
            </a:pPr>
            <a:r>
              <a:rPr sz="975" b="1" i="0">
                <a:solidFill>
                  <a:srgbClr val="5E666D"/>
                </a:solidFill>
                <a:latin typeface="Menlo"/>
                <a:ea typeface="Menlo"/>
                <a:cs typeface="Menlo"/>
              </a:rPr>
              <a:t>11</a:t>
            </a:r>
          </a:p>
        </p:txBody>
      </p:sp>
      <p:sp>
        <p:nvSpPr>
          <p:cNvPr id="6" name="">
            <a:extLst xmlns:a="http://schemas.openxmlformats.org/drawingml/2006/main">
              <a:ext uri="{FF2B5EF4-FFF2-40B4-BE49-F238E27FC236}">
                <a16:creationId xmlns:a16="http://schemas.microsoft.com/office/drawing/2014/main" id="{1510EE27-F951-4FD4-8C00-8EFDF64A978D}"/>
              </a:ext>
            </a:extLst>
          </p:cNvPr>
          <p:cNvSpPr>
            <a:spLocks xmlns:a="http://schemas.openxmlformats.org/drawingml/2006/main" noGrp="1"/>
          </p:cNvSpPr>
          <p:nvPr/>
        </p:nvSpPr>
        <p:spPr>
          <a:xfrm xmlns:a="http://schemas.openxmlformats.org/drawingml/2006/main">
            <a:off x="533400" y="1809750"/>
            <a:ext cx="314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5100" b="1" i="0">
                <a:solidFill>
                  <a:srgbClr val="1769FF"/>
                </a:solidFill>
                <a:latin typeface="Helvetica Neue"/>
                <a:ea typeface="Helvetica Neue"/>
                <a:cs typeface="Helvetica Neue"/>
              </a:defRPr>
            </a:pPr>
            <a:r>
              <a:rPr sz="5100" b="1" i="0">
                <a:solidFill>
                  <a:srgbClr val="1769FF"/>
                </a:solidFill>
                <a:latin typeface="Helvetica Neue"/>
                <a:ea typeface="Helvetica Neue"/>
                <a:cs typeface="Helvetica Neue"/>
              </a:rPr>
              <a:t>125</a:t>
            </a:r>
          </a:p>
        </p:txBody>
      </p:sp>
      <p:cxnSp>
        <p:nvCxnSpPr>
          <p:cNvPr id="360" name=""/>
          <p:cNvCxnSpPr/>
          <p:nvPr/>
        </p:nvCxnSpPr>
        <p:spPr>
          <a:xfrm xmlns:a="http://schemas.openxmlformats.org/drawingml/2006/main">
            <a:off x="533400" y="2762250"/>
            <a:ext cx="3143250" cy="0"/>
          </a:xfrm>
          <a:prstGeom xmlns:a="http://schemas.openxmlformats.org/drawingml/2006/main" prst="straightConnector1">
            <a:avLst/>
          </a:prstGeom>
          <a:ln xmlns:a="http://schemas.openxmlformats.org/drawingml/2006/main" w="19050">
            <a:solidFill>
              <a:srgbClr val="1769FF"/>
            </a:solidFill>
            <a:prstDash val="solid"/>
          </a:ln>
        </p:spPr>
      </p:cxnSp>
      <p:sp>
        <p:nvSpPr>
          <p:cNvPr id="8" name="">
            <a:extLst xmlns:a="http://schemas.openxmlformats.org/drawingml/2006/main">
              <a:ext uri="{FF2B5EF4-FFF2-40B4-BE49-F238E27FC236}">
                <a16:creationId xmlns:a16="http://schemas.microsoft.com/office/drawing/2014/main" id="{5EAA8A34-FAE8-4215-93F3-E1A65F1E5B53}"/>
              </a:ext>
            </a:extLst>
          </p:cNvPr>
          <p:cNvSpPr>
            <a:spLocks xmlns:a="http://schemas.openxmlformats.org/drawingml/2006/main" noGrp="1"/>
          </p:cNvSpPr>
          <p:nvPr/>
        </p:nvSpPr>
        <p:spPr>
          <a:xfrm xmlns:a="http://schemas.openxmlformats.org/drawingml/2006/main">
            <a:off x="533400" y="2895600"/>
            <a:ext cx="314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i="0">
                <a:solidFill>
                  <a:srgbClr val="1769FF"/>
                </a:solidFill>
                <a:latin typeface="Helvetica Neue"/>
                <a:ea typeface="Helvetica Neue"/>
                <a:cs typeface="Helvetica Neue"/>
              </a:defRPr>
            </a:pPr>
            <a:r>
              <a:rPr sz="1425" b="1" i="0">
                <a:solidFill>
                  <a:srgbClr val="1769FF"/>
                </a:solidFill>
                <a:latin typeface="Helvetica Neue"/>
                <a:ea typeface="Helvetica Neue"/>
                <a:cs typeface="Helvetica Neue"/>
              </a:rPr>
              <a:t>JavaScript tests</a:t>
            </a:r>
          </a:p>
        </p:txBody>
      </p:sp>
      <p:sp>
        <p:nvSpPr>
          <p:cNvPr id="9" name="">
            <a:extLst xmlns:a="http://schemas.openxmlformats.org/drawingml/2006/main">
              <a:ext uri="{FF2B5EF4-FFF2-40B4-BE49-F238E27FC236}">
                <a16:creationId xmlns:a16="http://schemas.microsoft.com/office/drawing/2014/main" id="{0EB89508-425B-45E8-97A5-AC6BED8FB681}"/>
              </a:ext>
            </a:extLst>
          </p:cNvPr>
          <p:cNvSpPr>
            <a:spLocks xmlns:a="http://schemas.openxmlformats.org/drawingml/2006/main" noGrp="1"/>
          </p:cNvSpPr>
          <p:nvPr/>
        </p:nvSpPr>
        <p:spPr>
          <a:xfrm xmlns:a="http://schemas.openxmlformats.org/drawingml/2006/main">
            <a:off x="4457700" y="1809750"/>
            <a:ext cx="314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5100" b="1" i="0">
                <a:solidFill>
                  <a:srgbClr val="111111"/>
                </a:solidFill>
                <a:latin typeface="Helvetica Neue"/>
                <a:ea typeface="Helvetica Neue"/>
                <a:cs typeface="Helvetica Neue"/>
              </a:defRPr>
            </a:pPr>
            <a:r>
              <a:rPr sz="5100" b="1" i="0">
                <a:solidFill>
                  <a:srgbClr val="111111"/>
                </a:solidFill>
                <a:latin typeface="Helvetica Neue"/>
                <a:ea typeface="Helvetica Neue"/>
                <a:cs typeface="Helvetica Neue"/>
              </a:rPr>
              <a:t>111</a:t>
            </a:r>
          </a:p>
        </p:txBody>
      </p:sp>
      <p:cxnSp>
        <p:nvCxnSpPr>
          <p:cNvPr id="363" name=""/>
          <p:cNvCxnSpPr/>
          <p:nvPr/>
        </p:nvCxnSpPr>
        <p:spPr>
          <a:xfrm xmlns:a="http://schemas.openxmlformats.org/drawingml/2006/main">
            <a:off x="4457700" y="2762250"/>
            <a:ext cx="3143250" cy="0"/>
          </a:xfrm>
          <a:prstGeom xmlns:a="http://schemas.openxmlformats.org/drawingml/2006/main" prst="straightConnector1">
            <a:avLst/>
          </a:prstGeom>
          <a:ln xmlns:a="http://schemas.openxmlformats.org/drawingml/2006/main" w="19050">
            <a:solidFill>
              <a:srgbClr val="111111"/>
            </a:solidFill>
            <a:prstDash val="solid"/>
          </a:ln>
        </p:spPr>
      </p:cxnSp>
      <p:sp>
        <p:nvSpPr>
          <p:cNvPr id="11" name="">
            <a:extLst xmlns:a="http://schemas.openxmlformats.org/drawingml/2006/main">
              <a:ext uri="{FF2B5EF4-FFF2-40B4-BE49-F238E27FC236}">
                <a16:creationId xmlns:a16="http://schemas.microsoft.com/office/drawing/2014/main" id="{F7689A65-88E1-4F29-B6F2-DB23ACF889E2}"/>
              </a:ext>
            </a:extLst>
          </p:cNvPr>
          <p:cNvSpPr>
            <a:spLocks xmlns:a="http://schemas.openxmlformats.org/drawingml/2006/main" noGrp="1"/>
          </p:cNvSpPr>
          <p:nvPr/>
        </p:nvSpPr>
        <p:spPr>
          <a:xfrm xmlns:a="http://schemas.openxmlformats.org/drawingml/2006/main">
            <a:off x="4457700" y="2895600"/>
            <a:ext cx="314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i="0">
                <a:solidFill>
                  <a:srgbClr val="111111"/>
                </a:solidFill>
                <a:latin typeface="Helvetica Neue"/>
                <a:ea typeface="Helvetica Neue"/>
                <a:cs typeface="Helvetica Neue"/>
              </a:defRPr>
            </a:pPr>
            <a:r>
              <a:rPr sz="1425" b="1" i="0">
                <a:solidFill>
                  <a:srgbClr val="111111"/>
                </a:solidFill>
                <a:latin typeface="Helvetica Neue"/>
                <a:ea typeface="Helvetica Neue"/>
                <a:cs typeface="Helvetica Neue"/>
              </a:rPr>
              <a:t>PHP tests / 1,964 assertions</a:t>
            </a:r>
          </a:p>
        </p:txBody>
      </p:sp>
      <p:sp>
        <p:nvSpPr>
          <p:cNvPr id="12" name="">
            <a:extLst xmlns:a="http://schemas.openxmlformats.org/drawingml/2006/main">
              <a:ext uri="{FF2B5EF4-FFF2-40B4-BE49-F238E27FC236}">
                <a16:creationId xmlns:a16="http://schemas.microsoft.com/office/drawing/2014/main" id="{3E111BE5-8B1F-4B45-AB0E-96FDB21B337D}"/>
              </a:ext>
            </a:extLst>
          </p:cNvPr>
          <p:cNvSpPr>
            <a:spLocks xmlns:a="http://schemas.openxmlformats.org/drawingml/2006/main" noGrp="1"/>
          </p:cNvSpPr>
          <p:nvPr/>
        </p:nvSpPr>
        <p:spPr>
          <a:xfrm xmlns:a="http://schemas.openxmlformats.org/drawingml/2006/main">
            <a:off x="8382000" y="1809750"/>
            <a:ext cx="3276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5100" b="1" i="0">
                <a:solidFill>
                  <a:srgbClr val="111111"/>
                </a:solidFill>
                <a:latin typeface="Helvetica Neue"/>
                <a:ea typeface="Helvetica Neue"/>
                <a:cs typeface="Helvetica Neue"/>
              </a:defRPr>
            </a:pPr>
            <a:r>
              <a:rPr sz="5100" b="1" i="0">
                <a:solidFill>
                  <a:srgbClr val="111111"/>
                </a:solidFill>
                <a:latin typeface="Helvetica Neue"/>
                <a:ea typeface="Helvetica Neue"/>
                <a:cs typeface="Helvetica Neue"/>
              </a:rPr>
              <a:t>16/16</a:t>
            </a:r>
          </a:p>
        </p:txBody>
      </p:sp>
      <p:cxnSp>
        <p:nvCxnSpPr>
          <p:cNvPr id="366" name=""/>
          <p:cNvCxnSpPr/>
          <p:nvPr/>
        </p:nvCxnSpPr>
        <p:spPr>
          <a:xfrm xmlns:a="http://schemas.openxmlformats.org/drawingml/2006/main">
            <a:off x="8382000" y="2762250"/>
            <a:ext cx="3276600" cy="0"/>
          </a:xfrm>
          <a:prstGeom xmlns:a="http://schemas.openxmlformats.org/drawingml/2006/main" prst="straightConnector1">
            <a:avLst/>
          </a:prstGeom>
          <a:ln xmlns:a="http://schemas.openxmlformats.org/drawingml/2006/main" w="19050">
            <a:solidFill>
              <a:srgbClr val="111111"/>
            </a:solidFill>
            <a:prstDash val="solid"/>
          </a:ln>
        </p:spPr>
      </p:cxnSp>
      <p:sp>
        <p:nvSpPr>
          <p:cNvPr id="14" name="">
            <a:extLst xmlns:a="http://schemas.openxmlformats.org/drawingml/2006/main">
              <a:ext uri="{FF2B5EF4-FFF2-40B4-BE49-F238E27FC236}">
                <a16:creationId xmlns:a16="http://schemas.microsoft.com/office/drawing/2014/main" id="{2059C115-6B15-4B51-8074-34D2C2AD5B36}"/>
              </a:ext>
            </a:extLst>
          </p:cNvPr>
          <p:cNvSpPr>
            <a:spLocks xmlns:a="http://schemas.openxmlformats.org/drawingml/2006/main" noGrp="1"/>
          </p:cNvSpPr>
          <p:nvPr/>
        </p:nvSpPr>
        <p:spPr>
          <a:xfrm xmlns:a="http://schemas.openxmlformats.org/drawingml/2006/main">
            <a:off x="8382000" y="2895600"/>
            <a:ext cx="3276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i="0">
                <a:solidFill>
                  <a:srgbClr val="111111"/>
                </a:solidFill>
                <a:latin typeface="Helvetica Neue"/>
                <a:ea typeface="Helvetica Neue"/>
                <a:cs typeface="Helvetica Neue"/>
              </a:defRPr>
            </a:pPr>
            <a:r>
              <a:rPr sz="1425" b="1" i="0">
                <a:solidFill>
                  <a:srgbClr val="111111"/>
                </a:solidFill>
                <a:latin typeface="Helvetica Neue"/>
                <a:ea typeface="Helvetica Neue"/>
                <a:cs typeface="Helvetica Neue"/>
              </a:rPr>
              <a:t>Chromium scenarios</a:t>
            </a:r>
          </a:p>
        </p:txBody>
      </p:sp>
      <p:sp>
        <p:nvSpPr>
          <p:cNvPr id="15" name="">
            <a:extLst xmlns:a="http://schemas.openxmlformats.org/drawingml/2006/main">
              <a:ext uri="{FF2B5EF4-FFF2-40B4-BE49-F238E27FC236}">
                <a16:creationId xmlns:a16="http://schemas.microsoft.com/office/drawing/2014/main" id="{63B5E0D6-BEBE-4047-A860-6DA4BF938715}"/>
              </a:ext>
            </a:extLst>
          </p:cNvPr>
          <p:cNvSpPr>
            <a:spLocks xmlns:a="http://schemas.openxmlformats.org/drawingml/2006/main" noGrp="1"/>
          </p:cNvSpPr>
          <p:nvPr/>
        </p:nvSpPr>
        <p:spPr>
          <a:xfrm xmlns:a="http://schemas.openxmlformats.org/drawingml/2006/main">
            <a:off x="533400" y="4095750"/>
            <a:ext cx="314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5100" b="1" i="0">
                <a:solidFill>
                  <a:srgbClr val="111111"/>
                </a:solidFill>
                <a:latin typeface="Helvetica Neue"/>
                <a:ea typeface="Helvetica Neue"/>
                <a:cs typeface="Helvetica Neue"/>
              </a:defRPr>
            </a:pPr>
            <a:r>
              <a:rPr sz="5100" b="1" i="0">
                <a:solidFill>
                  <a:srgbClr val="111111"/>
                </a:solidFill>
                <a:latin typeface="Helvetica Neue"/>
                <a:ea typeface="Helvetica Neue"/>
                <a:cs typeface="Helvetica Neue"/>
              </a:rPr>
              <a:t>11/11</a:t>
            </a:r>
          </a:p>
        </p:txBody>
      </p:sp>
      <p:cxnSp>
        <p:nvCxnSpPr>
          <p:cNvPr id="369" name=""/>
          <p:cNvCxnSpPr/>
          <p:nvPr/>
        </p:nvCxnSpPr>
        <p:spPr>
          <a:xfrm xmlns:a="http://schemas.openxmlformats.org/drawingml/2006/main">
            <a:off x="533400" y="5048250"/>
            <a:ext cx="3143250" cy="0"/>
          </a:xfrm>
          <a:prstGeom xmlns:a="http://schemas.openxmlformats.org/drawingml/2006/main" prst="straightConnector1">
            <a:avLst/>
          </a:prstGeom>
          <a:ln xmlns:a="http://schemas.openxmlformats.org/drawingml/2006/main" w="19050">
            <a:solidFill>
              <a:srgbClr val="111111"/>
            </a:solidFill>
            <a:prstDash val="solid"/>
          </a:ln>
        </p:spPr>
      </p:cxnSp>
      <p:sp>
        <p:nvSpPr>
          <p:cNvPr id="17" name="">
            <a:extLst xmlns:a="http://schemas.openxmlformats.org/drawingml/2006/main">
              <a:ext uri="{FF2B5EF4-FFF2-40B4-BE49-F238E27FC236}">
                <a16:creationId xmlns:a16="http://schemas.microsoft.com/office/drawing/2014/main" id="{951A485B-DB8F-4876-8F9E-AAF33F4B26D8}"/>
              </a:ext>
            </a:extLst>
          </p:cNvPr>
          <p:cNvSpPr>
            <a:spLocks xmlns:a="http://schemas.openxmlformats.org/drawingml/2006/main" noGrp="1"/>
          </p:cNvSpPr>
          <p:nvPr/>
        </p:nvSpPr>
        <p:spPr>
          <a:xfrm xmlns:a="http://schemas.openxmlformats.org/drawingml/2006/main">
            <a:off x="533400" y="5181600"/>
            <a:ext cx="314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i="0">
                <a:solidFill>
                  <a:srgbClr val="111111"/>
                </a:solidFill>
                <a:latin typeface="Helvetica Neue"/>
                <a:ea typeface="Helvetica Neue"/>
                <a:cs typeface="Helvetica Neue"/>
              </a:defRPr>
            </a:pPr>
            <a:r>
              <a:rPr sz="1425" b="1" i="0">
                <a:solidFill>
                  <a:srgbClr val="111111"/>
                </a:solidFill>
                <a:latin typeface="Helvetica Neue"/>
                <a:ea typeface="Helvetica Neue"/>
                <a:cs typeface="Helvetica Neue"/>
              </a:rPr>
              <a:t>Native WebMCP smoke steps</a:t>
            </a:r>
          </a:p>
        </p:txBody>
      </p:sp>
      <p:sp>
        <p:nvSpPr>
          <p:cNvPr id="18" name="">
            <a:extLst xmlns:a="http://schemas.openxmlformats.org/drawingml/2006/main">
              <a:ext uri="{FF2B5EF4-FFF2-40B4-BE49-F238E27FC236}">
                <a16:creationId xmlns:a16="http://schemas.microsoft.com/office/drawing/2014/main" id="{70B91830-4628-40DB-A40B-5BBE0464B7F8}"/>
              </a:ext>
            </a:extLst>
          </p:cNvPr>
          <p:cNvSpPr>
            <a:spLocks xmlns:a="http://schemas.openxmlformats.org/drawingml/2006/main" noGrp="1"/>
          </p:cNvSpPr>
          <p:nvPr/>
        </p:nvSpPr>
        <p:spPr>
          <a:xfrm xmlns:a="http://schemas.openxmlformats.org/drawingml/2006/main">
            <a:off x="4457700" y="4095750"/>
            <a:ext cx="314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5100" b="1" i="0">
                <a:solidFill>
                  <a:srgbClr val="111111"/>
                </a:solidFill>
                <a:latin typeface="Helvetica Neue"/>
                <a:ea typeface="Helvetica Neue"/>
                <a:cs typeface="Helvetica Neue"/>
              </a:defRPr>
            </a:pPr>
            <a:r>
              <a:rPr sz="5100" b="1" i="0">
                <a:solidFill>
                  <a:srgbClr val="111111"/>
                </a:solidFill>
                <a:latin typeface="Helvetica Neue"/>
                <a:ea typeface="Helvetica Neue"/>
                <a:cs typeface="Helvetica Neue"/>
              </a:rPr>
              <a:t>3</a:t>
            </a:r>
          </a:p>
        </p:txBody>
      </p:sp>
      <p:cxnSp>
        <p:nvCxnSpPr>
          <p:cNvPr id="372" name=""/>
          <p:cNvCxnSpPr/>
          <p:nvPr/>
        </p:nvCxnSpPr>
        <p:spPr>
          <a:xfrm xmlns:a="http://schemas.openxmlformats.org/drawingml/2006/main">
            <a:off x="4457700" y="5048250"/>
            <a:ext cx="3143250" cy="0"/>
          </a:xfrm>
          <a:prstGeom xmlns:a="http://schemas.openxmlformats.org/drawingml/2006/main" prst="straightConnector1">
            <a:avLst/>
          </a:prstGeom>
          <a:ln xmlns:a="http://schemas.openxmlformats.org/drawingml/2006/main" w="19050">
            <a:solidFill>
              <a:srgbClr val="111111"/>
            </a:solidFill>
            <a:prstDash val="solid"/>
          </a:ln>
        </p:spPr>
      </p:cxnSp>
      <p:sp>
        <p:nvSpPr>
          <p:cNvPr id="20" name="">
            <a:extLst xmlns:a="http://schemas.openxmlformats.org/drawingml/2006/main">
              <a:ext uri="{FF2B5EF4-FFF2-40B4-BE49-F238E27FC236}">
                <a16:creationId xmlns:a16="http://schemas.microsoft.com/office/drawing/2014/main" id="{52437715-DF7A-4BB1-A0DF-D0E07B5FBF20}"/>
              </a:ext>
            </a:extLst>
          </p:cNvPr>
          <p:cNvSpPr>
            <a:spLocks xmlns:a="http://schemas.openxmlformats.org/drawingml/2006/main" noGrp="1"/>
          </p:cNvSpPr>
          <p:nvPr/>
        </p:nvSpPr>
        <p:spPr>
          <a:xfrm xmlns:a="http://schemas.openxmlformats.org/drawingml/2006/main">
            <a:off x="4457700" y="5181600"/>
            <a:ext cx="314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i="0">
                <a:solidFill>
                  <a:srgbClr val="111111"/>
                </a:solidFill>
                <a:latin typeface="Helvetica Neue"/>
                <a:ea typeface="Helvetica Neue"/>
                <a:cs typeface="Helvetica Neue"/>
              </a:defRPr>
            </a:pPr>
            <a:r>
              <a:rPr sz="1425" b="1" i="0">
                <a:solidFill>
                  <a:srgbClr val="111111"/>
                </a:solidFill>
                <a:latin typeface="Helvetica Neue"/>
                <a:ea typeface="Helvetica Neue"/>
                <a:cs typeface="Helvetica Neue"/>
              </a:rPr>
              <a:t>Exact-ZIP WordPress / Woo environments</a:t>
            </a:r>
          </a:p>
        </p:txBody>
      </p:sp>
      <p:sp>
        <p:nvSpPr>
          <p:cNvPr id="21" name="">
            <a:extLst xmlns:a="http://schemas.openxmlformats.org/drawingml/2006/main">
              <a:ext uri="{FF2B5EF4-FFF2-40B4-BE49-F238E27FC236}">
                <a16:creationId xmlns:a16="http://schemas.microsoft.com/office/drawing/2014/main" id="{33133C65-6C9A-42F5-A567-086111CB35E9}"/>
              </a:ext>
            </a:extLst>
          </p:cNvPr>
          <p:cNvSpPr>
            <a:spLocks xmlns:a="http://schemas.openxmlformats.org/drawingml/2006/main" noGrp="1"/>
          </p:cNvSpPr>
          <p:nvPr/>
        </p:nvSpPr>
        <p:spPr>
          <a:xfrm xmlns:a="http://schemas.openxmlformats.org/drawingml/2006/main">
            <a:off x="8382000" y="4095750"/>
            <a:ext cx="3276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5100" b="1" i="0">
                <a:solidFill>
                  <a:srgbClr val="1769FF"/>
                </a:solidFill>
                <a:latin typeface="Helvetica Neue"/>
                <a:ea typeface="Helvetica Neue"/>
                <a:cs typeface="Helvetica Neue"/>
              </a:defRPr>
            </a:pPr>
            <a:r>
              <a:rPr sz="5100" b="1" i="0">
                <a:solidFill>
                  <a:srgbClr val="1769FF"/>
                </a:solidFill>
                <a:latin typeface="Helvetica Neue"/>
                <a:ea typeface="Helvetica Neue"/>
                <a:cs typeface="Helvetica Neue"/>
              </a:rPr>
              <a:t>0</a:t>
            </a:r>
          </a:p>
        </p:txBody>
      </p:sp>
      <p:cxnSp>
        <p:nvCxnSpPr>
          <p:cNvPr id="375" name=""/>
          <p:cNvCxnSpPr/>
          <p:nvPr/>
        </p:nvCxnSpPr>
        <p:spPr>
          <a:xfrm xmlns:a="http://schemas.openxmlformats.org/drawingml/2006/main">
            <a:off x="8382000" y="5048250"/>
            <a:ext cx="3276600" cy="0"/>
          </a:xfrm>
          <a:prstGeom xmlns:a="http://schemas.openxmlformats.org/drawingml/2006/main" prst="straightConnector1">
            <a:avLst/>
          </a:prstGeom>
          <a:ln xmlns:a="http://schemas.openxmlformats.org/drawingml/2006/main" w="19050">
            <a:solidFill>
              <a:srgbClr val="1769FF"/>
            </a:solidFill>
            <a:prstDash val="solid"/>
          </a:ln>
        </p:spPr>
      </p:cxnSp>
      <p:sp>
        <p:nvSpPr>
          <p:cNvPr id="23" name="">
            <a:extLst xmlns:a="http://schemas.openxmlformats.org/drawingml/2006/main">
              <a:ext uri="{FF2B5EF4-FFF2-40B4-BE49-F238E27FC236}">
                <a16:creationId xmlns:a16="http://schemas.microsoft.com/office/drawing/2014/main" id="{8BDC619D-57B1-4B1B-864A-E34255BA9FC3}"/>
              </a:ext>
            </a:extLst>
          </p:cNvPr>
          <p:cNvSpPr>
            <a:spLocks xmlns:a="http://schemas.openxmlformats.org/drawingml/2006/main" noGrp="1"/>
          </p:cNvSpPr>
          <p:nvPr/>
        </p:nvSpPr>
        <p:spPr>
          <a:xfrm xmlns:a="http://schemas.openxmlformats.org/drawingml/2006/main">
            <a:off x="8382000" y="5181600"/>
            <a:ext cx="3276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i="0">
                <a:solidFill>
                  <a:srgbClr val="1769FF"/>
                </a:solidFill>
                <a:latin typeface="Helvetica Neue"/>
                <a:ea typeface="Helvetica Neue"/>
                <a:cs typeface="Helvetica Neue"/>
              </a:defRPr>
            </a:pPr>
            <a:r>
              <a:rPr sz="1425" b="1" i="0">
                <a:solidFill>
                  <a:srgbClr val="1769FF"/>
                </a:solidFill>
                <a:latin typeface="Helvetica Neue"/>
                <a:ea typeface="Helvetica Neue"/>
                <a:cs typeface="Helvetica Neue"/>
              </a:rPr>
              <a:t>Plugin Check errors</a:t>
            </a:r>
          </a:p>
        </p:txBody>
      </p:sp>
    </p:spTree>
    <p:extLst>
      <p:ext uri="{BB962C8B-B14F-4D97-AF65-F5344CB8AC3E}">
        <p14:creationId xmlns:p14="http://schemas.microsoft.com/office/powerpoint/2010/main" val="214245360"/>
      </p:ext>
    </p:extLst>
  </p:cSld>
</p:sld>
</file>

<file path=ppt/slides/slide1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A572D7E-5D41-45A7-8C2A-05B2A4D09211}"/>
              </a:ext>
            </a:extLst>
          </p:cNvPr>
          <p:cNvSpPr>
            <a:spLocks xmlns:a="http://schemas.openxmlformats.org/drawingml/2006/main" noGrp="1"/>
          </p:cNvSpPr>
          <p:nvPr/>
        </p:nvSpPr>
        <p:spPr>
          <a:xfrm xmlns:a="http://schemas.openxmlformats.org/drawingml/2006/main">
            <a:off x="5334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DCE8FF"/>
                </a:solidFill>
                <a:latin typeface="Menlo"/>
                <a:ea typeface="Menlo"/>
                <a:cs typeface="Menlo"/>
              </a:defRPr>
            </a:pPr>
            <a:r>
              <a:rPr sz="975" b="1" i="0">
                <a:solidFill>
                  <a:srgbClr val="DCE8FF"/>
                </a:solidFill>
                <a:latin typeface="Menlo"/>
                <a:ea typeface="Menlo"/>
                <a:cs typeface="Menlo"/>
              </a:rPr>
              <a:t>BUILD FEEDBACK INTO THE AGENT LOOP</a:t>
            </a:r>
          </a:p>
        </p:txBody>
      </p:sp>
      <p:sp>
        <p:nvSpPr>
          <p:cNvPr id="2" name="">
            <a:extLst xmlns:a="http://schemas.openxmlformats.org/drawingml/2006/main">
              <a:ext uri="{FF2B5EF4-FFF2-40B4-BE49-F238E27FC236}">
                <a16:creationId xmlns:a16="http://schemas.microsoft.com/office/drawing/2014/main" id="{DFD6E6ED-31EE-4182-91FF-8F9095165854}"/>
              </a:ext>
            </a:extLst>
          </p:cNvPr>
          <p:cNvSpPr>
            <a:spLocks xmlns:a="http://schemas.openxmlformats.org/drawingml/2006/main" noGrp="1"/>
          </p:cNvSpPr>
          <p:nvPr/>
        </p:nvSpPr>
        <p:spPr>
          <a:xfrm xmlns:a="http://schemas.openxmlformats.org/drawingml/2006/main">
            <a:off x="533400" y="800100"/>
            <a:ext cx="111252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4350" b="1" i="0">
                <a:solidFill>
                  <a:srgbClr val="FFFFFF"/>
                </a:solidFill>
                <a:latin typeface="Helvetica Neue"/>
                <a:ea typeface="Helvetica Neue"/>
                <a:cs typeface="Helvetica Neue"/>
              </a:defRPr>
            </a:pPr>
            <a:r>
              <a:rPr sz="4350" b="1" i="0">
                <a:solidFill>
                  <a:srgbClr val="FFFFFF"/>
                </a:solidFill>
                <a:latin typeface="Helvetica Neue"/>
                <a:ea typeface="Helvetica Neue"/>
                <a:cs typeface="Helvetica Neue"/>
              </a:rPr>
              <a:t>Give every website-agent</a:t>
            </a:r>
          </a:p>
          <a:p xmlns:a="http://schemas.openxmlformats.org/drawingml/2006/main">
            <a:pPr algn="l">
              <a:buNone/>
              <a:defRPr sz="4350" b="1" i="0">
                <a:solidFill>
                  <a:srgbClr val="FFFFFF"/>
                </a:solidFill>
                <a:latin typeface="Helvetica Neue"/>
                <a:ea typeface="Helvetica Neue"/>
                <a:cs typeface="Helvetica Neue"/>
              </a:defRPr>
            </a:pPr>
            <a:r>
              <a:rPr sz="4350" b="1" i="0">
                <a:solidFill>
                  <a:srgbClr val="FFFFFF"/>
                </a:solidFill>
                <a:latin typeface="Helvetica Neue"/>
                <a:ea typeface="Helvetica Neue"/>
                <a:cs typeface="Helvetica Neue"/>
              </a:rPr>
              <a:t>journey a voice—and a provable outcome.</a:t>
            </a:r>
          </a:p>
        </p:txBody>
      </p:sp>
      <p:sp>
        <p:nvSpPr>
          <p:cNvPr id="3" name="">
            <a:extLst xmlns:a="http://schemas.openxmlformats.org/drawingml/2006/main">
              <a:ext uri="{FF2B5EF4-FFF2-40B4-BE49-F238E27FC236}">
                <a16:creationId xmlns:a16="http://schemas.microsoft.com/office/drawing/2014/main" id="{47E0BF27-D35F-4CC1-8667-3626AD1EE9AE}"/>
              </a:ext>
            </a:extLst>
          </p:cNvPr>
          <p:cNvSpPr>
            <a:spLocks xmlns:a="http://schemas.openxmlformats.org/drawingml/2006/main" noGrp="1"/>
          </p:cNvSpPr>
          <p:nvPr/>
        </p:nvSpPr>
        <p:spPr>
          <a:xfrm xmlns:a="http://schemas.openxmlformats.org/drawingml/2006/main">
            <a:off x="533400" y="3219450"/>
            <a:ext cx="3429000" cy="1866900"/>
          </a:xfrm>
          <a:prstGeom xmlns:a="http://schemas.openxmlformats.org/drawingml/2006/main" prst="roundRect">
            <a:avLst>
              <a:gd name="adj" fmla="val 6122"/>
            </a:avLst>
          </a:prstGeom>
          <a:solidFill xmlns:a="http://schemas.openxmlformats.org/drawingml/2006/main">
            <a:srgbClr val="1769FF"/>
          </a:solidFill>
          <a:ln xmlns:a="http://schemas.openxmlformats.org/drawingml/2006/main" w="9525">
            <a:solidFill>
              <a:srgbClr val="1769FF"/>
            </a:solidFill>
            <a:prstDash val="solid"/>
          </a:ln>
        </p:spPr>
      </p:sp>
      <p:sp>
        <p:nvSpPr>
          <p:cNvPr id="4" name="">
            <a:extLst xmlns:a="http://schemas.openxmlformats.org/drawingml/2006/main">
              <a:ext uri="{FF2B5EF4-FFF2-40B4-BE49-F238E27FC236}">
                <a16:creationId xmlns:a16="http://schemas.microsoft.com/office/drawing/2014/main" id="{9CB5BD8D-F3CC-4C4D-89AA-F40196180DD2}"/>
              </a:ext>
            </a:extLst>
          </p:cNvPr>
          <p:cNvSpPr>
            <a:spLocks xmlns:a="http://schemas.openxmlformats.org/drawingml/2006/main" noGrp="1"/>
          </p:cNvSpPr>
          <p:nvPr/>
        </p:nvSpPr>
        <p:spPr>
          <a:xfrm xmlns:a="http://schemas.openxmlformats.org/drawingml/2006/main">
            <a:off x="762000" y="34671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FFFFFF"/>
                </a:solidFill>
                <a:latin typeface="Menlo"/>
                <a:ea typeface="Menlo"/>
                <a:cs typeface="Menlo"/>
              </a:defRPr>
            </a:pPr>
            <a:r>
              <a:rPr sz="975" b="1" i="0">
                <a:solidFill>
                  <a:srgbClr val="FFFFFF"/>
                </a:solidFill>
                <a:latin typeface="Menlo"/>
                <a:ea typeface="Menlo"/>
                <a:cs typeface="Menlo"/>
              </a:rPr>
              <a:t>PRIMARY</a:t>
            </a:r>
          </a:p>
        </p:txBody>
      </p:sp>
      <p:sp>
        <p:nvSpPr>
          <p:cNvPr id="5" name="">
            <a:extLst xmlns:a="http://schemas.openxmlformats.org/drawingml/2006/main">
              <a:ext uri="{FF2B5EF4-FFF2-40B4-BE49-F238E27FC236}">
                <a16:creationId xmlns:a16="http://schemas.microsoft.com/office/drawing/2014/main" id="{14296555-70DE-4782-AF7F-DF761224BD18}"/>
              </a:ext>
            </a:extLst>
          </p:cNvPr>
          <p:cNvSpPr>
            <a:spLocks xmlns:a="http://schemas.openxmlformats.org/drawingml/2006/main" noGrp="1"/>
          </p:cNvSpPr>
          <p:nvPr/>
        </p:nvSpPr>
        <p:spPr>
          <a:xfrm xmlns:a="http://schemas.openxmlformats.org/drawingml/2006/main">
            <a:off x="762000" y="3857625"/>
            <a:ext cx="2971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Top-level WebMCP demo</a:t>
            </a:r>
          </a:p>
        </p:txBody>
      </p:sp>
      <p:sp>
        <p:nvSpPr>
          <p:cNvPr id="6" name="">
            <a:extLst xmlns:a="http://schemas.openxmlformats.org/drawingml/2006/main">
              <a:ext uri="{FF2B5EF4-FFF2-40B4-BE49-F238E27FC236}">
                <a16:creationId xmlns:a16="http://schemas.microsoft.com/office/drawing/2014/main" id="{FE7EC4E8-9A22-496B-9688-FCC349C9F639}"/>
              </a:ext>
            </a:extLst>
          </p:cNvPr>
          <p:cNvSpPr>
            <a:spLocks xmlns:a="http://schemas.openxmlformats.org/drawingml/2006/main" noGrp="1"/>
          </p:cNvSpPr>
          <p:nvPr/>
        </p:nvSpPr>
        <p:spPr>
          <a:xfrm xmlns:a="http://schemas.openxmlformats.org/drawingml/2006/main">
            <a:off x="762000" y="451485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0" i="0">
                <a:solidFill>
                  <a:srgbClr val="DCE8FF"/>
                </a:solidFill>
                <a:latin typeface="Menlo"/>
                <a:ea typeface="Menlo"/>
                <a:cs typeface="Menlo"/>
              </a:defRPr>
            </a:pPr>
            <a:r>
              <a:rPr sz="1050" b="0" i="0">
                <a:solidFill>
                  <a:srgbClr val="DCE8FF"/>
                </a:solidFill>
                <a:latin typeface="Menlo"/>
                <a:ea typeface="Menlo"/>
                <a:cs typeface="Menlo"/>
              </a:rPr>
              <a:t>12 storefront + 8 Agent SNR tools</a:t>
            </a:r>
          </a:p>
        </p:txBody>
      </p:sp>
      <p:sp>
        <p:nvSpPr>
          <p:cNvPr id="7" name="">
            <a:extLst xmlns:a="http://schemas.openxmlformats.org/drawingml/2006/main">
              <a:ext uri="{FF2B5EF4-FFF2-40B4-BE49-F238E27FC236}">
                <a16:creationId xmlns:a16="http://schemas.microsoft.com/office/drawing/2014/main" id="{C491212D-AB23-47C1-8EA1-C788734C7FC9}"/>
              </a:ext>
            </a:extLst>
          </p:cNvPr>
          <p:cNvSpPr>
            <a:spLocks xmlns:a="http://schemas.openxmlformats.org/drawingml/2006/main" noGrp="1"/>
          </p:cNvSpPr>
          <p:nvPr/>
        </p:nvSpPr>
        <p:spPr>
          <a:xfrm xmlns:a="http://schemas.openxmlformats.org/drawingml/2006/main">
            <a:off x="4248150" y="3219450"/>
            <a:ext cx="3429000" cy="1866900"/>
          </a:xfrm>
          <a:prstGeom xmlns:a="http://schemas.openxmlformats.org/drawingml/2006/main" prst="roundRect">
            <a:avLst>
              <a:gd name="adj" fmla="val 6122"/>
            </a:avLst>
          </a:prstGeom>
          <a:solidFill xmlns:a="http://schemas.openxmlformats.org/drawingml/2006/main">
            <a:srgbClr val="232830"/>
          </a:solidFill>
          <a:ln xmlns:a="http://schemas.openxmlformats.org/drawingml/2006/main" w="9525">
            <a:solidFill>
              <a:srgbClr val="4A5260"/>
            </a:solidFill>
            <a:prstDash val="solid"/>
          </a:ln>
        </p:spPr>
      </p:sp>
      <p:sp>
        <p:nvSpPr>
          <p:cNvPr id="8" name="">
            <a:extLst xmlns:a="http://schemas.openxmlformats.org/drawingml/2006/main">
              <a:ext uri="{FF2B5EF4-FFF2-40B4-BE49-F238E27FC236}">
                <a16:creationId xmlns:a16="http://schemas.microsoft.com/office/drawing/2014/main" id="{503BD56E-37D2-4C59-929C-3A0031019105}"/>
              </a:ext>
            </a:extLst>
          </p:cNvPr>
          <p:cNvSpPr>
            <a:spLocks xmlns:a="http://schemas.openxmlformats.org/drawingml/2006/main" noGrp="1"/>
          </p:cNvSpPr>
          <p:nvPr/>
        </p:nvSpPr>
        <p:spPr>
          <a:xfrm xmlns:a="http://schemas.openxmlformats.org/drawingml/2006/main">
            <a:off x="4476750" y="34671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DCE8FF"/>
                </a:solidFill>
                <a:latin typeface="Menlo"/>
                <a:ea typeface="Menlo"/>
                <a:cs typeface="Menlo"/>
              </a:defRPr>
            </a:pPr>
            <a:r>
              <a:rPr sz="975" b="1" i="0">
                <a:solidFill>
                  <a:srgbClr val="DCE8FF"/>
                </a:solidFill>
                <a:latin typeface="Menlo"/>
                <a:ea typeface="Menlo"/>
                <a:cs typeface="Menlo"/>
              </a:rPr>
              <a:t>LOCAL</a:t>
            </a:r>
          </a:p>
        </p:txBody>
      </p:sp>
      <p:sp>
        <p:nvSpPr>
          <p:cNvPr id="9" name="">
            <a:extLst xmlns:a="http://schemas.openxmlformats.org/drawingml/2006/main">
              <a:ext uri="{FF2B5EF4-FFF2-40B4-BE49-F238E27FC236}">
                <a16:creationId xmlns:a16="http://schemas.microsoft.com/office/drawing/2014/main" id="{687CDC93-6687-43BF-A432-27D39499B181}"/>
              </a:ext>
            </a:extLst>
          </p:cNvPr>
          <p:cNvSpPr>
            <a:spLocks xmlns:a="http://schemas.openxmlformats.org/drawingml/2006/main" noGrp="1"/>
          </p:cNvSpPr>
          <p:nvPr/>
        </p:nvSpPr>
        <p:spPr>
          <a:xfrm xmlns:a="http://schemas.openxmlformats.org/drawingml/2006/main">
            <a:off x="4476750" y="3857625"/>
            <a:ext cx="2971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Docker showcase</a:t>
            </a:r>
          </a:p>
        </p:txBody>
      </p:sp>
      <p:sp>
        <p:nvSpPr>
          <p:cNvPr id="10" name="">
            <a:extLst xmlns:a="http://schemas.openxmlformats.org/drawingml/2006/main">
              <a:ext uri="{FF2B5EF4-FFF2-40B4-BE49-F238E27FC236}">
                <a16:creationId xmlns:a16="http://schemas.microsoft.com/office/drawing/2014/main" id="{73D8E54D-7D6E-4B34-950E-09EC75299361}"/>
              </a:ext>
            </a:extLst>
          </p:cNvPr>
          <p:cNvSpPr>
            <a:spLocks xmlns:a="http://schemas.openxmlformats.org/drawingml/2006/main" noGrp="1"/>
          </p:cNvSpPr>
          <p:nvPr/>
        </p:nvSpPr>
        <p:spPr>
          <a:xfrm xmlns:a="http://schemas.openxmlformats.org/drawingml/2006/main">
            <a:off x="4476750" y="451485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0" i="0">
                <a:solidFill>
                  <a:srgbClr val="B9C0C8"/>
                </a:solidFill>
                <a:latin typeface="Menlo"/>
                <a:ea typeface="Menlo"/>
                <a:cs typeface="Menlo"/>
              </a:defRPr>
            </a:pPr>
            <a:r>
              <a:rPr sz="1050" b="0" i="0">
                <a:solidFill>
                  <a:srgbClr val="B9C0C8"/>
                </a:solidFill>
                <a:latin typeface="Menlo"/>
                <a:ea typeface="Menlo"/>
                <a:cs typeface="Menlo"/>
              </a:rPr>
              <a:t>./bin/start-showcase.sh start</a:t>
            </a:r>
          </a:p>
        </p:txBody>
      </p:sp>
      <p:sp>
        <p:nvSpPr>
          <p:cNvPr id="11" name="">
            <a:extLst xmlns:a="http://schemas.openxmlformats.org/drawingml/2006/main">
              <a:ext uri="{FF2B5EF4-FFF2-40B4-BE49-F238E27FC236}">
                <a16:creationId xmlns:a16="http://schemas.microsoft.com/office/drawing/2014/main" id="{DA1798E6-C1AF-4A09-A8A4-7BDA12CA643D}"/>
              </a:ext>
            </a:extLst>
          </p:cNvPr>
          <p:cNvSpPr>
            <a:spLocks xmlns:a="http://schemas.openxmlformats.org/drawingml/2006/main" noGrp="1"/>
          </p:cNvSpPr>
          <p:nvPr/>
        </p:nvSpPr>
        <p:spPr>
          <a:xfrm xmlns:a="http://schemas.openxmlformats.org/drawingml/2006/main">
            <a:off x="7962900" y="3219450"/>
            <a:ext cx="3429000" cy="1866900"/>
          </a:xfrm>
          <a:prstGeom xmlns:a="http://schemas.openxmlformats.org/drawingml/2006/main" prst="roundRect">
            <a:avLst>
              <a:gd name="adj" fmla="val 6122"/>
            </a:avLst>
          </a:prstGeom>
          <a:solidFill xmlns:a="http://schemas.openxmlformats.org/drawingml/2006/main">
            <a:srgbClr val="232830"/>
          </a:solidFill>
          <a:ln xmlns:a="http://schemas.openxmlformats.org/drawingml/2006/main" w="9525">
            <a:solidFill>
              <a:srgbClr val="4A5260"/>
            </a:solidFill>
            <a:prstDash val="solid"/>
          </a:ln>
        </p:spPr>
      </p:sp>
      <p:sp>
        <p:nvSpPr>
          <p:cNvPr id="12" name="">
            <a:extLst xmlns:a="http://schemas.openxmlformats.org/drawingml/2006/main">
              <a:ext uri="{FF2B5EF4-FFF2-40B4-BE49-F238E27FC236}">
                <a16:creationId xmlns:a16="http://schemas.microsoft.com/office/drawing/2014/main" id="{0EDB1F8B-9C01-4AD4-B8F6-053F16152F55}"/>
              </a:ext>
            </a:extLst>
          </p:cNvPr>
          <p:cNvSpPr>
            <a:spLocks xmlns:a="http://schemas.openxmlformats.org/drawingml/2006/main" noGrp="1"/>
          </p:cNvSpPr>
          <p:nvPr/>
        </p:nvSpPr>
        <p:spPr>
          <a:xfrm xmlns:a="http://schemas.openxmlformats.org/drawingml/2006/main">
            <a:off x="8191500" y="34671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DCE8FF"/>
                </a:solidFill>
                <a:latin typeface="Menlo"/>
                <a:ea typeface="Menlo"/>
                <a:cs typeface="Menlo"/>
              </a:defRPr>
            </a:pPr>
            <a:r>
              <a:rPr sz="975" b="1" i="0">
                <a:solidFill>
                  <a:srgbClr val="DCE8FF"/>
                </a:solidFill>
                <a:latin typeface="Menlo"/>
                <a:ea typeface="Menlo"/>
                <a:cs typeface="Menlo"/>
              </a:rPr>
              <a:t>PORTABLE</a:t>
            </a:r>
          </a:p>
        </p:txBody>
      </p:sp>
      <p:sp>
        <p:nvSpPr>
          <p:cNvPr id="13" name="">
            <a:extLst xmlns:a="http://schemas.openxmlformats.org/drawingml/2006/main">
              <a:ext uri="{FF2B5EF4-FFF2-40B4-BE49-F238E27FC236}">
                <a16:creationId xmlns:a16="http://schemas.microsoft.com/office/drawing/2014/main" id="{77935ED3-9BBD-45BF-83CE-0C1E29466F71}"/>
              </a:ext>
            </a:extLst>
          </p:cNvPr>
          <p:cNvSpPr>
            <a:spLocks xmlns:a="http://schemas.openxmlformats.org/drawingml/2006/main" noGrp="1"/>
          </p:cNvSpPr>
          <p:nvPr/>
        </p:nvSpPr>
        <p:spPr>
          <a:xfrm xmlns:a="http://schemas.openxmlformats.org/drawingml/2006/main">
            <a:off x="8191500" y="3857625"/>
            <a:ext cx="2971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WordPress Playground</a:t>
            </a:r>
          </a:p>
        </p:txBody>
      </p:sp>
      <p:sp>
        <p:nvSpPr>
          <p:cNvPr id="14" name="">
            <a:extLst xmlns:a="http://schemas.openxmlformats.org/drawingml/2006/main">
              <a:ext uri="{FF2B5EF4-FFF2-40B4-BE49-F238E27FC236}">
                <a16:creationId xmlns:a16="http://schemas.microsoft.com/office/drawing/2014/main" id="{15C935D6-C9CE-48C0-A085-EBFE491A24E4}"/>
              </a:ext>
            </a:extLst>
          </p:cNvPr>
          <p:cNvSpPr>
            <a:spLocks xmlns:a="http://schemas.openxmlformats.org/drawingml/2006/main" noGrp="1"/>
          </p:cNvSpPr>
          <p:nvPr/>
        </p:nvSpPr>
        <p:spPr>
          <a:xfrm xmlns:a="http://schemas.openxmlformats.org/drawingml/2006/main">
            <a:off x="8191500" y="451485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0" i="0">
                <a:solidFill>
                  <a:srgbClr val="B9C0C8"/>
                </a:solidFill>
                <a:latin typeface="Menlo"/>
                <a:ea typeface="Menlo"/>
                <a:cs typeface="Menlo"/>
              </a:defRPr>
            </a:pPr>
            <a:r>
              <a:rPr sz="1050" b="0" i="0">
                <a:solidFill>
                  <a:srgbClr val="B9C0C8"/>
                </a:solidFill>
                <a:latin typeface="Menlo"/>
                <a:ea typeface="Menlo"/>
                <a:cs typeface="Menlo"/>
              </a:rPr>
              <a:t>Plugin and human behavior</a:t>
            </a:r>
          </a:p>
        </p:txBody>
      </p:sp>
      <p:sp>
        <p:nvSpPr>
          <p:cNvPr id="15" name="">
            <a:extLst xmlns:a="http://schemas.openxmlformats.org/drawingml/2006/main">
              <a:ext uri="{FF2B5EF4-FFF2-40B4-BE49-F238E27FC236}">
                <a16:creationId xmlns:a16="http://schemas.microsoft.com/office/drawing/2014/main" id="{EF06307D-D854-4B8D-B474-0C34F07E4961}"/>
              </a:ext>
            </a:extLst>
          </p:cNvPr>
          <p:cNvSpPr>
            <a:spLocks xmlns:a="http://schemas.openxmlformats.org/drawingml/2006/main" noGrp="1"/>
          </p:cNvSpPr>
          <p:nvPr/>
        </p:nvSpPr>
        <p:spPr>
          <a:xfrm xmlns:a="http://schemas.openxmlformats.org/drawingml/2006/main">
            <a:off x="533400" y="5524500"/>
            <a:ext cx="11125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Guide the agent.  Observe missed demand.  Hear feedback.  Verify outcomes.  Improve the next run.</a:t>
            </a:r>
          </a:p>
        </p:txBody>
      </p:sp>
      <p:cxnSp>
        <p:nvCxnSpPr>
          <p:cNvPr id="274" name=""/>
          <p:cNvCxnSpPr/>
          <p:nvPr/>
        </p:nvCxnSpPr>
        <p:spPr>
          <a:xfrm xmlns:a="http://schemas.openxmlformats.org/drawingml/2006/main">
            <a:off x="533400" y="6191250"/>
            <a:ext cx="11125200" cy="0"/>
          </a:xfrm>
          <a:prstGeom xmlns:a="http://schemas.openxmlformats.org/drawingml/2006/main" prst="straightConnector1">
            <a:avLst/>
          </a:prstGeom>
          <a:ln xmlns:a="http://schemas.openxmlformats.org/drawingml/2006/main" w="9525">
            <a:solidFill>
              <a:srgbClr val="39404A"/>
            </a:solidFill>
            <a:prstDash val="solid"/>
          </a:ln>
        </p:spPr>
      </p:cxnSp>
      <p:sp>
        <p:nvSpPr>
          <p:cNvPr id="17" name="">
            <a:extLst xmlns:a="http://schemas.openxmlformats.org/drawingml/2006/main">
              <a:ext uri="{FF2B5EF4-FFF2-40B4-BE49-F238E27FC236}">
                <a16:creationId xmlns:a16="http://schemas.microsoft.com/office/drawing/2014/main" id="{CA663F68-66D6-4278-AABA-D17480850601}"/>
              </a:ext>
            </a:extLst>
          </p:cNvPr>
          <p:cNvSpPr>
            <a:spLocks xmlns:a="http://schemas.openxmlformats.org/drawingml/2006/main" noGrp="1"/>
          </p:cNvSpPr>
          <p:nvPr/>
        </p:nvSpPr>
        <p:spPr>
          <a:xfrm xmlns:a="http://schemas.openxmlformats.org/drawingml/2006/main">
            <a:off x="533400" y="6343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AEB5BE"/>
                </a:solidFill>
                <a:latin typeface="Menlo"/>
                <a:ea typeface="Menlo"/>
                <a:cs typeface="Menlo"/>
              </a:defRPr>
            </a:pPr>
            <a:r>
              <a:rPr sz="975" b="1" i="0">
                <a:solidFill>
                  <a:srgbClr val="AEB5BE"/>
                </a:solidFill>
                <a:latin typeface="Menlo"/>
                <a:ea typeface="Menlo"/>
                <a:cs typeface="Menlo"/>
              </a:rPr>
              <a:t>AGENT SNR · OPEN-SOURCE WORDPRESS PLUGIN</a:t>
            </a:r>
          </a:p>
        </p:txBody>
      </p:sp>
      <p:sp>
        <p:nvSpPr>
          <p:cNvPr id="18" name="">
            <a:extLst xmlns:a="http://schemas.openxmlformats.org/drawingml/2006/main">
              <a:ext uri="{FF2B5EF4-FFF2-40B4-BE49-F238E27FC236}">
                <a16:creationId xmlns:a16="http://schemas.microsoft.com/office/drawing/2014/main" id="{7CFD270C-771F-4670-811F-5D5368575210}"/>
              </a:ext>
            </a:extLst>
          </p:cNvPr>
          <p:cNvSpPr>
            <a:spLocks xmlns:a="http://schemas.openxmlformats.org/drawingml/2006/main" noGrp="1"/>
          </p:cNvSpPr>
          <p:nvPr/>
        </p:nvSpPr>
        <p:spPr>
          <a:xfrm xmlns:a="http://schemas.openxmlformats.org/drawingml/2006/main">
            <a:off x="11049000" y="632460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1" i="0">
                <a:solidFill>
                  <a:srgbClr val="AEB5BE"/>
                </a:solidFill>
                <a:latin typeface="Menlo"/>
                <a:ea typeface="Menlo"/>
                <a:cs typeface="Menlo"/>
              </a:defRPr>
            </a:pPr>
            <a:r>
              <a:rPr sz="975" b="1" i="0">
                <a:solidFill>
                  <a:srgbClr val="AEB5BE"/>
                </a:solidFill>
                <a:latin typeface="Menlo"/>
                <a:ea typeface="Menlo"/>
                <a:cs typeface="Menlo"/>
              </a:rPr>
              <a:t>12</a:t>
            </a:r>
          </a:p>
        </p:txBody>
      </p:sp>
    </p:spTree>
    <p:extLst>
      <p:ext uri="{BB962C8B-B14F-4D97-AF65-F5344CB8AC3E}">
        <p14:creationId xmlns:p14="http://schemas.microsoft.com/office/powerpoint/2010/main" val="14727150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2026-09-03T17:27:51.1690000Z</dcterms:created>
  <dcterms:modified xsi:type="dcterms:W3CDTF">2026-09-03T17:27:51.1690000Z</dcterms:modified>
</coreProperties>
</file>