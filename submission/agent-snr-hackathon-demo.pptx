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c649ac94ce4be5" /><Relationship Type="http://schemas.openxmlformats.org/officeDocument/2006/relationships/extended-properties" Target="/docProps/app.xml" Id="Rba715498a5304c75" /><Relationship Type="http://schemas.openxmlformats.org/officeDocument/2006/relationships/officeDocument" Target="/ppt/presentation.xml" Id="Re0b8949f983d4a93" /></Relationships>
</file>

<file path=ppt/presentation.xml><?xml version="1.0" encoding="utf-8"?>
<p:presentation xmlns:p="http://schemas.openxmlformats.org/presentationml/2006/main">
  <p:sldMasterIdLst>
    <p:sldMasterId xmlns:r="http://schemas.openxmlformats.org/officeDocument/2006/relationships" id="2147483648" r:id="R9859e258e05c4b1d"/>
  </p:sldMasterIdLst>
  <p:notesMasterIdLst>
    <p:notesMasterId xmlns:r="http://schemas.openxmlformats.org/officeDocument/2006/relationships" r:id="Rdb2c070390b7439c"/>
  </p:notesMasterIdLst>
  <p:sldIdLst>
    <p:sldId xmlns:r="http://schemas.openxmlformats.org/officeDocument/2006/relationships" id="256" r:id="R396f8a37443f4361"/>
    <p:sldId xmlns:r="http://schemas.openxmlformats.org/officeDocument/2006/relationships" id="257" r:id="R408c9a90bb1448fe"/>
    <p:sldId xmlns:r="http://schemas.openxmlformats.org/officeDocument/2006/relationships" id="258" r:id="R20645dbc89704485"/>
    <p:sldId xmlns:r="http://schemas.openxmlformats.org/officeDocument/2006/relationships" id="259" r:id="Rff9d24dbdda547ba"/>
    <p:sldId xmlns:r="http://schemas.openxmlformats.org/officeDocument/2006/relationships" id="260" r:id="Rae1403b324c54c75"/>
    <p:sldId xmlns:r="http://schemas.openxmlformats.org/officeDocument/2006/relationships" id="261" r:id="R0b1e33ba93874e81"/>
    <p:sldId xmlns:r="http://schemas.openxmlformats.org/officeDocument/2006/relationships" id="262" r:id="R7a19e0d970a94ed4"/>
    <p:sldId xmlns:r="http://schemas.openxmlformats.org/officeDocument/2006/relationships" id="263" r:id="Ra942c15e8c50441a"/>
    <p:sldId xmlns:r="http://schemas.openxmlformats.org/officeDocument/2006/relationships" id="264" r:id="Rb84c2a936b064036"/>
    <p:sldId xmlns:r="http://schemas.openxmlformats.org/officeDocument/2006/relationships" id="265" r:id="Ra58e542732f24158"/>
    <p:sldId xmlns:r="http://schemas.openxmlformats.org/officeDocument/2006/relationships" id="266" r:id="R2ae511c479f04cfd"/>
    <p:sldId xmlns:r="http://schemas.openxmlformats.org/officeDocument/2006/relationships" id="267" r:id="R4466aa3962e340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7295e714a014365" /><Relationship Type="http://schemas.openxmlformats.org/officeDocument/2006/relationships/slideMaster" Target="/ppt/slideMasters/slideMaster1.xml" Id="R9859e258e05c4b1d" /><Relationship Type="http://schemas.openxmlformats.org/officeDocument/2006/relationships/notesMaster" Target="/ppt/notesMasters/notesMaster1.xml" Id="Rdb2c070390b7439c" /><Relationship Type="http://schemas.openxmlformats.org/officeDocument/2006/relationships/presProps" Target="/ppt/presProps.xml" Id="R4dcc6a8756024360" /><Relationship Type="http://schemas.openxmlformats.org/officeDocument/2006/relationships/tableStyles" Target="/ppt/tableStyles.xml" Id="Red392dcb17ba4440" /><Relationship Type="http://schemas.openxmlformats.org/officeDocument/2006/relationships/slide" Target="/ppt/slides/slide1.xml" Id="R396f8a37443f4361" /><Relationship Type="http://schemas.openxmlformats.org/officeDocument/2006/relationships/slide" Target="/ppt/slides/slide2.xml" Id="R408c9a90bb1448fe" /><Relationship Type="http://schemas.openxmlformats.org/officeDocument/2006/relationships/slide" Target="/ppt/slides/slide3.xml" Id="R20645dbc89704485" /><Relationship Type="http://schemas.openxmlformats.org/officeDocument/2006/relationships/slide" Target="/ppt/slides/slide4.xml" Id="Rff9d24dbdda547ba" /><Relationship Type="http://schemas.openxmlformats.org/officeDocument/2006/relationships/slide" Target="/ppt/slides/slide5.xml" Id="Rae1403b324c54c75" /><Relationship Type="http://schemas.openxmlformats.org/officeDocument/2006/relationships/slide" Target="/ppt/slides/slide6.xml" Id="R0b1e33ba93874e81" /><Relationship Type="http://schemas.openxmlformats.org/officeDocument/2006/relationships/slide" Target="/ppt/slides/slide7.xml" Id="R7a19e0d970a94ed4" /><Relationship Type="http://schemas.openxmlformats.org/officeDocument/2006/relationships/slide" Target="/ppt/slides/slide8.xml" Id="Ra942c15e8c50441a" /><Relationship Type="http://schemas.openxmlformats.org/officeDocument/2006/relationships/slide" Target="/ppt/slides/slide9.xml" Id="Rb84c2a936b064036" /><Relationship Type="http://schemas.openxmlformats.org/officeDocument/2006/relationships/slide" Target="/ppt/slides/slide10.xml" Id="Ra58e542732f24158" /><Relationship Type="http://schemas.openxmlformats.org/officeDocument/2006/relationships/slide" Target="/ppt/slides/slide11.xml" Id="R2ae511c479f04cfd" /><Relationship Type="http://schemas.openxmlformats.org/officeDocument/2006/relationships/slide" Target="/ppt/slides/slide12.xml" Id="R4466aa3962e340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4b9406613148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0f18853b3343d5" /><Relationship Type="http://schemas.openxmlformats.org/officeDocument/2006/relationships/notesMaster" Target="/ppt/notesMasters/notesMaster1.xml" Id="R178548da743d41b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827e9a35364215" /><Relationship Type="http://schemas.openxmlformats.org/officeDocument/2006/relationships/notesMaster" Target="/ppt/notesMasters/notesMaster1.xml" Id="Rf6d7c41ef8e14c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9d7d0943944357" /><Relationship Type="http://schemas.openxmlformats.org/officeDocument/2006/relationships/notesMaster" Target="/ppt/notesMasters/notesMaster1.xml" Id="Re734569efb6e42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e6a8726453402b" /><Relationship Type="http://schemas.openxmlformats.org/officeDocument/2006/relationships/notesMaster" Target="/ppt/notesMasters/notesMaster1.xml" Id="R439e39d15c3b45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9b97fe3d62433e" /><Relationship Type="http://schemas.openxmlformats.org/officeDocument/2006/relationships/notesMaster" Target="/ppt/notesMasters/notesMaster1.xml" Id="R2ea7ca8e419144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67a210150e4424c" /><Relationship Type="http://schemas.openxmlformats.org/officeDocument/2006/relationships/notesMaster" Target="/ppt/notesMasters/notesMaster1.xml" Id="R161c04ce578a43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c0eba7bd1746ff" /><Relationship Type="http://schemas.openxmlformats.org/officeDocument/2006/relationships/notesMaster" Target="/ppt/notesMasters/notesMaster1.xml" Id="Rccceea00692c464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61ef4add244ef9" /><Relationship Type="http://schemas.openxmlformats.org/officeDocument/2006/relationships/notesMaster" Target="/ppt/notesMasters/notesMaster1.xml" Id="Rc85251b32aea4c8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62d1b2199e4e3c" /><Relationship Type="http://schemas.openxmlformats.org/officeDocument/2006/relationships/notesMaster" Target="/ppt/notesMasters/notesMaster1.xml" Id="R46a775f1b9d54b9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82b99333ef47d0" /><Relationship Type="http://schemas.openxmlformats.org/officeDocument/2006/relationships/notesMaster" Target="/ppt/notesMasters/notesMaster1.xml" Id="R156db1616333421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0c3cba310274a07" /><Relationship Type="http://schemas.openxmlformats.org/officeDocument/2006/relationships/notesMaster" Target="/ppt/notesMasters/notesMaster1.xml" Id="R6dae800bcdb741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5ddeb48e2a4628" /><Relationship Type="http://schemas.openxmlformats.org/officeDocument/2006/relationships/notesMaster" Target="/ppt/notesMasters/notesMaster1.xml" Id="R045a95f7c8b048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SNR—signal-to-noise ratio—shows what agents did, invites structured testimony about what worked or was missing, and proves what happened after the human checkpoint.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search tool can succeed while returning no usable product. Agent SNR records that missed demand at the source, then keeps the agent’s explanation separate from the catalog and WooCommerce facts that the site can verify.</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demo/HACKATHON_RUNBOOK.md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observed object is new. Agent SNR combines journey replay, operational health, direct agent feedback,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independent top-level WebMCP surfaces expose 12 storefront tools and 8 Agent SNR tools from one first-party catalog. Two older gap abilities remain registered only for compatibility and are absent from public discovery. Guide 1.1 is shared by people and agents. WordPress keeps opportunity evidence, agent testimony, catalog facts, and WooCommerce outcomes separate. The black scope bar describes only Agent SNR's monitoring ledger; ordinary WooCommerce order and billing data remains in WooCommerce.</a:t>
            </a:r>
          </a:p>
          <a:p xmlns:a="http://schemas.openxmlformats.org/drawingml/2006/main">
            <a:r>
              <a:t/>
            </a:r>
          </a:p>
          <a:p xmlns:a="http://schemas.openxmlformats.org/drawingml/2006/main">
            <a:r>
              <a:t>[Sources]</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plugin/wmcp-agentops/src/Guidance/AgentGuide.php</a:t>
            </a:r>
          </a:p>
          <a:p xmlns:a="http://schemas.openxmlformats.org/drawingml/2006/main">
            <a:r>
              <a:t>- plugin/wmcp-agentops/src/Analytics/SignalService.php</a:t>
            </a:r>
          </a:p>
          <a:p xmlns:a="http://schemas.openxmlformats.org/drawingml/2006/main">
            <a:r>
              <a:t>- plugin/wmcp-agentops/src/WebMCP/ExecutionController.php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and report friction without crossing the consequential boundary. It never places an order, accepts terms, submits customer details, charges, cancels, or refunds. Feedback is bounded testimony; the human decision and WooCommerce outcome remain separate facts. The privacy line applies only to Agent SNR's monitoring ledger: ordinary WooCommerce order and billing data remains in WooCommerce and is not copied into that ledger.</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plugin/wmcp-agentops/src/Guidance/AgentGuide.php</a:t>
            </a:r>
          </a:p>
          <a:p xmlns:a="http://schemas.openxmlformats.org/drawingml/2006/main">
            <a:r>
              <a:t>- plugin/wmcp-agentops/src/Analytics/FeedbackMetricResolver.php</a:t>
            </a:r>
          </a:p>
          <a:p xmlns:a="http://schemas.openxmlformats.org/drawingml/2006/main">
            <a:r>
              <a:t>- submission/devpost-description.md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what happened, what broke, whether it mattered, what demand the site missed, what the agent experienced, and what the operator can change. The same evidence loop can extend to other WordPress workflows; those extensions are direction, not v0.1 claims.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submitted run begins with the guide, records a real zero-result IPX5 opportunity under $100, recovers with two IPX4 alternatives, records linked agent feedback at handoff, then lets the human place the no-charge WooCommerce order. Agent SNR proves the outcome and restricts the next run.</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 1.1 declares top-level co-browsing, unattended execution as unsupported, two outcome journeys, zero Sensitive Action tools, the subtotal/final-total boundary, privacy exclusions, and optional structured feedback. The same canonical object is rendered for the shopper and returned to the agent.</a:t>
            </a:r>
          </a:p>
          <a:p xmlns:a="http://schemas.openxmlformats.org/drawingml/2006/main">
            <a:r>
              <a:t/>
            </a:r>
          </a:p>
          <a:p xmlns:a="http://schemas.openxmlformats.org/drawingml/2006/main">
            <a:r>
              <a:t>[Sources]</a:t>
            </a:r>
          </a:p>
          <a:p xmlns:a="http://schemas.openxmlformats.org/drawingml/2006/main">
            <a:r>
              <a:t>- submission/demo-screenshots/02-agent-guide.png</a:t>
            </a:r>
          </a:p>
          <a:p xmlns:a="http://schemas.openxmlformats.org/drawingml/2006/main">
            <a:r>
              <a:t>- submission/demo-screenshots/03-zero-result-opportunity.png</a:t>
            </a:r>
          </a:p>
          <a:p xmlns:a="http://schemas.openxmlformats.org/drawingml/2006/main">
            <a:r>
              <a:t>- submission/demo-screenshots/04-agent-feedback-handoff.png</a:t>
            </a:r>
          </a:p>
          <a:p xmlns:a="http://schemas.openxmlformats.org/drawingml/2006/main">
            <a:r>
              <a:t>- plugin/wmcp-agentops/src/Guidance/AgentGuide.php</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Signals view shows the same demand group twice: zero results exist without feedback, while low coverage is corroborated by one agent report. Site measurements later verify the two products, IPX4 ceiling, paid order, and value. The opinion itself is never promoted to fact or allowed to change attribution.</a:t>
            </a:r>
          </a:p>
          <a:p xmlns:a="http://schemas.openxmlformats.org/drawingml/2006/main">
            <a:r>
              <a:t/>
            </a:r>
          </a:p>
          <a:p xmlns:a="http://schemas.openxmlformats.org/drawingml/2006/main">
            <a:r>
              <a:t>[Sources]</a:t>
            </a:r>
          </a:p>
          <a:p xmlns:a="http://schemas.openxmlformats.org/drawingml/2006/main">
            <a:r>
              <a:t>- submission/demo-screenshots/07-opportunity-signals.png</a:t>
            </a:r>
          </a:p>
          <a:p xmlns:a="http://schemas.openxmlformats.org/drawingml/2006/main">
            <a:r>
              <a:t>- submission/demo-screenshots/08-workflow-replay.png</a:t>
            </a:r>
          </a:p>
          <a:p xmlns:a="http://schemas.openxmlformats.org/drawingml/2006/main">
            <a:r>
              <a:t>- plugin/wmcp-agentops/src/Analytics/SignalService.php</a:t>
            </a:r>
          </a:p>
          <a:p xmlns:a="http://schemas.openxmlformats.org/drawingml/2006/main">
            <a:r>
              <a:t>- plugin/wmcp-agentops/src/WooCommerce/AttributionRules.php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https://github.com/GoogleChromeLabs/webmcp-tools/tree/v0.0.4/webmcp-evals</a:t>
            </a:r>
          </a:p>
          <a:p xmlns:a="http://schemas.openxmlformats.org/drawingml/2006/main">
            <a:r>
              <a:t>- https://developer.chrome.com/docs/ai/webmcp/evals</a:t>
            </a:r>
          </a:p>
          <a:p xmlns:a="http://schemas.openxmlformats.org/drawingml/2006/main">
            <a:r>
              <a:t>- https://chromewebstore.google.com/detail/nekuda-webmcp-workbench/amochnnbmnkjjlblolhpddkokhnalkjp</a:t>
            </a:r>
          </a:p>
          <a:p xmlns:a="http://schemas.openxmlformats.org/drawingml/2006/main">
            <a:r>
              <a:t>- https://webmcp.com/methodology</a:t>
            </a:r>
          </a:p>
          <a:p xmlns:a="http://schemas.openxmlformats.org/drawingml/2006/main">
            <a:r>
              <a:t>- submission/webmcp-eval-report-2026-09-01.md</a:t>
            </a:r>
          </a:p>
          <a:p xmlns:a="http://schemas.openxmlformats.org/drawingml/2006/main">
            <a:r>
              <a:t>- submission/verification-report.md</a:t>
            </a:r>
          </a:p>
          <a:p xmlns:a="http://schemas.openxmlformats.org/drawingml/2006/main">
            <a:r>
              <a:t>[/Sources]</a:t>
            </a:r>
          </a:p>
          <a:p xmlns:a="http://schemas.openxmlformats.org/drawingml/2006/main">
            <a:r>
              <a:t>Contract parity, native smoke, and protected model-backed evaluation are verified repository evidence. Real-client validation is required before submission. Workbench, hosted scanner, and directory listing are optional additional checks against the frozen public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submission/verification-report.md</a:t>
            </a:r>
          </a:p>
          <a:p xmlns:a="http://schemas.openxmlformats.org/drawingml/2006/main">
            <a:r>
              <a:t>- evals/README.md</a:t>
            </a:r>
          </a:p>
          <a:p xmlns:a="http://schemas.openxmlformats.org/drawingml/2006/main">
            <a:r>
              <a:t>[/Sources]</a:t>
            </a:r>
          </a:p>
          <a:p xmlns:a="http://schemas.openxmlformats.org/drawingml/2006/main">
            <a:r>
              <a:t>Counts reflect the exact final artifact and repository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a website that can teach agents how to use it, record missed demand even when the agent stays silent, receive honest structured feedback, and prove the business outcome without collecting the conversation or weakening human authority.</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673e36004348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5c07f9039f442f" /><Relationship Type="http://schemas.openxmlformats.org/officeDocument/2006/relationships/slideLayout" Target="/ppt/slideLayouts/slideLayout1.xml" Id="R61fec53a798a4c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fec53a798a4c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00c2f8acfa1469d" /><Relationship Type="http://schemas.openxmlformats.org/officeDocument/2006/relationships/notesSlide" Target="/ppt/notesSlides/notesSlide1.xml" Id="R49c74b8ed55347a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d8d1696829a4efa" /><Relationship Type="http://schemas.openxmlformats.org/officeDocument/2006/relationships/notesSlide" Target="/ppt/notesSlides/notesSlide2.xml" Id="R4ac8800dfbc140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de612cd1b8a42ca" /><Relationship Type="http://schemas.openxmlformats.org/officeDocument/2006/relationships/notesSlide" Target="/ppt/notesSlides/notesSlide3.xml" Id="R33055968a0034d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e886e24c8f4e14" /><Relationship Type="http://schemas.openxmlformats.org/officeDocument/2006/relationships/notesSlide" Target="/ppt/notesSlides/notesSlide4.xml" Id="Rd8976a064dc54a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af37c8bda304c8c" /><Relationship Type="http://schemas.openxmlformats.org/officeDocument/2006/relationships/notesSlide" Target="/ppt/notesSlides/notesSlide5.xml" Id="Re1f8dd401c4b4e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ab7eb333e748b7" /><Relationship Type="http://schemas.openxmlformats.org/officeDocument/2006/relationships/notesSlide" Target="/ppt/notesSlides/notesSlide6.xml" Id="R408b64494e1246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5c6e6d62bf54b85" /><Relationship Type="http://schemas.openxmlformats.org/officeDocument/2006/relationships/image" Target="/ppt/media/image.png" Id="Rcb52b0a863d34133" /><Relationship Type="http://schemas.openxmlformats.org/officeDocument/2006/relationships/notesSlide" Target="/ppt/notesSlides/notesSlide7.xml" Id="R39887609394841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21d383575a747e6" /><Relationship Type="http://schemas.openxmlformats.org/officeDocument/2006/relationships/image" Target="/ppt/media/image2.png" Id="R314c44e9231043a5" /><Relationship Type="http://schemas.openxmlformats.org/officeDocument/2006/relationships/notesSlide" Target="/ppt/notesSlides/notesSlide8.xml" Id="Rd65aad0a71fa46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a73719b9e44844" /><Relationship Type="http://schemas.openxmlformats.org/officeDocument/2006/relationships/image" Target="/ppt/media/image3.png" Id="R356c7f20e39d41ee" /><Relationship Type="http://schemas.openxmlformats.org/officeDocument/2006/relationships/image" Target="/ppt/media/image4.png" Id="Rc533932bdf2b49af" /><Relationship Type="http://schemas.openxmlformats.org/officeDocument/2006/relationships/notesSlide" Target="/ppt/notesSlides/notesSlide9.xml" Id="R53cfced2afd242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4e61403c6142b5" /><Relationship Type="http://schemas.openxmlformats.org/officeDocument/2006/relationships/notesSlide" Target="/ppt/notesSlides/notesSlide10.xml" Id="Re780a02c288248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008bd279d0c4e2c" /><Relationship Type="http://schemas.openxmlformats.org/officeDocument/2006/relationships/notesSlide" Target="/ppt/notesSlides/notesSlide11.xml" Id="R8a3e5eb6a89c4f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7456a496d6e4ab9" /><Relationship Type="http://schemas.openxmlformats.org/officeDocument/2006/relationships/notesSlide" Target="/ppt/notesSlides/notesSlide12.xml" Id="R10c81b34f92e442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39"/>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Hear what they experienced.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Discover what your site is missing.</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79"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GUIDE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missed demand.</a:t>
            </a:r>
          </a:p>
        </p:txBody>
      </p:sp>
      <p:cxnSp>
        <p:nvCxnSpPr>
          <p:cNvPr id="81"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84"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Search succeeded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Zero matches</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RELAXED CONSTRAINTS</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AGENT FEEDBACK</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HUMAN ORDER</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SHOPPER LEFT</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missing signal—not another success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177"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Journey replay</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183"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Tool observability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187"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Product analytics</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191"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53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observed demand  ·  direct agent feedback  ·  verified outcomes</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OBSERVED, REPORTED, AND VERIFIED EVIDENCE STAY DISTINCT—NO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guides every action—and keeps testimony separate from proof.</a:t>
            </a:r>
          </a:p>
        </p:txBody>
      </p:sp>
      <p:cxnSp>
        <p:nvCxnSpPr>
          <p:cNvPr id="16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175"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Reads the Agent Guide</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12 storefront tools</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Signals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58"/>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OBSERVED · REPORTED · VERIFIED</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8 MONITOR TOOLS · REPLAY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SNR STORES</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Outcomes · canonical demand · feedback enums · evidence IDs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SNR EXCLUDES</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1429"/>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Raw search/prompt · free text · identity · address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 · 0 SENSITIVE TOOLS</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4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Read guide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 · compare · 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Report structured friction</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LEDGER EXCLUDES: RAW PROMPTS · FREE-TEXT FEEDBACK · IDENTITY · ADDRESS · PAYMENT</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30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30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OBSERVED DEMAND · AGENT FEEDBACK</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33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discovery, missed demand, feedback, proof, and control.</a:t>
            </a:r>
          </a:p>
        </p:txBody>
      </p:sp>
      <p:cxnSp>
        <p:nvCxnSpPr>
          <p:cNvPr id="63"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cb52b0a863d34133"/>
          <a:srcRect xmlns:a="http://schemas.openxmlformats.org/drawingml/2006/main" l="11607" t="0" r="11607" b="0"/>
          <a:stretch xmlns:a="http://schemas.openxmlformats.org/drawingml/2006/main">
            <a:fillRect l="0" t="0" r="0" b="0"/>
          </a:stretch>
        </p:blipFill>
        <p:spPr>
          <a:xfrm xmlns:a="http://schemas.openxmlformats.org/drawingml/2006/main" flipH="0" flipV="0">
            <a:off x="6743700" y="1600200"/>
            <a:ext cx="4914900" cy="4000500"/>
          </a:xfrm>
          <a:prstGeom xmlns:a="http://schemas.openxmlformats.org/drawingml/2006/main" prst="roundRect">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HERE</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Read the Agent Guide</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OBSERVE</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IPX5 search → zero; relax</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REPORT + 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Feedback first; human places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VERIFY + CONTROL</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Signals · replay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GUIDE → ZERO RESULT → IPX4 RECOVERY → FEEDBACK → HUMAN ORDER → PROOF</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677"/>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guide makes co-browsing and human authority explicit.</a:t>
            </a:r>
          </a:p>
        </p:txBody>
      </p:sp>
      <p:cxnSp>
        <p:nvCxnSpPr>
          <p:cNvPr id="10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13"/>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Guide 1.1</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Co-browsing only</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0 sensitive tools</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Zero-result signal</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Linked feedback</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Human checkout</a:t>
            </a:r>
          </a:p>
        </p:txBody>
      </p:sp>
      <p:cxnSp>
        <p:nvCxnSpPr>
          <p:cNvPr id="11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923"/>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OBSERVED + REPORTED BEFORE THE HUMAN CHECKPOINT</a:t>
            </a:r>
          </a:p>
        </p:txBody>
      </p:sp>
      <p:pic>
        <p:nvPicPr>
          <p:cNvPr id="112" name=""/>
          <p:cNvPicPr>
            <a:picLocks xmlns:a="http://schemas.openxmlformats.org/drawingml/2006/main" noChangeAspect="1"/>
          </p:cNvPicPr>
          <p:nvPr/>
        </p:nvPicPr>
        <p:blipFill>
          <a:blip xmlns:r="http://schemas.openxmlformats.org/officeDocument/2006/relationships" xmlns:a="http://schemas.openxmlformats.org/drawingml/2006/main" r:embed="R314c44e9231043a5"/>
          <a:srcRect xmlns:a="http://schemas.openxmlformats.org/drawingml/2006/main" l="0" t="9356" r="0" b="9356"/>
          <a:stretch xmlns:a="http://schemas.openxmlformats.org/drawingml/2006/main">
            <a:fillRect l="0" t="0" r="0" b="0"/>
          </a:stretch>
        </p:blipFill>
        <p:spPr>
          <a:xfrm xmlns:a="http://schemas.openxmlformats.org/drawingml/2006/main" flipH="0" flipV="0">
            <a:off x="3371850" y="1638300"/>
            <a:ext cx="8286750" cy="4210050"/>
          </a:xfrm>
          <a:prstGeom xmlns:a="http://schemas.openxmlformats.org/drawingml/2006/main" prst="roundRect">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Agent testimony stays separate from verified evidence.</a:t>
            </a:r>
          </a:p>
        </p:txBody>
      </p:sp>
      <p:cxnSp>
        <p:nvCxnSpPr>
          <p:cNvPr id="6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356c7f20e39d41ee"/>
          <a:srcRect xmlns:a="http://schemas.openxmlformats.org/drawingml/2006/main" l="316" t="0" r="316" b="0"/>
          <a:stretch xmlns:a="http://schemas.openxmlformats.org/drawingml/2006/main">
            <a:fillRect l="0" t="0" r="0" b="0"/>
          </a:stretch>
        </p:blipFill>
        <p:spPr>
          <a:xfrm xmlns:a="http://schemas.openxmlformats.org/drawingml/2006/main" flipH="0" flipV="0">
            <a:off x="533400" y="1676400"/>
            <a:ext cx="5391150" cy="3390900"/>
          </a:xfrm>
          <a:prstGeom xmlns:a="http://schemas.openxmlformats.org/drawingml/2006/main" prst="roundRect">
            <a:avLst/>
          </a:prstGeom>
        </p:spPr>
      </p:pic>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c533932bdf2b49af"/>
          <a:srcRect xmlns:a="http://schemas.openxmlformats.org/drawingml/2006/main" l="0" t="383" r="0" b="383"/>
          <a:stretch xmlns:a="http://schemas.openxmlformats.org/drawingml/2006/main">
            <a:fillRect l="0" t="0" r="0" b="0"/>
          </a:stretch>
        </p:blipFill>
        <p:spPr>
          <a:xfrm xmlns:a="http://schemas.openxmlformats.org/drawingml/2006/main" flipH="0" flipV="0">
            <a:off x="6191250" y="1676400"/>
            <a:ext cx="5467350" cy="3390900"/>
          </a:xfrm>
          <a:prstGeom xmlns:a="http://schemas.openxmlformats.org/drawingml/2006/main" prst="roundRect">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OBSERVED</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Zero result + low coverage</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REPORTED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Constraint + ratings + action</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SITE VERIFIED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2 eligible · IPX4 · paid order</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NEVER CLAIMED</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Lost revenue or verified opinion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FEEDBACK NEVER CHANGES ATTRIBUTION · REFUNDS STILL REDUCE NET</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WEBMCP QUALITY LOOP</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journey is evaluated before it is published.</a:t>
            </a:r>
          </a:p>
        </p:txBody>
      </p:sp>
      <p:cxnSp>
        <p:nvCxnSpPr>
          <p:cNvPr id="30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cxnSp>
        <p:nvCxnSpPr>
          <p:cNvPr id="30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Contract parity</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20 PUBLIC TOOLS · STRICT SCHEMAS</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Native smoke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11/11 KEYLESS CHROME CALLS</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Model behavior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SELECTION · RECOVERY · NO-CALL</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Workbench</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AUDIT · REPLAY · USER MODE</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Public listing</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SCANNER · DIRECTORY API</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LOCALLY</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Native + model evals</a:t>
            </a:r>
          </a:p>
        </p:txBody>
      </p:sp>
      <p:cxnSp>
        <p:nvCxnSpPr>
          <p:cNvPr id="33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RELEASE OWNER CHECKS</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Required · real client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Workbench</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scanner</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Optional · directory</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EXTERNAL EVIDENCE RUNS ONLY AGAINST THE FROZEN RELEASE.</a:t>
            </a:r>
          </a:p>
        </p:txBody>
      </p:sp>
    </p:spTree>
    <p:extLst>
      <p:ext uri="{BB962C8B-B14F-4D97-AF65-F5344CB8AC3E}">
        <p14:creationId xmlns:p14="http://schemas.microsoft.com/office/powerpoint/2010/main" val="8341993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22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11</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112</a:t>
            </a:r>
          </a:p>
        </p:txBody>
      </p:sp>
      <p:cxnSp>
        <p:nvCxnSpPr>
          <p:cNvPr id="228"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111</a:t>
            </a:r>
          </a:p>
        </p:txBody>
      </p:sp>
      <p:cxnSp>
        <p:nvCxnSpPr>
          <p:cNvPr id="231"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1,964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16/16</a:t>
            </a:r>
          </a:p>
        </p:txBody>
      </p:sp>
      <p:cxnSp>
        <p:nvCxnSpPr>
          <p:cNvPr id="234"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11/11</a:t>
            </a:r>
          </a:p>
        </p:txBody>
      </p:sp>
      <p:cxnSp>
        <p:nvCxnSpPr>
          <p:cNvPr id="237"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Native WebMCP smoke steps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240"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0</a:t>
            </a:r>
          </a:p>
        </p:txBody>
      </p:sp>
      <p:cxnSp>
        <p:nvCxnSpPr>
          <p:cNvPr id="243"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Plugin Check errors</a:t>
            </a:r>
          </a:p>
        </p:txBody>
      </p:sp>
    </p:spTree>
    <p:extLst>
      <p:ext uri="{BB962C8B-B14F-4D97-AF65-F5344CB8AC3E}">
        <p14:creationId xmlns:p14="http://schemas.microsoft.com/office/powerpoint/2010/main" val="214245360"/>
      </p:ext>
    </p:extLst>
  </p:cSld>
</p:sld>
</file>

<file path=ppt/slides/slide1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FEEDBACK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voice—and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12 storefront + 8 Agent SNR tools</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Guide the agent.  Observe missed demand.  Hear feedback.  Verify outcomes.  Improve the next run.</a:t>
            </a:r>
          </a:p>
        </p:txBody>
      </p:sp>
      <p:cxnSp>
        <p:nvCxnSpPr>
          <p:cNvPr id="178"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12</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2026-09-03T07:09:08.4970000Z</dcterms:created>
  <dcterms:modified xsi:type="dcterms:W3CDTF">2026-09-03T07:09:08.4970000Z</dcterms:modified>
</coreProperties>
</file>